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4" r:id="rId4"/>
    <p:sldMasterId id="214748368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Roboto"/>
      <p:regular r:id="rId28"/>
      <p:bold r:id="rId29"/>
      <p:italic r:id="rId30"/>
      <p:boldItalic r:id="rId31"/>
    </p:embeddedFont>
    <p:embeddedFont>
      <p:font typeface="Roboto Medium"/>
      <p:regular r:id="rId32"/>
      <p:bold r:id="rId33"/>
      <p:italic r:id="rId34"/>
      <p:boldItalic r:id="rId35"/>
    </p:embeddedFont>
    <p:embeddedFont>
      <p:font typeface="Nunito"/>
      <p:regular r:id="rId36"/>
      <p:bold r:id="rId37"/>
      <p:italic r:id="rId38"/>
      <p:boldItalic r:id="rId39"/>
    </p:embeddedFont>
    <p:embeddedFont>
      <p:font typeface="Montserra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3" name="Rachel Osborne"/>
  <p:cmAuthor clrIdx="1" id="1" initials="" lastIdx="3" name="Jamie Nowacek"/>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20" Type="http://schemas.openxmlformats.org/officeDocument/2006/relationships/slide" Target="slides/slide14.xml"/><Relationship Id="rId42" Type="http://schemas.openxmlformats.org/officeDocument/2006/relationships/font" Target="fonts/Montserrat-italic.fntdata"/><Relationship Id="rId41" Type="http://schemas.openxmlformats.org/officeDocument/2006/relationships/font" Target="fonts/Montserrat-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Montserrat-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oboto-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5.xml"/><Relationship Id="rId33" Type="http://schemas.openxmlformats.org/officeDocument/2006/relationships/font" Target="fonts/RobotoMedium-bold.fntdata"/><Relationship Id="rId10" Type="http://schemas.openxmlformats.org/officeDocument/2006/relationships/slide" Target="slides/slide4.xml"/><Relationship Id="rId32" Type="http://schemas.openxmlformats.org/officeDocument/2006/relationships/font" Target="fonts/RobotoMedium-regular.fntdata"/><Relationship Id="rId13" Type="http://schemas.openxmlformats.org/officeDocument/2006/relationships/slide" Target="slides/slide7.xml"/><Relationship Id="rId35" Type="http://schemas.openxmlformats.org/officeDocument/2006/relationships/font" Target="fonts/RobotoMedium-boldItalic.fntdata"/><Relationship Id="rId12" Type="http://schemas.openxmlformats.org/officeDocument/2006/relationships/slide" Target="slides/slide6.xml"/><Relationship Id="rId34" Type="http://schemas.openxmlformats.org/officeDocument/2006/relationships/font" Target="fonts/RobotoMedium-italic.fntdata"/><Relationship Id="rId15" Type="http://schemas.openxmlformats.org/officeDocument/2006/relationships/slide" Target="slides/slide9.xml"/><Relationship Id="rId37" Type="http://schemas.openxmlformats.org/officeDocument/2006/relationships/font" Target="fonts/Nunito-bold.fntdata"/><Relationship Id="rId14" Type="http://schemas.openxmlformats.org/officeDocument/2006/relationships/slide" Target="slides/slide8.xml"/><Relationship Id="rId36" Type="http://schemas.openxmlformats.org/officeDocument/2006/relationships/font" Target="fonts/Nunito-regular.fntdata"/><Relationship Id="rId17" Type="http://schemas.openxmlformats.org/officeDocument/2006/relationships/slide" Target="slides/slide11.xml"/><Relationship Id="rId39" Type="http://schemas.openxmlformats.org/officeDocument/2006/relationships/font" Target="fonts/Nunito-boldItalic.fntdata"/><Relationship Id="rId16" Type="http://schemas.openxmlformats.org/officeDocument/2006/relationships/slide" Target="slides/slide10.xml"/><Relationship Id="rId38" Type="http://schemas.openxmlformats.org/officeDocument/2006/relationships/font" Target="fonts/Nunito-italic.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2-10T07:26:55.399">
    <p:pos x="233" y="1069"/>
    <p:text>"A regulatory statement is a brief declaration describing how the company’s digital pathology &amp; telepathology software complies with applicable medical device, healthcare, &amp; data‑protection laws in the regions where it operates, including any limitations on use &amp; regulatory clearances or registrations obtained, based on the current intended use (currently to enable etc)". So intended use may change and the Reg Statement will be reviewed accordingly and the validation requirements
1 total reaction
Jamie Nowacek reacted with ✅ at 2025-12-08 14:53 PM</p:text>
  </p:cm>
  <p:cm authorId="1" idx="1" dt="2025-12-08T14:53:14.190">
    <p:pos x="233" y="1069"/>
    <p:text>updated.</p:text>
  </p:cm>
  <p:cm authorId="0" idx="2" dt="2025-12-08T15:09:20.934">
    <p:pos x="233" y="1069"/>
    <p:text>We can discuss on tomo's call
1 total reaction
Jamie Nowacek reacted with 👀 at 2025-12-08 15:30 PM</p:text>
  </p:cm>
  <p:cm authorId="1" idx="2" dt="2025-12-09T23:37:29.351">
    <p:pos x="233" y="1069"/>
    <p:text>Final review? Speaker notes are my talking points.</p:text>
  </p:cm>
  <p:cm authorId="0" idx="3" dt="2025-12-10T07:26:55.399">
    <p:pos x="233" y="1069"/>
    <p:text>Looks good thanks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5-12-04T22:03:05.913">
    <p:pos x="1267" y="1410"/>
    <p:text>do a slide just on DGX, focus on 1) what is a RA statement, intended use, how does it connect to a validation policy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5JzngqL5HoSXgPjlHZJcuFZRGfyxQoHD/edit" TargetMode="External"/><Relationship Id="rId3" Type="http://schemas.openxmlformats.org/officeDocument/2006/relationships/hyperlink" Target="https://docs.google.com/document/d/1us47t0A6lVv5QuWoHGy7oMQxnikTgMFB/edit" TargetMode="External"/><Relationship Id="rId4" Type="http://schemas.openxmlformats.org/officeDocument/2006/relationships/hyperlink" Target="https://docs.google.com/document/d/16uJTpo3bt4-QbIg30mc0C0n6KAym9hyy/edit" TargetMode="External"/><Relationship Id="rId5" Type="http://schemas.openxmlformats.org/officeDocument/2006/relationships/hyperlink" Target="https://docs.google.com/document/d/1iIoSamiwzn_0tbamsiGixKL-S8OU8hgy/edi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TEWFY5w32kGPEQ3gNDYUXDbdDzNi4L2gO07Yk8jkfTc/edit?tab=t.0"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app.orcanos.com/deciphex/web/7/QPackItems/View?Item=CAI&amp;ItemId=107827" TargetMode="External"/><Relationship Id="rId3" Type="http://schemas.openxmlformats.org/officeDocument/2006/relationships/hyperlink" Target="https://docs.google.com/document/d/1TEWFY5w32kGPEQ3gNDYUXDbdDzNi4L2gO07Yk8jkfTc/edit?tab=t.0"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800280b64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800280b64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800280b64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ad2f1291c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ad2f1291c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457200" rtl="0" algn="l">
              <a:spcBef>
                <a:spcPts val="0"/>
              </a:spcBef>
              <a:spcAft>
                <a:spcPts val="0"/>
              </a:spcAft>
              <a:buNone/>
            </a:pPr>
            <a:r>
              <a:rPr lang="en-US" sz="1100"/>
              <a:t>The goal of this initiative is to modernize and standardize validation so that all Diagnexia systems and workflows consistently perform as intended. We’ve seen in audits that inconsistent SOPs, outdated OPQs, and fragmented documentation have created confusion and risk.</a:t>
            </a:r>
            <a:endParaRPr sz="1100"/>
          </a:p>
          <a:p>
            <a:pPr indent="0" lvl="0" marL="457200" rtl="0" algn="l">
              <a:spcBef>
                <a:spcPts val="0"/>
              </a:spcBef>
              <a:spcAft>
                <a:spcPts val="0"/>
              </a:spcAft>
              <a:buClr>
                <a:schemeClr val="dk1"/>
              </a:buClr>
              <a:buSzPts val="1100"/>
              <a:buFont typeface="Arial"/>
              <a:buNone/>
            </a:pPr>
            <a:r>
              <a:t/>
            </a:r>
            <a:endParaRPr sz="1100"/>
          </a:p>
          <a:p>
            <a:pPr indent="0" lvl="0" marL="0" rtl="0" algn="l">
              <a:spcBef>
                <a:spcPts val="0"/>
              </a:spcBef>
              <a:spcAft>
                <a:spcPts val="0"/>
              </a:spcAft>
              <a:buNone/>
            </a:pPr>
            <a:r>
              <a:rPr lang="en-US" sz="1100"/>
              <a:t>(QA) Speaker Note:</a:t>
            </a:r>
            <a:endParaRPr sz="1100"/>
          </a:p>
          <a:p>
            <a:pPr indent="-298450" lvl="0" marL="457200" rtl="0" algn="l">
              <a:spcBef>
                <a:spcPts val="0"/>
              </a:spcBef>
              <a:spcAft>
                <a:spcPts val="0"/>
              </a:spcAft>
              <a:buClr>
                <a:schemeClr val="dk1"/>
              </a:buClr>
              <a:buSzPts val="1100"/>
              <a:buChar char="-"/>
            </a:pPr>
            <a:r>
              <a:rPr lang="en-US" sz="1100"/>
              <a:t>Validation ensures Diagnexia’s digital pathology systems, workflows, and tools perform as intended.</a:t>
            </a:r>
            <a:endParaRPr sz="1100"/>
          </a:p>
          <a:p>
            <a:pPr indent="-298450" lvl="0" marL="457200" rtl="0" algn="l">
              <a:spcBef>
                <a:spcPts val="0"/>
              </a:spcBef>
              <a:spcAft>
                <a:spcPts val="0"/>
              </a:spcAft>
              <a:buClr>
                <a:schemeClr val="dk1"/>
              </a:buClr>
              <a:buSzPts val="1100"/>
              <a:buChar char="-"/>
            </a:pPr>
            <a:r>
              <a:rPr lang="en-US" sz="1100"/>
              <a:t>Uniform validation processes reduce confusion caused by inconsistent SOPs, misaligned terminology, and OPQs not matched to the current model. </a:t>
            </a:r>
            <a:endParaRPr sz="1100"/>
          </a:p>
          <a:p>
            <a:pPr indent="0" lvl="0" marL="0" rtl="0" algn="l">
              <a:spcBef>
                <a:spcPts val="0"/>
              </a:spcBef>
              <a:spcAft>
                <a:spcPts val="0"/>
              </a:spcAft>
              <a:buNone/>
            </a:pPr>
            <a:r>
              <a:rPr lang="en-US" sz="1100"/>
              <a:t>Risk Based Validation:</a:t>
            </a:r>
            <a:endParaRPr sz="1100"/>
          </a:p>
          <a:p>
            <a:pPr indent="-298450" lvl="0" marL="457200" rtl="0" algn="l">
              <a:spcBef>
                <a:spcPts val="0"/>
              </a:spcBef>
              <a:spcAft>
                <a:spcPts val="0"/>
              </a:spcAft>
              <a:buClr>
                <a:schemeClr val="dk1"/>
              </a:buClr>
              <a:buSzPts val="1100"/>
              <a:buChar char="-"/>
            </a:pPr>
            <a:r>
              <a:rPr lang="en-US" sz="1100"/>
              <a:t>We only perform validation testing when the change introduces real risk to patient safety, data integrity, or regulatory compliance.</a:t>
            </a:r>
            <a:endParaRPr sz="1100"/>
          </a:p>
          <a:p>
            <a:pPr indent="-298450" lvl="0" marL="457200" rtl="0" algn="l">
              <a:spcBef>
                <a:spcPts val="0"/>
              </a:spcBef>
              <a:spcAft>
                <a:spcPts val="0"/>
              </a:spcAft>
              <a:buClr>
                <a:schemeClr val="dk1"/>
              </a:buClr>
              <a:buSzPts val="1100"/>
              <a:buChar char="-"/>
            </a:pPr>
            <a:r>
              <a:rPr lang="en-US" sz="1100"/>
              <a:t>When risk is low, we justify NOT testing and instead use documentation, training, or configuration review.</a:t>
            </a:r>
            <a:endParaRPr/>
          </a:p>
          <a:p>
            <a:pPr indent="0" lvl="0" marL="457200" rtl="0" algn="l">
              <a:spcBef>
                <a:spcPts val="0"/>
              </a:spcBef>
              <a:spcAft>
                <a:spcPts val="0"/>
              </a:spcAft>
              <a:buNone/>
            </a:pPr>
            <a:br>
              <a:rPr lang="en-US" sz="1100"/>
            </a:br>
            <a:endParaRPr sz="1100"/>
          </a:p>
          <a:p>
            <a:pPr indent="-298450" lvl="0" marL="457200" rtl="0" algn="l">
              <a:spcBef>
                <a:spcPts val="0"/>
              </a:spcBef>
              <a:spcAft>
                <a:spcPts val="0"/>
              </a:spcAft>
              <a:buSzPts val="1100"/>
              <a:buChar char="-"/>
            </a:pPr>
            <a:r>
              <a:t/>
            </a:r>
            <a:endParaRPr sz="1100"/>
          </a:p>
          <a:p>
            <a:pPr indent="-298450" lvl="0" marL="457200" rtl="0" algn="l">
              <a:spcBef>
                <a:spcPts val="0"/>
              </a:spcBef>
              <a:spcAft>
                <a:spcPts val="0"/>
              </a:spcAft>
              <a:buSzPts val="1100"/>
              <a:buChar char="-"/>
            </a:pPr>
            <a:r>
              <a:rPr lang="en-US" sz="1100"/>
              <a:t>The first part of our approach is the Risk Plan. This is where we shift to a fully risk-based validation method. High-risk changes—those impacting patient safety, image quality, data integrity, or intended use—will require testing. Low-risk changes will instead be justified through documented rationale, configuration review, or training. This lets us focus effort where it matters while eliminating unnecessary testing.</a:t>
            </a:r>
            <a:endParaRPr sz="1100"/>
          </a:p>
          <a:p>
            <a:pPr indent="-298450" lvl="0" marL="457200" rtl="0" algn="l">
              <a:spcBef>
                <a:spcPts val="0"/>
              </a:spcBef>
              <a:spcAft>
                <a:spcPts val="0"/>
              </a:spcAft>
              <a:buSzPts val="1100"/>
              <a:buChar char="-"/>
            </a:pPr>
            <a:r>
              <a:t/>
            </a:r>
            <a:endParaRPr sz="1100"/>
          </a:p>
          <a:p>
            <a:pPr indent="-298450" lvl="0" marL="457200" rtl="0" algn="l">
              <a:spcBef>
                <a:spcPts val="0"/>
              </a:spcBef>
              <a:spcAft>
                <a:spcPts val="0"/>
              </a:spcAft>
              <a:buSzPts val="1100"/>
              <a:buChar char="-"/>
            </a:pPr>
            <a:r>
              <a:rPr lang="en-US" sz="1100"/>
              <a:t>Our focus should be on establishing unified expectations for documentation, templates, testing, and evidence so every validation activity follows the same model. This includes a global Validation Policy and a U.S. Validation Plan. And importantly, all validation records will be retained in Orcanos for transparency, traceability, and audit readiness.</a:t>
            </a:r>
            <a:endParaRPr sz="1100"/>
          </a:p>
          <a:p>
            <a:pPr indent="-298450" lvl="0" marL="457200" rtl="0" algn="l">
              <a:spcBef>
                <a:spcPts val="0"/>
              </a:spcBef>
              <a:spcAft>
                <a:spcPts val="0"/>
              </a:spcAft>
              <a:buSzPts val="1100"/>
              <a:buChar char="-"/>
            </a:pPr>
            <a:r>
              <a:t/>
            </a:r>
            <a:endParaRPr sz="1100"/>
          </a:p>
          <a:p>
            <a:pPr indent="-298450" lvl="0" marL="457200" rtl="0" algn="l">
              <a:spcBef>
                <a:spcPts val="0"/>
              </a:spcBef>
              <a:spcAft>
                <a:spcPts val="0"/>
              </a:spcAft>
              <a:buSzPts val="1100"/>
              <a:buChar char="-"/>
            </a:pPr>
            <a:r>
              <a:rPr lang="en-US" sz="1100"/>
              <a:t>And finally, the preventative quality focus is accomplished by understanding that validation is not just a regulatory requirement but also a preventative control within our QMS. By applying risk-based validation consistently, we reduce variance, decrease signature burden, shorten validation cycles, and help ensure all testing aligns directly to intended use. This makes our processes more defensible, scalable, and predictable as Diagnexia grows.</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US" sz="1100"/>
              <a:t>Although this approach is US centric but the hope is to take this to the global level.</a:t>
            </a:r>
            <a:endParaRPr sz="1100"/>
          </a:p>
        </p:txBody>
      </p:sp>
      <p:sp>
        <p:nvSpPr>
          <p:cNvPr id="423" name="Google Shape;423;g3ad2f1291c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a5f6395637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a5f6395637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42900" lvl="0" marL="457200" rtl="0" algn="l">
              <a:lnSpc>
                <a:spcPct val="110000"/>
              </a:lnSpc>
              <a:spcBef>
                <a:spcPts val="0"/>
              </a:spcBef>
              <a:spcAft>
                <a:spcPts val="0"/>
              </a:spcAft>
              <a:buClr>
                <a:schemeClr val="dk1"/>
              </a:buClr>
              <a:buSzPts val="1800"/>
              <a:buChar char="-"/>
            </a:pPr>
            <a:r>
              <a:rPr lang="en-US" sz="1600" u="sng">
                <a:latin typeface="Montserrat"/>
                <a:ea typeface="Montserrat"/>
                <a:cs typeface="Montserrat"/>
                <a:sym typeface="Montserrat"/>
              </a:rPr>
              <a:t>Dollars</a:t>
            </a:r>
            <a:r>
              <a:rPr lang="en-US" sz="1600" u="sng">
                <a:latin typeface="Montserrat"/>
                <a:ea typeface="Montserrat"/>
                <a:cs typeface="Montserrat"/>
                <a:sym typeface="Montserrat"/>
              </a:rPr>
              <a:t> over patient safety examples</a:t>
            </a:r>
            <a:endParaRPr sz="1400">
              <a:latin typeface="Montserrat"/>
              <a:ea typeface="Montserrat"/>
              <a:cs typeface="Montserrat"/>
              <a:sym typeface="Montserrat"/>
            </a:endParaRPr>
          </a:p>
          <a:p>
            <a:pPr indent="0" lvl="0" marL="0" rtl="0" algn="l">
              <a:lnSpc>
                <a:spcPct val="115000"/>
              </a:lnSpc>
              <a:spcBef>
                <a:spcPts val="600"/>
              </a:spcBef>
              <a:spcAft>
                <a:spcPts val="0"/>
              </a:spcAft>
              <a:buNone/>
            </a:pPr>
            <a:r>
              <a:rPr lang="en-US" sz="1000">
                <a:latin typeface="Roboto"/>
                <a:ea typeface="Roboto"/>
                <a:cs typeface="Roboto"/>
                <a:sym typeface="Roboto"/>
              </a:rPr>
              <a:t>The Theranos scandal involves the rise and collapse of a Silicon Valley blood-testing startup that misled investors, regulators, and patients about the capabilities of its technology. It has become a major case study in corporate fraud, ethics failures, and weaknesses in startup and healthcare oversight.​</a:t>
            </a:r>
            <a:endParaRPr sz="1000">
              <a:latin typeface="Roboto"/>
              <a:ea typeface="Roboto"/>
              <a:cs typeface="Roboto"/>
              <a:sym typeface="Roboto"/>
            </a:endParaRPr>
          </a:p>
          <a:p>
            <a:pPr indent="0" lvl="0" marL="0" rtl="0" algn="l">
              <a:lnSpc>
                <a:spcPct val="115000"/>
              </a:lnSpc>
              <a:spcBef>
                <a:spcPts val="1800"/>
              </a:spcBef>
              <a:spcAft>
                <a:spcPts val="0"/>
              </a:spcAft>
              <a:buNone/>
            </a:pPr>
            <a:r>
              <a:rPr b="1" lang="en-US" sz="1000">
                <a:latin typeface="Roboto"/>
                <a:ea typeface="Roboto"/>
                <a:cs typeface="Roboto"/>
                <a:sym typeface="Roboto"/>
              </a:rPr>
              <a:t>What Theranos Claimed</a:t>
            </a:r>
            <a:endParaRPr b="1" sz="1000">
              <a:latin typeface="Roboto"/>
              <a:ea typeface="Roboto"/>
              <a:cs typeface="Roboto"/>
              <a:sym typeface="Roboto"/>
            </a:endParaRPr>
          </a:p>
          <a:p>
            <a:pPr indent="0" lvl="0" marL="0" rtl="0" algn="l">
              <a:lnSpc>
                <a:spcPct val="115000"/>
              </a:lnSpc>
              <a:spcBef>
                <a:spcPts val="600"/>
              </a:spcBef>
              <a:spcAft>
                <a:spcPts val="0"/>
              </a:spcAft>
              <a:buNone/>
            </a:pPr>
            <a:r>
              <a:rPr lang="en-US" sz="1000">
                <a:latin typeface="Roboto"/>
                <a:ea typeface="Roboto"/>
                <a:cs typeface="Roboto"/>
                <a:sym typeface="Roboto"/>
              </a:rPr>
              <a:t>Theranos, founded in 2003 by Elizabeth Holmes, claimed it had invented devices (often called “Edison” or “minilab”) that could run hundreds of blood tests from just a finger-prick of blood. The company said this would make testing faster, cheaper, and more accessible in pharmacies and clinics.​</a:t>
            </a:r>
            <a:endParaRPr sz="1000">
              <a:latin typeface="Roboto"/>
              <a:ea typeface="Roboto"/>
              <a:cs typeface="Roboto"/>
              <a:sym typeface="Roboto"/>
            </a:endParaRPr>
          </a:p>
          <a:p>
            <a:pPr indent="0" lvl="0" marL="0" rtl="0" algn="l">
              <a:lnSpc>
                <a:spcPct val="115000"/>
              </a:lnSpc>
              <a:spcBef>
                <a:spcPts val="1800"/>
              </a:spcBef>
              <a:spcAft>
                <a:spcPts val="0"/>
              </a:spcAft>
              <a:buNone/>
            </a:pPr>
            <a:r>
              <a:rPr b="1" lang="en-US" sz="1000">
                <a:latin typeface="Roboto"/>
                <a:ea typeface="Roboto"/>
                <a:cs typeface="Roboto"/>
                <a:sym typeface="Roboto"/>
              </a:rPr>
              <a:t>What Actually Happened</a:t>
            </a:r>
            <a:endParaRPr b="1" sz="1000">
              <a:latin typeface="Roboto"/>
              <a:ea typeface="Roboto"/>
              <a:cs typeface="Roboto"/>
              <a:sym typeface="Roboto"/>
            </a:endParaRPr>
          </a:p>
          <a:p>
            <a:pPr indent="0" lvl="0" marL="0" rtl="0" algn="l">
              <a:lnSpc>
                <a:spcPct val="115000"/>
              </a:lnSpc>
              <a:spcBef>
                <a:spcPts val="600"/>
              </a:spcBef>
              <a:spcAft>
                <a:spcPts val="0"/>
              </a:spcAft>
              <a:buNone/>
            </a:pPr>
            <a:r>
              <a:rPr lang="en-US" sz="1000">
                <a:solidFill>
                  <a:srgbClr val="980000"/>
                </a:solidFill>
                <a:highlight>
                  <a:srgbClr val="FFF2CC"/>
                </a:highlight>
                <a:latin typeface="Roboto"/>
                <a:ea typeface="Roboto"/>
                <a:cs typeface="Roboto"/>
                <a:sym typeface="Roboto"/>
              </a:rPr>
              <a:t>In reality, the technology could not reliably perform most of the tests Theranos advertised, and many tests were secretly run on modified commercial machines using larger blood samples. Internal concerns about inaccurate and unsafe results were raised by employees and later corroborated by whistleblowers.</a:t>
            </a:r>
            <a:r>
              <a:rPr lang="en-US" sz="1000">
                <a:latin typeface="Roboto"/>
                <a:ea typeface="Roboto"/>
                <a:cs typeface="Roboto"/>
                <a:sym typeface="Roboto"/>
              </a:rPr>
              <a:t>​</a:t>
            </a:r>
            <a:endParaRPr sz="1000">
              <a:latin typeface="Roboto"/>
              <a:ea typeface="Roboto"/>
              <a:cs typeface="Roboto"/>
              <a:sym typeface="Roboto"/>
            </a:endParaRPr>
          </a:p>
          <a:p>
            <a:pPr indent="0" lvl="0" marL="0" rtl="0" algn="l">
              <a:lnSpc>
                <a:spcPct val="115000"/>
              </a:lnSpc>
              <a:spcBef>
                <a:spcPts val="1800"/>
              </a:spcBef>
              <a:spcAft>
                <a:spcPts val="0"/>
              </a:spcAft>
              <a:buNone/>
            </a:pPr>
            <a:r>
              <a:rPr b="1" lang="en-US" sz="1000">
                <a:latin typeface="Roboto"/>
                <a:ea typeface="Roboto"/>
                <a:cs typeface="Roboto"/>
                <a:sym typeface="Roboto"/>
              </a:rPr>
              <a:t>Exposés, Regulators, and Shutdown</a:t>
            </a:r>
            <a:endParaRPr b="1" sz="1000">
              <a:latin typeface="Roboto"/>
              <a:ea typeface="Roboto"/>
              <a:cs typeface="Roboto"/>
              <a:sym typeface="Roboto"/>
            </a:endParaRPr>
          </a:p>
          <a:p>
            <a:pPr indent="0" lvl="0" marL="0" rtl="0" algn="l">
              <a:lnSpc>
                <a:spcPct val="115000"/>
              </a:lnSpc>
              <a:spcBef>
                <a:spcPts val="600"/>
              </a:spcBef>
              <a:spcAft>
                <a:spcPts val="0"/>
              </a:spcAft>
              <a:buNone/>
            </a:pPr>
            <a:r>
              <a:rPr lang="en-US" sz="1000">
                <a:latin typeface="Roboto"/>
                <a:ea typeface="Roboto"/>
                <a:cs typeface="Roboto"/>
                <a:sym typeface="Roboto"/>
              </a:rPr>
              <a:t>Investigative reporting in 2015 revealed that Theranos was not using its own technology for most tests and that its devices produced unreliable results. Regulators then found serious laboratory quality problems, banned Holmes from operating a lab for two years, and the company ultimately voided many test results and shut down in 2018.​</a:t>
            </a:r>
            <a:endParaRPr sz="1000">
              <a:latin typeface="Roboto"/>
              <a:ea typeface="Roboto"/>
              <a:cs typeface="Roboto"/>
              <a:sym typeface="Roboto"/>
            </a:endParaRPr>
          </a:p>
          <a:p>
            <a:pPr indent="0" lvl="0" marL="0" rtl="0" algn="l">
              <a:lnSpc>
                <a:spcPct val="115000"/>
              </a:lnSpc>
              <a:spcBef>
                <a:spcPts val="1800"/>
              </a:spcBef>
              <a:spcAft>
                <a:spcPts val="0"/>
              </a:spcAft>
              <a:buNone/>
            </a:pPr>
            <a:r>
              <a:rPr b="1" lang="en-US" sz="1000">
                <a:latin typeface="Roboto"/>
                <a:ea typeface="Roboto"/>
                <a:cs typeface="Roboto"/>
                <a:sym typeface="Roboto"/>
              </a:rPr>
              <a:t>Fraud Charges and Sentences</a:t>
            </a:r>
            <a:endParaRPr b="1" sz="1000">
              <a:latin typeface="Roboto"/>
              <a:ea typeface="Roboto"/>
              <a:cs typeface="Roboto"/>
              <a:sym typeface="Roboto"/>
            </a:endParaRPr>
          </a:p>
          <a:p>
            <a:pPr indent="0" lvl="0" marL="0" rtl="0" algn="l">
              <a:lnSpc>
                <a:spcPct val="115000"/>
              </a:lnSpc>
              <a:spcBef>
                <a:spcPts val="600"/>
              </a:spcBef>
              <a:spcAft>
                <a:spcPts val="0"/>
              </a:spcAft>
              <a:buNone/>
            </a:pPr>
            <a:r>
              <a:rPr lang="en-US" sz="1000">
                <a:latin typeface="Roboto"/>
                <a:ea typeface="Roboto"/>
                <a:cs typeface="Roboto"/>
                <a:sym typeface="Roboto"/>
              </a:rPr>
              <a:t>U.S. prosecutors charged Holmes and former president Ramesh “Sunny” Balwani with wire fraud and conspiracy, alleging they knew the technology was unreliable but continued to market it to investors, doctors, and patients. Holmes was later convicted of defrauding investors and sentenced to more than 11 years in prison; Balwani was also convicted and sentenced in a separate trial.​</a:t>
            </a:r>
            <a:endParaRPr sz="1000">
              <a:latin typeface="Roboto"/>
              <a:ea typeface="Roboto"/>
              <a:cs typeface="Roboto"/>
              <a:sym typeface="Roboto"/>
            </a:endParaRPr>
          </a:p>
          <a:p>
            <a:pPr indent="0" lvl="0" marL="0" rtl="0" algn="l">
              <a:lnSpc>
                <a:spcPct val="115000"/>
              </a:lnSpc>
              <a:spcBef>
                <a:spcPts val="1800"/>
              </a:spcBef>
              <a:spcAft>
                <a:spcPts val="0"/>
              </a:spcAft>
              <a:buNone/>
            </a:pPr>
            <a:r>
              <a:rPr b="1" lang="en-US" sz="1000">
                <a:latin typeface="Roboto"/>
                <a:ea typeface="Roboto"/>
                <a:cs typeface="Roboto"/>
                <a:sym typeface="Roboto"/>
              </a:rPr>
              <a:t>Why the Scandal Matters</a:t>
            </a:r>
            <a:endParaRPr b="1" sz="1000">
              <a:latin typeface="Roboto"/>
              <a:ea typeface="Roboto"/>
              <a:cs typeface="Roboto"/>
              <a:sym typeface="Roboto"/>
            </a:endParaRPr>
          </a:p>
          <a:p>
            <a:pPr indent="0" lvl="0" marL="0" rtl="0" algn="l">
              <a:lnSpc>
                <a:spcPct val="115000"/>
              </a:lnSpc>
              <a:spcBef>
                <a:spcPts val="600"/>
              </a:spcBef>
              <a:spcAft>
                <a:spcPts val="0"/>
              </a:spcAft>
              <a:buNone/>
            </a:pPr>
            <a:r>
              <a:rPr lang="en-US" sz="1000">
                <a:latin typeface="Roboto"/>
                <a:ea typeface="Roboto"/>
                <a:cs typeface="Roboto"/>
                <a:sym typeface="Roboto"/>
              </a:rPr>
              <a:t>The Theranos case exposed how hype, secrecy, and weak governance can allow a health-tech company to grow to a multibillion‑dollar valuation despite unproven technology. It has led to calls for stronger scientific validation, board oversight, whistleblower protection, and regulatory scrutiny in healthcare startups</a:t>
            </a:r>
            <a:endParaRPr sz="1000">
              <a:latin typeface="Roboto"/>
              <a:ea typeface="Roboto"/>
              <a:cs typeface="Roboto"/>
              <a:sym typeface="Roboto"/>
            </a:endParaRPr>
          </a:p>
          <a:p>
            <a:pPr indent="0" lvl="0" marL="0" rtl="0" algn="l">
              <a:lnSpc>
                <a:spcPct val="110000"/>
              </a:lnSpc>
              <a:spcBef>
                <a:spcPts val="600"/>
              </a:spcBef>
              <a:spcAft>
                <a:spcPts val="0"/>
              </a:spcAft>
              <a:buNone/>
            </a:pPr>
            <a:r>
              <a:rPr lang="en-US" sz="1000">
                <a:latin typeface="Montserrat"/>
                <a:ea typeface="Montserrat"/>
                <a:cs typeface="Montserrat"/>
                <a:sym typeface="Montserrat"/>
              </a:rPr>
              <a:t>+++++++</a:t>
            </a:r>
            <a:endParaRPr sz="1000">
              <a:latin typeface="Montserrat"/>
              <a:ea typeface="Montserrat"/>
              <a:cs typeface="Montserrat"/>
              <a:sym typeface="Montserrat"/>
            </a:endParaRPr>
          </a:p>
          <a:p>
            <a:pPr indent="0" lvl="0" marL="0" rtl="0" algn="l">
              <a:lnSpc>
                <a:spcPct val="115000"/>
              </a:lnSpc>
              <a:spcBef>
                <a:spcPts val="600"/>
              </a:spcBef>
              <a:spcAft>
                <a:spcPts val="0"/>
              </a:spcAft>
              <a:buNone/>
            </a:pPr>
            <a:r>
              <a:rPr lang="en-US" sz="1000">
                <a:solidFill>
                  <a:srgbClr val="0000FF"/>
                </a:solidFill>
                <a:latin typeface="Roboto"/>
                <a:ea typeface="Roboto"/>
                <a:cs typeface="Roboto"/>
                <a:sym typeface="Roboto"/>
              </a:rPr>
              <a:t>Martin Shkreli, a former pharmaceutical executive in the U.S. widely known as the “Pharma Bro.” He became infamous for hiking the price of the drug Daraprim by roughly 4,000–5,000% and later went to prison for securities fraud.​</a:t>
            </a:r>
            <a:endParaRPr sz="1000">
              <a:solidFill>
                <a:srgbClr val="0000FF"/>
              </a:solidFill>
              <a:latin typeface="Roboto"/>
              <a:ea typeface="Roboto"/>
              <a:cs typeface="Roboto"/>
              <a:sym typeface="Roboto"/>
            </a:endParaRPr>
          </a:p>
          <a:p>
            <a:pPr indent="0" lvl="0" marL="0" rtl="0" algn="l">
              <a:lnSpc>
                <a:spcPct val="115000"/>
              </a:lnSpc>
              <a:spcBef>
                <a:spcPts val="1800"/>
              </a:spcBef>
              <a:spcAft>
                <a:spcPts val="0"/>
              </a:spcAft>
              <a:buNone/>
            </a:pPr>
            <a:r>
              <a:rPr b="1" lang="en-US" sz="1000">
                <a:solidFill>
                  <a:srgbClr val="0000FF"/>
                </a:solidFill>
                <a:latin typeface="Roboto"/>
                <a:ea typeface="Roboto"/>
                <a:cs typeface="Roboto"/>
                <a:sym typeface="Roboto"/>
              </a:rPr>
              <a:t>Who Martin Shkreli Is</a:t>
            </a:r>
            <a:endParaRPr b="1" sz="1000">
              <a:solidFill>
                <a:srgbClr val="0000FF"/>
              </a:solidFill>
              <a:latin typeface="Roboto"/>
              <a:ea typeface="Roboto"/>
              <a:cs typeface="Roboto"/>
              <a:sym typeface="Roboto"/>
            </a:endParaRPr>
          </a:p>
          <a:p>
            <a:pPr indent="0" lvl="0" marL="0" rtl="0" algn="l">
              <a:lnSpc>
                <a:spcPct val="115000"/>
              </a:lnSpc>
              <a:spcBef>
                <a:spcPts val="600"/>
              </a:spcBef>
              <a:spcAft>
                <a:spcPts val="0"/>
              </a:spcAft>
              <a:buNone/>
            </a:pPr>
            <a:r>
              <a:rPr lang="en-US" sz="1000">
                <a:solidFill>
                  <a:srgbClr val="0000FF"/>
                </a:solidFill>
                <a:latin typeface="Roboto"/>
                <a:ea typeface="Roboto"/>
                <a:cs typeface="Roboto"/>
                <a:sym typeface="Roboto"/>
              </a:rPr>
              <a:t>Martin Shkreli was</a:t>
            </a:r>
            <a:r>
              <a:rPr lang="en-US" sz="1000" u="sng">
                <a:solidFill>
                  <a:srgbClr val="0000FF"/>
                </a:solidFill>
                <a:latin typeface="Roboto"/>
                <a:ea typeface="Roboto"/>
                <a:cs typeface="Roboto"/>
                <a:sym typeface="Roboto"/>
              </a:rPr>
              <a:t> CEO of Turing Pharmaceuticals</a:t>
            </a:r>
            <a:r>
              <a:rPr lang="en-US" sz="1000">
                <a:solidFill>
                  <a:srgbClr val="0000FF"/>
                </a:solidFill>
                <a:latin typeface="Roboto"/>
                <a:ea typeface="Roboto"/>
                <a:cs typeface="Roboto"/>
                <a:sym typeface="Roboto"/>
              </a:rPr>
              <a:t> (later Vyera) when his company obtained rights to Daraprim, a decades‑old drug used to treat toxoplasmosis and often prescribed for HIV and other vulnerable patients. Soon after, </a:t>
            </a:r>
            <a:r>
              <a:rPr lang="en-US" sz="1000">
                <a:solidFill>
                  <a:srgbClr val="0000FF"/>
                </a:solidFill>
                <a:highlight>
                  <a:srgbClr val="FFF2CC"/>
                </a:highlight>
                <a:latin typeface="Roboto"/>
                <a:ea typeface="Roboto"/>
                <a:cs typeface="Roboto"/>
                <a:sym typeface="Roboto"/>
              </a:rPr>
              <a:t>the company raised the price per pill from around $13.50 (or $17.50, depending on the source) to $750, sparking public outrage and political scrutiny.​</a:t>
            </a:r>
            <a:endParaRPr sz="1000">
              <a:solidFill>
                <a:srgbClr val="0000FF"/>
              </a:solidFill>
              <a:highlight>
                <a:srgbClr val="FFF2CC"/>
              </a:highlight>
              <a:latin typeface="Roboto"/>
              <a:ea typeface="Roboto"/>
              <a:cs typeface="Roboto"/>
              <a:sym typeface="Roboto"/>
            </a:endParaRPr>
          </a:p>
          <a:p>
            <a:pPr indent="0" lvl="0" marL="0" rtl="0" algn="l">
              <a:lnSpc>
                <a:spcPct val="115000"/>
              </a:lnSpc>
              <a:spcBef>
                <a:spcPts val="1800"/>
              </a:spcBef>
              <a:spcAft>
                <a:spcPts val="0"/>
              </a:spcAft>
              <a:buNone/>
            </a:pPr>
            <a:r>
              <a:rPr b="1" lang="en-US" sz="1000">
                <a:solidFill>
                  <a:srgbClr val="0000FF"/>
                </a:solidFill>
                <a:latin typeface="Roboto"/>
                <a:ea typeface="Roboto"/>
                <a:cs typeface="Roboto"/>
                <a:sym typeface="Roboto"/>
              </a:rPr>
              <a:t>Why He Went to Prison</a:t>
            </a:r>
            <a:endParaRPr b="1" sz="1000">
              <a:solidFill>
                <a:srgbClr val="0000FF"/>
              </a:solidFill>
              <a:latin typeface="Roboto"/>
              <a:ea typeface="Roboto"/>
              <a:cs typeface="Roboto"/>
              <a:sym typeface="Roboto"/>
            </a:endParaRPr>
          </a:p>
          <a:p>
            <a:pPr indent="0" lvl="0" marL="0" rtl="0" algn="l">
              <a:lnSpc>
                <a:spcPct val="115000"/>
              </a:lnSpc>
              <a:spcBef>
                <a:spcPts val="600"/>
              </a:spcBef>
              <a:spcAft>
                <a:spcPts val="0"/>
              </a:spcAft>
              <a:buNone/>
            </a:pPr>
            <a:r>
              <a:rPr lang="en-US" sz="1000">
                <a:solidFill>
                  <a:srgbClr val="0000FF"/>
                </a:solidFill>
                <a:latin typeface="Roboto"/>
                <a:ea typeface="Roboto"/>
                <a:cs typeface="Roboto"/>
                <a:sym typeface="Roboto"/>
              </a:rPr>
              <a:t>Although Shkreli became the face of drug price gouging, </a:t>
            </a:r>
            <a:r>
              <a:rPr lang="en-US" sz="1000">
                <a:solidFill>
                  <a:srgbClr val="0000FF"/>
                </a:solidFill>
                <a:highlight>
                  <a:srgbClr val="FFF2CC"/>
                </a:highlight>
                <a:latin typeface="Roboto"/>
                <a:ea typeface="Roboto"/>
                <a:cs typeface="Roboto"/>
                <a:sym typeface="Roboto"/>
              </a:rPr>
              <a:t>his prison sentence was for securities fraud related to his hedge funds and a previous drug company, not directly for the Daraprim price hike.</a:t>
            </a:r>
            <a:r>
              <a:rPr lang="en-US" sz="1000">
                <a:solidFill>
                  <a:srgbClr val="0000FF"/>
                </a:solidFill>
                <a:latin typeface="Roboto"/>
                <a:ea typeface="Roboto"/>
                <a:cs typeface="Roboto"/>
                <a:sym typeface="Roboto"/>
              </a:rPr>
              <a:t> In 2018, he was sentenced to 7 years in federal prison and ordered to forfeit millions of dollars in assets.​</a:t>
            </a:r>
            <a:endParaRPr sz="1000">
              <a:solidFill>
                <a:srgbClr val="0000FF"/>
              </a:solidFill>
              <a:latin typeface="Roboto"/>
              <a:ea typeface="Roboto"/>
              <a:cs typeface="Roboto"/>
              <a:sym typeface="Roboto"/>
            </a:endParaRPr>
          </a:p>
          <a:p>
            <a:pPr indent="0" lvl="0" marL="0" rtl="0" algn="l">
              <a:lnSpc>
                <a:spcPct val="115000"/>
              </a:lnSpc>
              <a:spcBef>
                <a:spcPts val="1800"/>
              </a:spcBef>
              <a:spcAft>
                <a:spcPts val="0"/>
              </a:spcAft>
              <a:buNone/>
            </a:pPr>
            <a:r>
              <a:rPr b="1" lang="en-US" sz="1000">
                <a:solidFill>
                  <a:srgbClr val="0000FF"/>
                </a:solidFill>
                <a:latin typeface="Roboto"/>
                <a:ea typeface="Roboto"/>
                <a:cs typeface="Roboto"/>
                <a:sym typeface="Roboto"/>
              </a:rPr>
              <a:t>What Happened After</a:t>
            </a:r>
            <a:endParaRPr b="1" sz="1000">
              <a:solidFill>
                <a:srgbClr val="0000FF"/>
              </a:solidFill>
              <a:latin typeface="Roboto"/>
              <a:ea typeface="Roboto"/>
              <a:cs typeface="Roboto"/>
              <a:sym typeface="Roboto"/>
            </a:endParaRPr>
          </a:p>
          <a:p>
            <a:pPr indent="0" lvl="0" marL="0" rtl="0" algn="l">
              <a:lnSpc>
                <a:spcPct val="115000"/>
              </a:lnSpc>
              <a:spcBef>
                <a:spcPts val="600"/>
              </a:spcBef>
              <a:spcAft>
                <a:spcPts val="600"/>
              </a:spcAft>
              <a:buNone/>
            </a:pPr>
            <a:r>
              <a:rPr lang="en-US" sz="1000">
                <a:solidFill>
                  <a:srgbClr val="0000FF"/>
                </a:solidFill>
                <a:latin typeface="Roboto"/>
                <a:ea typeface="Roboto"/>
                <a:cs typeface="Roboto"/>
                <a:sym typeface="Roboto"/>
              </a:rPr>
              <a:t>Regulators and courts later found that </a:t>
            </a:r>
            <a:r>
              <a:rPr lang="en-US" sz="1000">
                <a:solidFill>
                  <a:srgbClr val="0000FF"/>
                </a:solidFill>
                <a:highlight>
                  <a:srgbClr val="FFF2CC"/>
                </a:highlight>
                <a:latin typeface="Roboto"/>
                <a:ea typeface="Roboto"/>
                <a:cs typeface="Roboto"/>
                <a:sym typeface="Roboto"/>
              </a:rPr>
              <a:t>Shkreli’s conduct around Daraprim violated antitrust laws</a:t>
            </a:r>
            <a:r>
              <a:rPr lang="en-US" sz="1000">
                <a:solidFill>
                  <a:srgbClr val="0000FF"/>
                </a:solidFill>
                <a:latin typeface="Roboto"/>
                <a:ea typeface="Roboto"/>
                <a:cs typeface="Roboto"/>
                <a:sym typeface="Roboto"/>
              </a:rPr>
              <a:t>, ordering him to repay about $64.6 million and banning him for life from the pharmaceutical industry. He was released from prison to a halfway house in 2022 after serving about five years of his sentence</a:t>
            </a:r>
            <a:endParaRPr/>
          </a:p>
        </p:txBody>
      </p:sp>
      <p:sp>
        <p:nvSpPr>
          <p:cNvPr id="434" name="Google Shape;434;g3a5f6395637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4303fca3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a4303fca3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sz="1100"/>
          </a:p>
        </p:txBody>
      </p:sp>
      <p:sp>
        <p:nvSpPr>
          <p:cNvPr id="446" name="Google Shape;446;g3a4303fca3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ae84d5ed3b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ae84d5ed3b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t>Speaker Notes:</a:t>
            </a:r>
            <a:endParaRPr sz="1100"/>
          </a:p>
          <a:p>
            <a:pPr indent="0" lvl="0" marL="0" rtl="0" algn="l">
              <a:lnSpc>
                <a:spcPct val="115000"/>
              </a:lnSpc>
              <a:spcBef>
                <a:spcPts val="1200"/>
              </a:spcBef>
              <a:spcAft>
                <a:spcPts val="0"/>
              </a:spcAft>
              <a:buClr>
                <a:schemeClr val="dk1"/>
              </a:buClr>
              <a:buSzPts val="1100"/>
              <a:buFont typeface="Arial"/>
              <a:buNone/>
            </a:pPr>
            <a:r>
              <a:rPr lang="en-US"/>
              <a:t>On this slide, I want to clearly outline the problems QA is addressing with the new validation model.</a:t>
            </a:r>
            <a:endParaRPr/>
          </a:p>
          <a:p>
            <a:pPr indent="0" lvl="0" marL="0" rtl="0" algn="l">
              <a:lnSpc>
                <a:spcPct val="115000"/>
              </a:lnSpc>
              <a:spcBef>
                <a:spcPts val="1200"/>
              </a:spcBef>
              <a:spcAft>
                <a:spcPts val="0"/>
              </a:spcAft>
              <a:buClr>
                <a:schemeClr val="dk1"/>
              </a:buClr>
              <a:buSzPts val="1100"/>
              <a:buFont typeface="Arial"/>
              <a:buNone/>
            </a:pPr>
            <a:r>
              <a:rPr lang="en-US"/>
              <a:t>First, our current validation practices vary significantly by system, by region, and even by individual reviewer. Some OPQs were created before CLIA certification and no longer reflect our operational model. This inconsistency creates confusion, rework, and audit vulnerability.</a:t>
            </a:r>
            <a:endParaRPr/>
          </a:p>
          <a:p>
            <a:pPr indent="0" lvl="0" marL="0" rtl="0" algn="l">
              <a:lnSpc>
                <a:spcPct val="115000"/>
              </a:lnSpc>
              <a:spcBef>
                <a:spcPts val="1200"/>
              </a:spcBef>
              <a:spcAft>
                <a:spcPts val="0"/>
              </a:spcAft>
              <a:buClr>
                <a:schemeClr val="dk1"/>
              </a:buClr>
              <a:buSzPts val="1100"/>
              <a:buFont typeface="Arial"/>
              <a:buNone/>
            </a:pPr>
            <a:r>
              <a:rPr lang="en-US"/>
              <a:t>Second, validation records have been found in multiple locations, sometimes outside IMS or Orcanos. This makes it difficult to demonstrate compliance and traceability. One of the audit findings explicitly called out missing or unclear record retention.</a:t>
            </a:r>
            <a:endParaRPr/>
          </a:p>
          <a:p>
            <a:pPr indent="0" lvl="0" marL="0" rtl="0" algn="l">
              <a:lnSpc>
                <a:spcPct val="115000"/>
              </a:lnSpc>
              <a:spcBef>
                <a:spcPts val="1200"/>
              </a:spcBef>
              <a:spcAft>
                <a:spcPts val="0"/>
              </a:spcAft>
              <a:buClr>
                <a:schemeClr val="dk1"/>
              </a:buClr>
              <a:buSzPts val="1100"/>
              <a:buFont typeface="Arial"/>
              <a:buNone/>
            </a:pPr>
            <a:r>
              <a:rPr lang="en-US"/>
              <a:t>Third, our SOPs and supporting documents do not fully align with how Diagnexia currently operates, especially around digital pathology workflows, integrations, and telepathology. Updating the validation framework gives us the opportunity to modernize and correct that misalignment.</a:t>
            </a:r>
            <a:endParaRPr/>
          </a:p>
          <a:p>
            <a:pPr indent="0" lvl="0" marL="0" rtl="0" algn="l">
              <a:lnSpc>
                <a:spcPct val="115000"/>
              </a:lnSpc>
              <a:spcBef>
                <a:spcPts val="1200"/>
              </a:spcBef>
              <a:spcAft>
                <a:spcPts val="0"/>
              </a:spcAft>
              <a:buClr>
                <a:schemeClr val="dk1"/>
              </a:buClr>
              <a:buSzPts val="1100"/>
              <a:buFont typeface="Arial"/>
              <a:buNone/>
            </a:pPr>
            <a:r>
              <a:rPr lang="en-US"/>
              <a:t>A fourth gap is the absence of a standardized, documented way to determine when testing is required versus when justification is sufficient. Without a consistent risk assessment, people tend to over-test or under-test, and that inconsistency increases risk.</a:t>
            </a:r>
            <a:endParaRPr/>
          </a:p>
          <a:p>
            <a:pPr indent="0" lvl="0" marL="0" rtl="0" algn="l">
              <a:lnSpc>
                <a:spcPct val="115000"/>
              </a:lnSpc>
              <a:spcBef>
                <a:spcPts val="1200"/>
              </a:spcBef>
              <a:spcAft>
                <a:spcPts val="1200"/>
              </a:spcAft>
              <a:buNone/>
            </a:pPr>
            <a:r>
              <a:rPr lang="en-US"/>
              <a:t>And lastly, our validation cycle times have been far too long. Excessive signatures, repeated testing, and unclear templates have created unnecessary delays. QA is solving this by implementing a structured, risk-based approach that reduces variance, improves turnaround time, and strengthens our defensibility in audits.</a:t>
            </a:r>
            <a:endParaRPr/>
          </a:p>
        </p:txBody>
      </p:sp>
      <p:sp>
        <p:nvSpPr>
          <p:cNvPr id="457" name="Google Shape;457;g3ae84d5ed3b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ad2f1291c8_0_3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ad2f1291c8_0_3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0000"/>
              </a:lnSpc>
              <a:spcBef>
                <a:spcPts val="0"/>
              </a:spcBef>
              <a:spcAft>
                <a:spcPts val="0"/>
              </a:spcAft>
              <a:buNone/>
            </a:pPr>
            <a:r>
              <a:rPr b="1" lang="en-US" sz="1000" u="sng">
                <a:latin typeface="Montserrat"/>
                <a:ea typeface="Montserrat"/>
                <a:cs typeface="Montserrat"/>
                <a:sym typeface="Montserrat"/>
              </a:rPr>
              <a:t>MED DIRECTOR AUTHORIZED for all </a:t>
            </a:r>
            <a:r>
              <a:rPr b="1" lang="en-US" sz="1000" u="sng">
                <a:latin typeface="Montserrat"/>
                <a:ea typeface="Montserrat"/>
                <a:cs typeface="Montserrat"/>
                <a:sym typeface="Montserrat"/>
              </a:rPr>
              <a:t>validation</a:t>
            </a:r>
            <a:r>
              <a:rPr b="1" lang="en-US" sz="1000" u="sng">
                <a:latin typeface="Montserrat"/>
                <a:ea typeface="Montserrat"/>
                <a:cs typeface="Montserrat"/>
                <a:sym typeface="Montserrat"/>
              </a:rPr>
              <a:t> types</a:t>
            </a:r>
            <a:endParaRPr b="1" sz="1000" u="sng">
              <a:latin typeface="Montserrat"/>
              <a:ea typeface="Montserrat"/>
              <a:cs typeface="Montserrat"/>
              <a:sym typeface="Montserrat"/>
            </a:endParaRPr>
          </a:p>
          <a:p>
            <a:pPr indent="-292100" lvl="0" marL="457200" rtl="0" algn="l">
              <a:lnSpc>
                <a:spcPct val="110000"/>
              </a:lnSpc>
              <a:spcBef>
                <a:spcPts val="600"/>
              </a:spcBef>
              <a:spcAft>
                <a:spcPts val="0"/>
              </a:spcAft>
              <a:buClr>
                <a:schemeClr val="dk1"/>
              </a:buClr>
              <a:buSzPts val="1000"/>
              <a:buFont typeface="Montserrat"/>
              <a:buChar char="●"/>
            </a:pPr>
            <a:r>
              <a:rPr lang="en-US" sz="1000">
                <a:latin typeface="Montserrat"/>
                <a:ea typeface="Montserrat"/>
                <a:cs typeface="Montserrat"/>
                <a:sym typeface="Montserrat"/>
              </a:rPr>
              <a:t>Tie all </a:t>
            </a:r>
            <a:r>
              <a:rPr lang="en-US" sz="1000">
                <a:latin typeface="Montserrat"/>
                <a:ea typeface="Montserrat"/>
                <a:cs typeface="Montserrat"/>
                <a:sym typeface="Montserrat"/>
              </a:rPr>
              <a:t>validation</a:t>
            </a:r>
            <a:r>
              <a:rPr lang="en-US" sz="1000">
                <a:latin typeface="Montserrat"/>
                <a:ea typeface="Montserrat"/>
                <a:cs typeface="Montserrat"/>
                <a:sym typeface="Montserrat"/>
              </a:rPr>
              <a:t> types to a single Lab Med director signature</a:t>
            </a:r>
            <a:endParaRPr sz="1000">
              <a:latin typeface="Montserrat"/>
              <a:ea typeface="Montserrat"/>
              <a:cs typeface="Montserrat"/>
              <a:sym typeface="Montserrat"/>
            </a:endParaRPr>
          </a:p>
          <a:p>
            <a:pPr indent="-292100" lvl="0" marL="457200" rtl="0" algn="l">
              <a:lnSpc>
                <a:spcPct val="110000"/>
              </a:lnSpc>
              <a:spcBef>
                <a:spcPts val="0"/>
              </a:spcBef>
              <a:spcAft>
                <a:spcPts val="0"/>
              </a:spcAft>
              <a:buClr>
                <a:schemeClr val="dk1"/>
              </a:buClr>
              <a:buSzPts val="1000"/>
              <a:buFont typeface="Montserrat"/>
              <a:buChar char="●"/>
            </a:pPr>
            <a:r>
              <a:rPr lang="en-US" sz="1000">
                <a:latin typeface="Montserrat"/>
                <a:ea typeface="Montserrat"/>
                <a:cs typeface="Montserrat"/>
                <a:sym typeface="Montserrat"/>
              </a:rPr>
              <a:t>Creates a compliance thread to the entire service/product</a:t>
            </a:r>
            <a:endParaRPr sz="1000">
              <a:latin typeface="Montserrat"/>
              <a:ea typeface="Montserrat"/>
              <a:cs typeface="Montserrat"/>
              <a:sym typeface="Montserrat"/>
            </a:endParaRPr>
          </a:p>
          <a:p>
            <a:pPr indent="0" lvl="0" marL="0" rtl="0" algn="l">
              <a:lnSpc>
                <a:spcPct val="110000"/>
              </a:lnSpc>
              <a:spcBef>
                <a:spcPts val="600"/>
              </a:spcBef>
              <a:spcAft>
                <a:spcPts val="0"/>
              </a:spcAft>
              <a:buNone/>
            </a:pPr>
            <a:r>
              <a:t/>
            </a:r>
            <a:endParaRPr sz="1000">
              <a:latin typeface="Montserrat"/>
              <a:ea typeface="Montserrat"/>
              <a:cs typeface="Montserrat"/>
              <a:sym typeface="Montserrat"/>
            </a:endParaRPr>
          </a:p>
          <a:p>
            <a:pPr indent="0" lvl="0" marL="0" rtl="0" algn="l">
              <a:lnSpc>
                <a:spcPct val="110000"/>
              </a:lnSpc>
              <a:spcBef>
                <a:spcPts val="600"/>
              </a:spcBef>
              <a:spcAft>
                <a:spcPts val="0"/>
              </a:spcAft>
              <a:buNone/>
            </a:pPr>
            <a:r>
              <a:rPr b="1" lang="en-US" sz="1000" u="sng">
                <a:latin typeface="Montserrat"/>
                <a:ea typeface="Montserrat"/>
                <a:cs typeface="Montserrat"/>
                <a:sym typeface="Montserrat"/>
              </a:rPr>
              <a:t>Reduce planning cycles - focus time on testing</a:t>
            </a:r>
            <a:endParaRPr b="1" sz="1000" u="sng">
              <a:latin typeface="Montserrat"/>
              <a:ea typeface="Montserrat"/>
              <a:cs typeface="Montserrat"/>
              <a:sym typeface="Montserrat"/>
            </a:endParaRPr>
          </a:p>
          <a:p>
            <a:pPr indent="-292100" lvl="0" marL="457200" rtl="0" algn="l">
              <a:lnSpc>
                <a:spcPct val="100000"/>
              </a:lnSpc>
              <a:spcBef>
                <a:spcPts val="600"/>
              </a:spcBef>
              <a:spcAft>
                <a:spcPts val="0"/>
              </a:spcAft>
              <a:buClr>
                <a:schemeClr val="dk1"/>
              </a:buClr>
              <a:buSzPts val="1000"/>
              <a:buChar char="●"/>
            </a:pPr>
            <a:r>
              <a:rPr lang="en-US" sz="1000">
                <a:latin typeface="Montserrat"/>
                <a:ea typeface="Montserrat"/>
                <a:cs typeface="Montserrat"/>
                <a:sym typeface="Montserrat"/>
              </a:rPr>
              <a:t>Current process: </a:t>
            </a:r>
            <a:endParaRPr sz="1000">
              <a:latin typeface="Montserrat"/>
              <a:ea typeface="Montserrat"/>
              <a:cs typeface="Montserrat"/>
              <a:sym typeface="Montserrat"/>
            </a:endParaRPr>
          </a:p>
          <a:p>
            <a:pPr indent="-292100" lvl="1" marL="914400" rtl="0" algn="l">
              <a:lnSpc>
                <a:spcPct val="100000"/>
              </a:lnSpc>
              <a:spcBef>
                <a:spcPts val="0"/>
              </a:spcBef>
              <a:spcAft>
                <a:spcPts val="0"/>
              </a:spcAft>
              <a:buClr>
                <a:schemeClr val="dk1"/>
              </a:buClr>
              <a:buSzPts val="1000"/>
              <a:buChar char="○"/>
            </a:pPr>
            <a:r>
              <a:rPr lang="en-US" sz="1000">
                <a:latin typeface="Montserrat"/>
                <a:ea typeface="Montserrat"/>
                <a:cs typeface="Montserrat"/>
                <a:sym typeface="Montserrat"/>
              </a:rPr>
              <a:t>TAT: design to approval: [7] mo</a:t>
            </a:r>
            <a:endParaRPr sz="1000">
              <a:latin typeface="Montserrat"/>
              <a:ea typeface="Montserrat"/>
              <a:cs typeface="Montserrat"/>
              <a:sym typeface="Montserrat"/>
            </a:endParaRPr>
          </a:p>
          <a:p>
            <a:pPr indent="-292100" lvl="0" marL="457200" rtl="0" algn="l">
              <a:lnSpc>
                <a:spcPct val="100000"/>
              </a:lnSpc>
              <a:spcBef>
                <a:spcPts val="0"/>
              </a:spcBef>
              <a:spcAft>
                <a:spcPts val="0"/>
              </a:spcAft>
              <a:buClr>
                <a:schemeClr val="dk1"/>
              </a:buClr>
              <a:buSzPts val="1000"/>
              <a:buChar char="●"/>
            </a:pPr>
            <a:r>
              <a:rPr lang="en-US" sz="1000" u="sng">
                <a:latin typeface="Montserrat"/>
                <a:ea typeface="Montserrat"/>
                <a:cs typeface="Montserrat"/>
                <a:sym typeface="Montserrat"/>
              </a:rPr>
              <a:t>Risk based testing focus</a:t>
            </a:r>
            <a:endParaRPr sz="1000" u="sng">
              <a:latin typeface="Montserrat"/>
              <a:ea typeface="Montserrat"/>
              <a:cs typeface="Montserrat"/>
              <a:sym typeface="Montserrat"/>
            </a:endParaRPr>
          </a:p>
          <a:p>
            <a:pPr indent="-292100" lvl="1" marL="914400" rtl="0" algn="l">
              <a:lnSpc>
                <a:spcPct val="100000"/>
              </a:lnSpc>
              <a:spcBef>
                <a:spcPts val="0"/>
              </a:spcBef>
              <a:spcAft>
                <a:spcPts val="0"/>
              </a:spcAft>
              <a:buClr>
                <a:schemeClr val="dk1"/>
              </a:buClr>
              <a:buSzPts val="1000"/>
              <a:buChar char="○"/>
            </a:pPr>
            <a:r>
              <a:rPr lang="en-US" sz="1000">
                <a:latin typeface="Montserrat"/>
                <a:ea typeface="Montserrat"/>
                <a:cs typeface="Montserrat"/>
                <a:sym typeface="Montserrat"/>
              </a:rPr>
              <a:t>Least burdensome - FDA</a:t>
            </a:r>
            <a:endParaRPr sz="1000">
              <a:latin typeface="Montserrat"/>
              <a:ea typeface="Montserrat"/>
              <a:cs typeface="Montserrat"/>
              <a:sym typeface="Montserrat"/>
            </a:endParaRPr>
          </a:p>
          <a:p>
            <a:pPr indent="-292100" lvl="0" marL="457200" rtl="0" algn="l">
              <a:lnSpc>
                <a:spcPct val="100000"/>
              </a:lnSpc>
              <a:spcBef>
                <a:spcPts val="0"/>
              </a:spcBef>
              <a:spcAft>
                <a:spcPts val="0"/>
              </a:spcAft>
              <a:buClr>
                <a:schemeClr val="dk1"/>
              </a:buClr>
              <a:buSzPts val="1000"/>
              <a:buChar char="●"/>
            </a:pPr>
            <a:r>
              <a:rPr lang="en-US" sz="1000">
                <a:latin typeface="Montserrat"/>
                <a:ea typeface="Montserrat"/>
                <a:cs typeface="Montserrat"/>
                <a:sym typeface="Montserrat"/>
              </a:rPr>
              <a:t>Shift resource labor</a:t>
            </a:r>
            <a:endParaRPr sz="1000">
              <a:latin typeface="Montserrat"/>
              <a:ea typeface="Montserrat"/>
              <a:cs typeface="Montserrat"/>
              <a:sym typeface="Montserrat"/>
            </a:endParaRPr>
          </a:p>
          <a:p>
            <a:pPr indent="-292100" lvl="1" marL="914400" rtl="0" algn="l">
              <a:lnSpc>
                <a:spcPct val="100000"/>
              </a:lnSpc>
              <a:spcBef>
                <a:spcPts val="0"/>
              </a:spcBef>
              <a:spcAft>
                <a:spcPts val="0"/>
              </a:spcAft>
              <a:buClr>
                <a:schemeClr val="dk1"/>
              </a:buClr>
              <a:buSzPts val="1000"/>
              <a:buChar char="○"/>
            </a:pPr>
            <a:r>
              <a:rPr lang="en-US" sz="1000">
                <a:latin typeface="Montserrat"/>
                <a:ea typeface="Montserrat"/>
                <a:cs typeface="Montserrat"/>
                <a:sym typeface="Montserrat"/>
              </a:rPr>
              <a:t>Quality driven planning</a:t>
            </a:r>
            <a:endParaRPr sz="1000">
              <a:latin typeface="Montserrat"/>
              <a:ea typeface="Montserrat"/>
              <a:cs typeface="Montserrat"/>
              <a:sym typeface="Montserrat"/>
            </a:endParaRPr>
          </a:p>
          <a:p>
            <a:pPr indent="-292100" lvl="1" marL="914400" rtl="0" algn="l">
              <a:lnSpc>
                <a:spcPct val="100000"/>
              </a:lnSpc>
              <a:spcBef>
                <a:spcPts val="0"/>
              </a:spcBef>
              <a:spcAft>
                <a:spcPts val="0"/>
              </a:spcAft>
              <a:buClr>
                <a:schemeClr val="dk1"/>
              </a:buClr>
              <a:buSzPts val="1000"/>
              <a:buChar char="○"/>
            </a:pPr>
            <a:r>
              <a:rPr lang="en-US" sz="1000">
                <a:latin typeface="Montserrat"/>
                <a:ea typeface="Montserrat"/>
                <a:cs typeface="Montserrat"/>
                <a:sym typeface="Montserrat"/>
              </a:rPr>
              <a:t>OPS time is focused on testing</a:t>
            </a:r>
            <a:endParaRPr sz="1000">
              <a:latin typeface="Montserrat"/>
              <a:ea typeface="Montserrat"/>
              <a:cs typeface="Montserrat"/>
              <a:sym typeface="Montserrat"/>
            </a:endParaRPr>
          </a:p>
          <a:p>
            <a:pPr indent="0" lvl="0" marL="0" rtl="0" algn="l">
              <a:lnSpc>
                <a:spcPct val="100000"/>
              </a:lnSpc>
              <a:spcBef>
                <a:spcPts val="600"/>
              </a:spcBef>
              <a:spcAft>
                <a:spcPts val="0"/>
              </a:spcAft>
              <a:buNone/>
            </a:pPr>
            <a:r>
              <a:rPr b="1" lang="en-US" sz="1000" u="sng">
                <a:latin typeface="Montserrat"/>
                <a:ea typeface="Montserrat"/>
                <a:cs typeface="Montserrat"/>
                <a:sym typeface="Montserrat"/>
              </a:rPr>
              <a:t>Align to e-QMS record management</a:t>
            </a:r>
            <a:endParaRPr b="1" sz="1000" u="sng">
              <a:latin typeface="Montserrat"/>
              <a:ea typeface="Montserrat"/>
              <a:cs typeface="Montserrat"/>
              <a:sym typeface="Montserrat"/>
            </a:endParaRPr>
          </a:p>
          <a:p>
            <a:pPr indent="-292100" lvl="0" marL="457200" rtl="0" algn="l">
              <a:lnSpc>
                <a:spcPct val="110000"/>
              </a:lnSpc>
              <a:spcBef>
                <a:spcPts val="600"/>
              </a:spcBef>
              <a:spcAft>
                <a:spcPts val="0"/>
              </a:spcAft>
              <a:buClr>
                <a:schemeClr val="dk1"/>
              </a:buClr>
              <a:buSzPts val="1000"/>
              <a:buChar char="●"/>
            </a:pPr>
            <a:r>
              <a:rPr lang="en-US" sz="1000">
                <a:latin typeface="Montserrat"/>
                <a:ea typeface="Montserrat"/>
                <a:cs typeface="Montserrat"/>
                <a:sym typeface="Montserrat"/>
              </a:rPr>
              <a:t>As service grows,</a:t>
            </a:r>
            <a:r>
              <a:rPr lang="en-US" sz="1000">
                <a:latin typeface="Montserrat"/>
                <a:ea typeface="Montserrat"/>
                <a:cs typeface="Montserrat"/>
                <a:sym typeface="Montserrat"/>
              </a:rPr>
              <a:t> shift to single signature in Orcanos (try to get away from DocuSign)</a:t>
            </a:r>
            <a:endParaRPr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DMS-8069 record retention</a:t>
            </a:r>
            <a:endParaRPr i="1" sz="1000">
              <a:latin typeface="Montserrat"/>
              <a:ea typeface="Montserrat"/>
              <a:cs typeface="Montserrat"/>
              <a:sym typeface="Montserrat"/>
            </a:endParaRPr>
          </a:p>
          <a:p>
            <a:pPr indent="-292100" lvl="0" marL="457200" rtl="0" algn="l">
              <a:lnSpc>
                <a:spcPct val="110000"/>
              </a:lnSpc>
              <a:spcBef>
                <a:spcPts val="0"/>
              </a:spcBef>
              <a:spcAft>
                <a:spcPts val="0"/>
              </a:spcAft>
              <a:buClr>
                <a:schemeClr val="dk1"/>
              </a:buClr>
              <a:buSzPts val="1000"/>
              <a:buChar char="●"/>
            </a:pPr>
            <a:r>
              <a:rPr lang="en-US" sz="1000">
                <a:latin typeface="Montserrat"/>
                <a:ea typeface="Montserrat"/>
                <a:cs typeface="Montserrat"/>
                <a:sym typeface="Montserrat"/>
              </a:rPr>
              <a:t>Multiple testing types for all the variety of testing - standardize to Orcanos</a:t>
            </a:r>
            <a:endParaRPr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IQs - manufacture scanner</a:t>
            </a:r>
            <a:endParaRPr i="1"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OPQs</a:t>
            </a:r>
            <a:endParaRPr i="1"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PQs - clinical</a:t>
            </a:r>
            <a:endParaRPr i="1"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Software chgs - test methods (SOPs)</a:t>
            </a:r>
            <a:endParaRPr i="1" sz="1000">
              <a:latin typeface="Montserrat"/>
              <a:ea typeface="Montserrat"/>
              <a:cs typeface="Montserrat"/>
              <a:sym typeface="Montserrat"/>
            </a:endParaRPr>
          </a:p>
          <a:p>
            <a:pPr indent="-292100" lvl="1" marL="914400" rtl="0" algn="l">
              <a:lnSpc>
                <a:spcPct val="110000"/>
              </a:lnSpc>
              <a:spcBef>
                <a:spcPts val="0"/>
              </a:spcBef>
              <a:spcAft>
                <a:spcPts val="0"/>
              </a:spcAft>
              <a:buClr>
                <a:schemeClr val="dk1"/>
              </a:buClr>
              <a:buSzPts val="1000"/>
              <a:buChar char="○"/>
            </a:pPr>
            <a:r>
              <a:rPr i="1" lang="en-US" sz="1000">
                <a:latin typeface="Montserrat"/>
                <a:ea typeface="Montserrat"/>
                <a:cs typeface="Montserrat"/>
                <a:sym typeface="Montserrat"/>
              </a:rPr>
              <a:t>LIS &amp; customer tests</a:t>
            </a:r>
            <a:endParaRPr sz="1000">
              <a:latin typeface="Montserrat"/>
              <a:ea typeface="Montserrat"/>
              <a:cs typeface="Montserrat"/>
              <a:sym typeface="Montserrat"/>
            </a:endParaRPr>
          </a:p>
        </p:txBody>
      </p:sp>
      <p:sp>
        <p:nvSpPr>
          <p:cNvPr id="474" name="Google Shape;474;g3ad2f1291c8_0_30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ae84d5ed3b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ae84d5ed3b_0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Speaker notes:</a:t>
            </a:r>
            <a:endParaRPr sz="1100"/>
          </a:p>
          <a:p>
            <a:pPr indent="0" lvl="0" marL="0" rtl="0" algn="l">
              <a:lnSpc>
                <a:spcPct val="115000"/>
              </a:lnSpc>
              <a:spcBef>
                <a:spcPts val="1200"/>
              </a:spcBef>
              <a:spcAft>
                <a:spcPts val="0"/>
              </a:spcAft>
              <a:buClr>
                <a:schemeClr val="dk1"/>
              </a:buClr>
              <a:buSzPts val="1100"/>
              <a:buFont typeface="Arial"/>
              <a:buNone/>
            </a:pPr>
            <a:r>
              <a:rPr lang="en-US" sz="1100"/>
              <a:t>This slide summarizes what QA will deliver through the new validation approach.</a:t>
            </a:r>
            <a:endParaRPr sz="1100"/>
          </a:p>
          <a:p>
            <a:pPr indent="0" lvl="0" marL="0" rtl="0" algn="l">
              <a:lnSpc>
                <a:spcPct val="115000"/>
              </a:lnSpc>
              <a:spcBef>
                <a:spcPts val="1200"/>
              </a:spcBef>
              <a:spcAft>
                <a:spcPts val="0"/>
              </a:spcAft>
              <a:buClr>
                <a:schemeClr val="dk1"/>
              </a:buClr>
              <a:buSzPts val="1100"/>
              <a:buFont typeface="Arial"/>
              <a:buNone/>
            </a:pPr>
            <a:r>
              <a:rPr lang="en-US" sz="1100"/>
              <a:t>First, we are establishing a consistent, risk-based validation model. Regardless of scanner type, integration, workflow, or region, we will use the same criteria to determine when testing is required and when justification is appropriate. This consistency eliminates the ambiguity that created discrepancies in past audits.</a:t>
            </a:r>
            <a:endParaRPr sz="1100"/>
          </a:p>
          <a:p>
            <a:pPr indent="0" lvl="0" marL="0" rtl="0" algn="l">
              <a:lnSpc>
                <a:spcPct val="115000"/>
              </a:lnSpc>
              <a:spcBef>
                <a:spcPts val="1200"/>
              </a:spcBef>
              <a:spcAft>
                <a:spcPts val="0"/>
              </a:spcAft>
              <a:buClr>
                <a:schemeClr val="dk1"/>
              </a:buClr>
              <a:buSzPts val="1100"/>
              <a:buFont typeface="Arial"/>
              <a:buNone/>
            </a:pPr>
            <a:r>
              <a:rPr lang="en-US" sz="1100"/>
              <a:t>Second, QA will deliver unified templates, documentation expectations, and clear record retention pathways. All validation evidence—IQs, OQs, OPQs, telepathology, integrations, and customer validations—will be retained in Orcanos for complete traceability.”</a:t>
            </a:r>
            <a:endParaRPr sz="1100"/>
          </a:p>
          <a:p>
            <a:pPr indent="0" lvl="0" marL="0" rtl="0" algn="l">
              <a:lnSpc>
                <a:spcPct val="115000"/>
              </a:lnSpc>
              <a:spcBef>
                <a:spcPts val="1200"/>
              </a:spcBef>
              <a:spcAft>
                <a:spcPts val="0"/>
              </a:spcAft>
              <a:buClr>
                <a:schemeClr val="dk1"/>
              </a:buClr>
              <a:buSzPts val="1100"/>
              <a:buFont typeface="Arial"/>
              <a:buNone/>
            </a:pPr>
            <a:r>
              <a:rPr lang="en-US" sz="1100"/>
              <a:t>Third, this new model allows for faster and more predictable validation cycle times. By reducing unnecessary signatures and limiting testing to actual risk, we avoid long, repetitive validation cycles that previously took months to complete.</a:t>
            </a:r>
            <a:endParaRPr sz="1100"/>
          </a:p>
          <a:p>
            <a:pPr indent="0" lvl="0" marL="0" rtl="0" algn="l">
              <a:lnSpc>
                <a:spcPct val="115000"/>
              </a:lnSpc>
              <a:spcBef>
                <a:spcPts val="1200"/>
              </a:spcBef>
              <a:spcAft>
                <a:spcPts val="0"/>
              </a:spcAft>
              <a:buClr>
                <a:schemeClr val="dk1"/>
              </a:buClr>
              <a:buSzPts val="1100"/>
              <a:buFont typeface="Arial"/>
              <a:buNone/>
            </a:pPr>
            <a:r>
              <a:rPr lang="en-US" sz="1100"/>
              <a:t>Fourth, our approach directly reduces the approval burden on the Medical Director and other stakeholders. The Master Validation Plan and Validation summary report become the primary approval mechanism, rather than requiring multiple signatures across every protocol.</a:t>
            </a:r>
            <a:endParaRPr sz="1100"/>
          </a:p>
          <a:p>
            <a:pPr indent="0" lvl="0" marL="0" rtl="0" algn="l">
              <a:lnSpc>
                <a:spcPct val="115000"/>
              </a:lnSpc>
              <a:spcBef>
                <a:spcPts val="1200"/>
              </a:spcBef>
              <a:spcAft>
                <a:spcPts val="1200"/>
              </a:spcAft>
              <a:buNone/>
            </a:pPr>
            <a:r>
              <a:rPr lang="en-US" sz="1100"/>
              <a:t>And finally, we will ensure validation is fully integrated into our eQMS, linking testing requirements and outputs directly to CAPAs, ECOs, audits, and change controls. This alignment reinforces defensible compliance and strengthens Diagnexia’s operational stability as we scale.</a:t>
            </a:r>
            <a:endParaRPr/>
          </a:p>
        </p:txBody>
      </p:sp>
      <p:sp>
        <p:nvSpPr>
          <p:cNvPr id="544" name="Google Shape;544;g3ae84d5ed3b_0_3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3ad2f1291c8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3ad2f1291c8_0_3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AutoNum type="arabicPeriod"/>
            </a:pPr>
            <a:r>
              <a:rPr lang="en-US"/>
              <a:t>What is a regulatory statement? Backbone of the service. Testing would support the intended </a:t>
            </a:r>
            <a:r>
              <a:rPr lang="en-US"/>
              <a:t>that</a:t>
            </a:r>
            <a:r>
              <a:rPr lang="en-US"/>
              <a:t> is </a:t>
            </a:r>
            <a:r>
              <a:rPr lang="en-US"/>
              <a:t>published</a:t>
            </a:r>
            <a:r>
              <a:rPr lang="en-US"/>
              <a:t> in the Reg statement. Qualifications are testing that the equipment works for the intended use - they do not establish intended use. </a:t>
            </a:r>
            <a:endParaRPr/>
          </a:p>
          <a:p>
            <a:pPr indent="-317500" lvl="0" marL="457200" rtl="0" algn="l">
              <a:spcBef>
                <a:spcPts val="0"/>
              </a:spcBef>
              <a:spcAft>
                <a:spcPts val="0"/>
              </a:spcAft>
              <a:buSzPts val="1400"/>
              <a:buAutoNum type="arabicPeriod"/>
            </a:pPr>
            <a:r>
              <a:rPr lang="en-US"/>
              <a:t>Rooting the product / service in an anchored Reg statement that indicates “where” we can establish service, while also supporting the intended use with substantiated test methods strengthens the offering in the regional market. </a:t>
            </a:r>
            <a:endParaRPr/>
          </a:p>
          <a:p>
            <a:pPr indent="-317500" lvl="0" marL="457200" rtl="0" algn="l">
              <a:spcBef>
                <a:spcPts val="0"/>
              </a:spcBef>
              <a:spcAft>
                <a:spcPts val="0"/>
              </a:spcAft>
              <a:buSzPts val="1400"/>
              <a:buAutoNum type="arabicPeriod"/>
            </a:pPr>
            <a:r>
              <a:rPr lang="en-US"/>
              <a:t>Create consistency with supporting a globally available product / service. </a:t>
            </a:r>
            <a:endParaRPr/>
          </a:p>
        </p:txBody>
      </p:sp>
      <p:sp>
        <p:nvSpPr>
          <p:cNvPr id="564" name="Google Shape;564;g3ad2f1291c8_0_32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3ae84d5ed3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3ae84d5ed3b_0_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t>Speaker notes:</a:t>
            </a:r>
            <a:endParaRPr sz="1100"/>
          </a:p>
          <a:p>
            <a:pPr indent="0" lvl="0" marL="0" rtl="0" algn="l">
              <a:lnSpc>
                <a:spcPct val="115000"/>
              </a:lnSpc>
              <a:spcBef>
                <a:spcPts val="1200"/>
              </a:spcBef>
              <a:spcAft>
                <a:spcPts val="0"/>
              </a:spcAft>
              <a:buNone/>
            </a:pPr>
            <a:r>
              <a:rPr lang="en-US" sz="1100"/>
              <a:t>To close out the QA section, I want to leave everyone with a clear view of where we are heading.</a:t>
            </a:r>
            <a:endParaRPr sz="1100"/>
          </a:p>
          <a:p>
            <a:pPr indent="0" lvl="0" marL="0" rtl="0" algn="l">
              <a:lnSpc>
                <a:spcPct val="115000"/>
              </a:lnSpc>
              <a:spcBef>
                <a:spcPts val="1200"/>
              </a:spcBef>
              <a:spcAft>
                <a:spcPts val="0"/>
              </a:spcAft>
              <a:buNone/>
            </a:pPr>
            <a:r>
              <a:rPr lang="en-US" sz="1100"/>
              <a:t>Our vision is a unified, risk-driven validation program that replaces inconsistent legacy practices with a modern, defensible, and scalable model. Every validation decision—from testing to justification—will be tied to a transparent risk assessment, and every record will be captured in Orcanos.</a:t>
            </a:r>
            <a:endParaRPr sz="1100"/>
          </a:p>
          <a:p>
            <a:pPr indent="0" lvl="0" marL="0" rtl="0" algn="l">
              <a:lnSpc>
                <a:spcPct val="115000"/>
              </a:lnSpc>
              <a:spcBef>
                <a:spcPts val="1200"/>
              </a:spcBef>
              <a:spcAft>
                <a:spcPts val="0"/>
              </a:spcAft>
              <a:buNone/>
            </a:pPr>
            <a:r>
              <a:rPr lang="en-US" sz="1100"/>
              <a:t>We will have standardized templates, documentation pathways, and approval structures so that validation doesn’t depend on who performs it or where it occurs. This consistency not only strengthens compliance, it strengthens our ability to grow.</a:t>
            </a:r>
            <a:endParaRPr sz="1100"/>
          </a:p>
          <a:p>
            <a:pPr indent="0" lvl="0" marL="0" rtl="0" algn="l">
              <a:lnSpc>
                <a:spcPct val="115000"/>
              </a:lnSpc>
              <a:spcBef>
                <a:spcPts val="1200"/>
              </a:spcBef>
              <a:spcAft>
                <a:spcPts val="0"/>
              </a:spcAft>
              <a:buNone/>
            </a:pPr>
            <a:r>
              <a:rPr lang="en-US" sz="1100"/>
              <a:t>Importantly, validation will no longer sit in isolation. It will be fully embedded into the QMS, linked directly to CAPAs, ECOs, audits, and intended use. This transforms validation into a preventative quality mechanism rather than a reactive one.</a:t>
            </a:r>
            <a:endParaRPr sz="1100"/>
          </a:p>
          <a:p>
            <a:pPr indent="0" lvl="0" marL="0" rtl="0" algn="l">
              <a:lnSpc>
                <a:spcPct val="115000"/>
              </a:lnSpc>
              <a:spcBef>
                <a:spcPts val="1200"/>
              </a:spcBef>
              <a:spcAft>
                <a:spcPts val="0"/>
              </a:spcAft>
              <a:buNone/>
            </a:pPr>
            <a:r>
              <a:rPr lang="en-US" sz="1100"/>
              <a:t>And finally, our goal is to deliver a predictable and efficient validation lifecycle. One that reduces signature burden, eliminates unnecessary testing, shortens turnaround time, and enables all teams—operations, RA, pathology, integrations—to move confidently without compromising quality.</a:t>
            </a:r>
            <a:endParaRPr sz="1100"/>
          </a:p>
          <a:p>
            <a:pPr indent="0" lvl="0" marL="0" rtl="0" algn="l">
              <a:lnSpc>
                <a:spcPct val="115000"/>
              </a:lnSpc>
              <a:spcBef>
                <a:spcPts val="1200"/>
              </a:spcBef>
              <a:spcAft>
                <a:spcPts val="0"/>
              </a:spcAft>
              <a:buNone/>
            </a:pPr>
            <a:r>
              <a:rPr lang="en-US" sz="1100"/>
              <a:t>This is the future of QA/RA-led validation at Diagnexia, and it is designed to support our scale, our customers, and our compliance obligations as the organization continues to grow. </a:t>
            </a:r>
            <a:endParaRPr sz="1100"/>
          </a:p>
          <a:p>
            <a:pPr indent="0" lvl="0" marL="0" rtl="0" algn="l">
              <a:lnSpc>
                <a:spcPct val="115000"/>
              </a:lnSpc>
              <a:spcBef>
                <a:spcPts val="1200"/>
              </a:spcBef>
              <a:spcAft>
                <a:spcPts val="1200"/>
              </a:spcAft>
              <a:buNone/>
            </a:pPr>
            <a:r>
              <a:t/>
            </a:r>
            <a:endParaRPr sz="1100"/>
          </a:p>
        </p:txBody>
      </p:sp>
      <p:sp>
        <p:nvSpPr>
          <p:cNvPr id="602" name="Google Shape;602;g3ae84d5ed3b_0_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ad2f1291c8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ad2f1291c8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US"/>
              <a:t>Risk: </a:t>
            </a:r>
            <a:r>
              <a:rPr lang="en-US" u="sng">
                <a:solidFill>
                  <a:schemeClr val="hlink"/>
                </a:solidFill>
                <a:hlinkClick r:id="rId2"/>
              </a:rPr>
              <a:t>DMS-105073.xx</a:t>
            </a:r>
            <a:r>
              <a:rPr lang="en-US"/>
              <a:t> - QA driven document</a:t>
            </a:r>
            <a:endParaRPr/>
          </a:p>
          <a:p>
            <a:pPr indent="-317500" lvl="0" marL="457200" rtl="0" algn="l">
              <a:spcBef>
                <a:spcPts val="0"/>
              </a:spcBef>
              <a:spcAft>
                <a:spcPts val="0"/>
              </a:spcAft>
              <a:buSzPts val="1400"/>
              <a:buChar char="●"/>
            </a:pPr>
            <a:r>
              <a:rPr lang="en-US"/>
              <a:t>Master Validation Plan - </a:t>
            </a:r>
            <a:r>
              <a:rPr lang="en-US" u="sng">
                <a:solidFill>
                  <a:schemeClr val="hlink"/>
                </a:solidFill>
                <a:hlinkClick r:id="rId3"/>
              </a:rPr>
              <a:t>DMS-108833.xx</a:t>
            </a:r>
            <a:endParaRPr/>
          </a:p>
          <a:p>
            <a:pPr indent="-317500" lvl="0" marL="457200" rtl="0" algn="l">
              <a:spcBef>
                <a:spcPts val="0"/>
              </a:spcBef>
              <a:spcAft>
                <a:spcPts val="0"/>
              </a:spcAft>
              <a:buSzPts val="1400"/>
              <a:buChar char="●"/>
            </a:pPr>
            <a:r>
              <a:rPr lang="en-US"/>
              <a:t>Template - </a:t>
            </a:r>
            <a:r>
              <a:rPr lang="en-US" u="sng">
                <a:solidFill>
                  <a:schemeClr val="hlink"/>
                </a:solidFill>
                <a:hlinkClick r:id="rId4"/>
              </a:rPr>
              <a:t>DMS-109200.xx</a:t>
            </a:r>
            <a:endParaRPr/>
          </a:p>
          <a:p>
            <a:pPr indent="-317500" lvl="0" marL="457200" rtl="0" algn="l">
              <a:spcBef>
                <a:spcPts val="0"/>
              </a:spcBef>
              <a:spcAft>
                <a:spcPts val="0"/>
              </a:spcAft>
              <a:buSzPts val="1400"/>
              <a:buChar char="●"/>
            </a:pPr>
            <a:r>
              <a:rPr lang="en-US"/>
              <a:t>Validation Summary Report - </a:t>
            </a:r>
            <a:r>
              <a:rPr lang="en-US" u="sng">
                <a:solidFill>
                  <a:schemeClr val="hlink"/>
                </a:solidFill>
                <a:hlinkClick r:id="rId5"/>
              </a:rPr>
              <a:t>DMS-108566.xx</a:t>
            </a:r>
            <a:endParaRPr/>
          </a:p>
          <a:p>
            <a:pPr indent="-317500" lvl="0" marL="457200" rtl="0" algn="l">
              <a:spcBef>
                <a:spcPts val="0"/>
              </a:spcBef>
              <a:spcAft>
                <a:spcPts val="0"/>
              </a:spcAft>
              <a:buSzPts val="1400"/>
              <a:buChar char="●"/>
            </a:pPr>
            <a:r>
              <a:rPr lang="en-US"/>
              <a:t>Regulatory Use Statement → needs Fresh desk request - coordinating with Rachel first</a:t>
            </a:r>
            <a:endParaRPr/>
          </a:p>
          <a:p>
            <a:pPr indent="-317500" lvl="0" marL="457200" rtl="0" algn="l">
              <a:spcBef>
                <a:spcPts val="0"/>
              </a:spcBef>
              <a:spcAft>
                <a:spcPts val="0"/>
              </a:spcAft>
              <a:buSzPts val="1400"/>
              <a:buChar char="●"/>
            </a:pPr>
            <a:r>
              <a:rPr lang="en-US"/>
              <a:t>Quality Plan - QA document</a:t>
            </a:r>
            <a:endParaRPr/>
          </a:p>
        </p:txBody>
      </p:sp>
      <p:sp>
        <p:nvSpPr>
          <p:cNvPr id="620" name="Google Shape;620;g3ad2f1291c8_0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ad2f1291c8_0_15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3ad2f1291c8_0_15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Jamie: </a:t>
            </a:r>
            <a:r>
              <a:rPr lang="en-US" u="sng"/>
              <a:t>New Regulatory Statement concept</a:t>
            </a:r>
            <a:endParaRPr u="sng"/>
          </a:p>
          <a:p>
            <a:pPr indent="-292100" lvl="0" marL="457200" rtl="0" algn="l">
              <a:lnSpc>
                <a:spcPct val="150000"/>
              </a:lnSpc>
              <a:spcBef>
                <a:spcPts val="0"/>
              </a:spcBef>
              <a:spcAft>
                <a:spcPts val="0"/>
              </a:spcAft>
              <a:buClr>
                <a:schemeClr val="dk1"/>
              </a:buClr>
              <a:buSzPts val="1000"/>
              <a:buChar char="●"/>
            </a:pPr>
            <a:r>
              <a:rPr lang="en-US" sz="1000">
                <a:latin typeface="Montserrat"/>
                <a:ea typeface="Montserrat"/>
                <a:cs typeface="Montserrat"/>
                <a:sym typeface="Montserrat"/>
              </a:rPr>
              <a:t>Jamie &amp; Rachel will tackle the introducing the new Regulatory Statement topic with the business and target Diagnexia, USA first</a:t>
            </a:r>
            <a:endParaRPr sz="1000">
              <a:latin typeface="Montserrat"/>
              <a:ea typeface="Montserrat"/>
              <a:cs typeface="Montserrat"/>
              <a:sym typeface="Montserrat"/>
            </a:endParaRPr>
          </a:p>
          <a:p>
            <a:pPr indent="-292100" lvl="0" marL="457200" rtl="0" algn="l">
              <a:lnSpc>
                <a:spcPct val="150000"/>
              </a:lnSpc>
              <a:spcBef>
                <a:spcPts val="0"/>
              </a:spcBef>
              <a:spcAft>
                <a:spcPts val="0"/>
              </a:spcAft>
              <a:buClr>
                <a:schemeClr val="dk1"/>
              </a:buClr>
              <a:buSzPts val="1000"/>
              <a:buFont typeface="Montserrat"/>
              <a:buChar char="●"/>
            </a:pPr>
            <a:r>
              <a:rPr lang="en-US" sz="1000">
                <a:latin typeface="Montserrat"/>
                <a:ea typeface="Montserrat"/>
                <a:cs typeface="Montserrat"/>
                <a:sym typeface="Montserrat"/>
              </a:rPr>
              <a:t>R.A.l will follow up with the other countries</a:t>
            </a:r>
            <a:endParaRPr sz="1000">
              <a:latin typeface="Montserrat"/>
              <a:ea typeface="Montserrat"/>
              <a:cs typeface="Montserrat"/>
              <a:sym typeface="Montserrat"/>
            </a:endParaRPr>
          </a:p>
          <a:p>
            <a:pPr indent="0" lvl="0" marL="0" rtl="0" algn="l">
              <a:lnSpc>
                <a:spcPct val="150000"/>
              </a:lnSpc>
              <a:spcBef>
                <a:spcPts val="600"/>
              </a:spcBef>
              <a:spcAft>
                <a:spcPts val="0"/>
              </a:spcAft>
              <a:buNone/>
            </a:pPr>
            <a:r>
              <a:rPr b="1" lang="en-US" sz="1000">
                <a:latin typeface="Montserrat"/>
                <a:ea typeface="Montserrat"/>
                <a:cs typeface="Montserrat"/>
                <a:sym typeface="Montserrat"/>
              </a:rPr>
              <a:t>Armaan: </a:t>
            </a:r>
            <a:r>
              <a:rPr lang="en-US" u="sng">
                <a:latin typeface="Montserrat"/>
                <a:ea typeface="Montserrat"/>
                <a:cs typeface="Montserrat"/>
                <a:sym typeface="Montserrat"/>
              </a:rPr>
              <a:t>Preventative Quality Focus: </a:t>
            </a:r>
            <a:endParaRPr b="1">
              <a:latin typeface="Montserrat"/>
              <a:ea typeface="Montserrat"/>
              <a:cs typeface="Montserrat"/>
              <a:sym typeface="Montserrat"/>
            </a:endParaRPr>
          </a:p>
          <a:p>
            <a:pPr indent="-292100" lvl="0" marL="457200" rtl="0" algn="l">
              <a:lnSpc>
                <a:spcPct val="115000"/>
              </a:lnSpc>
              <a:spcBef>
                <a:spcPts val="600"/>
              </a:spcBef>
              <a:spcAft>
                <a:spcPts val="0"/>
              </a:spcAft>
              <a:buClr>
                <a:schemeClr val="dk1"/>
              </a:buClr>
              <a:buSzPts val="1000"/>
              <a:buChar char="●"/>
            </a:pPr>
            <a:r>
              <a:rPr lang="en-US" sz="1000">
                <a:latin typeface="Montserrat"/>
                <a:ea typeface="Montserrat"/>
                <a:cs typeface="Montserrat"/>
                <a:sym typeface="Montserrat"/>
              </a:rPr>
              <a:t>Focus on collaboration with Global on a harmonized </a:t>
            </a:r>
            <a:r>
              <a:rPr b="1" lang="en-US" sz="1000" u="sng">
                <a:latin typeface="Montserrat"/>
                <a:ea typeface="Montserrat"/>
                <a:cs typeface="Montserrat"/>
                <a:sym typeface="Montserrat"/>
              </a:rPr>
              <a:t>Global Validation Policy</a:t>
            </a:r>
            <a:endParaRPr b="1" sz="1000" u="sng">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Char char="●"/>
            </a:pPr>
            <a:r>
              <a:rPr lang="en-US" sz="1000">
                <a:latin typeface="Montserrat"/>
                <a:ea typeface="Montserrat"/>
                <a:cs typeface="Montserrat"/>
                <a:sym typeface="Montserrat"/>
              </a:rPr>
              <a:t>Tackle the update to </a:t>
            </a:r>
            <a:r>
              <a:rPr b="1" lang="en-US" sz="1000" u="sng">
                <a:latin typeface="Montserrat"/>
                <a:ea typeface="Montserrat"/>
                <a:cs typeface="Montserrat"/>
                <a:sym typeface="Montserrat"/>
              </a:rPr>
              <a:t>Global Equipment validation</a:t>
            </a:r>
            <a:r>
              <a:rPr lang="en-US" sz="1000">
                <a:latin typeface="Montserrat"/>
                <a:ea typeface="Montserrat"/>
                <a:cs typeface="Montserrat"/>
                <a:sym typeface="Montserrat"/>
              </a:rPr>
              <a:t> procedure updates</a:t>
            </a:r>
            <a:endParaRPr sz="1000">
              <a:latin typeface="Montserrat"/>
              <a:ea typeface="Montserrat"/>
              <a:cs typeface="Montserrat"/>
              <a:sym typeface="Montserrat"/>
            </a:endParaRPr>
          </a:p>
          <a:p>
            <a:pPr indent="-292100" lvl="0" marL="457200" rtl="0" algn="l">
              <a:lnSpc>
                <a:spcPct val="115000"/>
              </a:lnSpc>
              <a:spcBef>
                <a:spcPts val="0"/>
              </a:spcBef>
              <a:spcAft>
                <a:spcPts val="0"/>
              </a:spcAft>
              <a:buClr>
                <a:schemeClr val="dk1"/>
              </a:buClr>
              <a:buSzPts val="1000"/>
              <a:buFont typeface="Montserrat"/>
              <a:buChar char="●"/>
            </a:pPr>
            <a:r>
              <a:rPr lang="en-US" sz="1000">
                <a:latin typeface="Montserrat"/>
                <a:ea typeface="Montserrat"/>
                <a:cs typeface="Montserrat"/>
                <a:sym typeface="Montserrat"/>
              </a:rPr>
              <a:t>Both Jamie &amp; Armaan will focus on “</a:t>
            </a:r>
            <a:r>
              <a:rPr b="1" lang="en-US" sz="1000" u="sng">
                <a:latin typeface="Montserrat"/>
                <a:ea typeface="Montserrat"/>
                <a:cs typeface="Montserrat"/>
                <a:sym typeface="Montserrat"/>
              </a:rPr>
              <a:t>Document retention</a:t>
            </a:r>
            <a:r>
              <a:rPr lang="en-US" sz="1000">
                <a:latin typeface="Montserrat"/>
                <a:ea typeface="Montserrat"/>
                <a:cs typeface="Montserrat"/>
                <a:sym typeface="Montserrat"/>
              </a:rPr>
              <a:t>” that meets all regions</a:t>
            </a:r>
            <a:endParaRPr sz="1000">
              <a:latin typeface="Montserrat"/>
              <a:ea typeface="Montserrat"/>
              <a:cs typeface="Montserrat"/>
              <a:sym typeface="Montserrat"/>
            </a:endParaRPr>
          </a:p>
          <a:p>
            <a:pPr indent="0" lvl="0" marL="0" rtl="0" algn="l">
              <a:lnSpc>
                <a:spcPct val="110000"/>
              </a:lnSpc>
              <a:spcBef>
                <a:spcPts val="600"/>
              </a:spcBef>
              <a:spcAft>
                <a:spcPts val="0"/>
              </a:spcAft>
              <a:buNone/>
            </a:pPr>
            <a:r>
              <a:t/>
            </a:r>
            <a:endParaRPr i="1" sz="1000">
              <a:solidFill>
                <a:srgbClr val="666666"/>
              </a:solidFill>
              <a:latin typeface="Montserrat"/>
              <a:ea typeface="Montserrat"/>
              <a:cs typeface="Montserrat"/>
              <a:sym typeface="Montserrat"/>
            </a:endParaRPr>
          </a:p>
          <a:p>
            <a:pPr indent="0" lvl="0" marL="0" rtl="0" algn="l">
              <a:lnSpc>
                <a:spcPct val="110000"/>
              </a:lnSpc>
              <a:spcBef>
                <a:spcPts val="600"/>
              </a:spcBef>
              <a:spcAft>
                <a:spcPts val="0"/>
              </a:spcAft>
              <a:buNone/>
            </a:pPr>
            <a:r>
              <a:t/>
            </a:r>
            <a:endParaRPr sz="1000">
              <a:latin typeface="Montserrat"/>
              <a:ea typeface="Montserrat"/>
              <a:cs typeface="Montserrat"/>
              <a:sym typeface="Montserrat"/>
            </a:endParaRPr>
          </a:p>
          <a:p>
            <a:pPr indent="0" lvl="0" marL="0" rtl="0" algn="l">
              <a:lnSpc>
                <a:spcPct val="150000"/>
              </a:lnSpc>
              <a:spcBef>
                <a:spcPts val="600"/>
              </a:spcBef>
              <a:spcAft>
                <a:spcPts val="600"/>
              </a:spcAft>
              <a:buNone/>
            </a:pPr>
            <a:r>
              <a:t/>
            </a:r>
            <a:endParaRPr sz="1000">
              <a:latin typeface="Montserrat"/>
              <a:ea typeface="Montserrat"/>
              <a:cs typeface="Montserrat"/>
              <a:sym typeface="Montserrat"/>
            </a:endParaRPr>
          </a:p>
        </p:txBody>
      </p:sp>
      <p:sp>
        <p:nvSpPr>
          <p:cNvPr id="757" name="Google Shape;757;g3ad2f1291c8_0_152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3a4303fca3a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3a4303fca3a_0_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3" name="Google Shape;823;g3a4303fca3a_0_6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ad2f1291c8_0_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60" name="Google Shape;860;g3ad2f1291c8_0_3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1" name="Google Shape;861;g3ad2f1291c8_0_32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ad2f1291c8_0_3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3ad2f1291c8_0_3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0" name="Google Shape;880;g3ad2f1291c8_0_3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ad2f1291c8_0_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ad2f1291c8_0_3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g3ad2f1291c8_0_3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ad2f1291c8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3ad2f1291c8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g3ad2f1291c8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g3996b901944_0_2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28" name="Google Shape;1028;g3996b901944_0_2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9" name="Google Shape;1029;g3996b901944_0_2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a9452b1fe7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62" name="Google Shape;1062;g3a9452b1fe7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3" name="Google Shape;1063;g3a9452b1fe7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99ca6dc8f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91" name="Google Shape;1091;g399ca6dc8f3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US" sz="2800">
                <a:latin typeface="Montserrat"/>
                <a:ea typeface="Montserrat"/>
                <a:cs typeface="Montserrat"/>
                <a:sym typeface="Montserrat"/>
              </a:rPr>
              <a:t>CAPA-107823- </a:t>
            </a:r>
            <a:r>
              <a:rPr b="1" i="1" lang="en-US" sz="2800">
                <a:latin typeface="Montserrat"/>
                <a:ea typeface="Montserrat"/>
                <a:cs typeface="Montserrat"/>
                <a:sym typeface="Montserrat"/>
              </a:rPr>
              <a:t>summary</a:t>
            </a:r>
            <a:endParaRPr b="1" i="1" sz="2800">
              <a:latin typeface="Montserrat"/>
              <a:ea typeface="Montserrat"/>
              <a:cs typeface="Montserrat"/>
              <a:sym typeface="Montserrat"/>
            </a:endParaRPr>
          </a:p>
          <a:p>
            <a:pPr indent="0" lvl="0" marL="0" rtl="0" algn="l">
              <a:lnSpc>
                <a:spcPct val="110000"/>
              </a:lnSpc>
              <a:spcBef>
                <a:spcPts val="0"/>
              </a:spcBef>
              <a:spcAft>
                <a:spcPts val="600"/>
              </a:spcAft>
              <a:buClr>
                <a:schemeClr val="dk1"/>
              </a:buClr>
              <a:buSzPts val="1100"/>
              <a:buFont typeface="Arial"/>
              <a:buNone/>
            </a:pPr>
            <a:r>
              <a:rPr lang="en-US" sz="1600" u="sng">
                <a:solidFill>
                  <a:srgbClr val="0000FF"/>
                </a:solidFill>
                <a:latin typeface="Montserrat"/>
                <a:ea typeface="Montserrat"/>
                <a:cs typeface="Montserrat"/>
                <a:sym typeface="Montserrat"/>
                <a:hlinkClick r:id="rId2">
                  <a:extLst>
                    <a:ext uri="{A12FA001-AC4F-418D-AE19-62706E023703}">
                      <ahyp:hlinkClr val="tx"/>
                    </a:ext>
                  </a:extLst>
                </a:hlinkClick>
              </a:rPr>
              <a:t>Gap Analysis</a:t>
            </a:r>
            <a:r>
              <a:rPr lang="en-US" sz="1600">
                <a:solidFill>
                  <a:srgbClr val="0000FF"/>
                </a:solidFill>
                <a:latin typeface="Montserrat"/>
                <a:ea typeface="Montserrat"/>
                <a:cs typeface="Montserrat"/>
                <a:sym typeface="Montserrat"/>
              </a:rPr>
              <a:t> - 03Dec</a:t>
            </a:r>
            <a:endParaRPr b="1" i="1" sz="2800">
              <a:latin typeface="Montserrat"/>
              <a:ea typeface="Montserrat"/>
              <a:cs typeface="Montserrat"/>
              <a:sym typeface="Montserrat"/>
            </a:endParaRPr>
          </a:p>
        </p:txBody>
      </p:sp>
      <p:sp>
        <p:nvSpPr>
          <p:cNvPr id="1092" name="Google Shape;1092;g399ca6dc8f3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aa220c893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9" name="Google Shape;1149;g3aa220c893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b="1" lang="en-US" sz="2800">
                <a:latin typeface="Montserrat"/>
                <a:ea typeface="Montserrat"/>
                <a:cs typeface="Montserrat"/>
                <a:sym typeface="Montserrat"/>
              </a:rPr>
              <a:t>CAPA-107823 - </a:t>
            </a:r>
            <a:r>
              <a:rPr i="1" lang="en-US" sz="2000" u="sng">
                <a:solidFill>
                  <a:srgbClr val="1155CC"/>
                </a:solidFill>
                <a:latin typeface="Montserrat"/>
                <a:ea typeface="Montserrat"/>
                <a:cs typeface="Montserrat"/>
                <a:sym typeface="Montserrat"/>
                <a:hlinkClick r:id="rId2">
                  <a:extLst>
                    <a:ext uri="{A12FA001-AC4F-418D-AE19-62706E023703}">
                      <ahyp:hlinkClr val="tx"/>
                    </a:ext>
                  </a:extLst>
                </a:hlinkClick>
              </a:rPr>
              <a:t>CAI-107827</a:t>
            </a:r>
            <a:endParaRPr/>
          </a:p>
          <a:p>
            <a:pPr indent="-317500" lvl="0" marL="457200" rtl="0" algn="l">
              <a:lnSpc>
                <a:spcPct val="110000"/>
              </a:lnSpc>
              <a:spcBef>
                <a:spcPts val="0"/>
              </a:spcBef>
              <a:spcAft>
                <a:spcPts val="600"/>
              </a:spcAft>
              <a:buSzPts val="1400"/>
              <a:buChar char="-"/>
            </a:pPr>
            <a:r>
              <a:rPr lang="en-US" sz="1600" u="sng">
                <a:solidFill>
                  <a:srgbClr val="0000FF"/>
                </a:solidFill>
                <a:latin typeface="Montserrat"/>
                <a:ea typeface="Montserrat"/>
                <a:cs typeface="Montserrat"/>
                <a:sym typeface="Montserrat"/>
                <a:hlinkClick r:id="rId3">
                  <a:extLst>
                    <a:ext uri="{A12FA001-AC4F-418D-AE19-62706E023703}">
                      <ahyp:hlinkClr val="tx"/>
                    </a:ext>
                  </a:extLst>
                </a:hlinkClick>
              </a:rPr>
              <a:t>Gap Analysis</a:t>
            </a:r>
            <a:r>
              <a:rPr lang="en-US" sz="1600">
                <a:solidFill>
                  <a:srgbClr val="0000FF"/>
                </a:solidFill>
                <a:latin typeface="Montserrat"/>
                <a:ea typeface="Montserrat"/>
                <a:cs typeface="Montserrat"/>
                <a:sym typeface="Montserrat"/>
              </a:rPr>
              <a:t> - 03Dec</a:t>
            </a:r>
            <a:endParaRPr/>
          </a:p>
        </p:txBody>
      </p:sp>
      <p:sp>
        <p:nvSpPr>
          <p:cNvPr id="1150" name="Google Shape;1150;g3aa220c893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 Id="rId3"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jpg"/><Relationship Id="rId3"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showMasterSp="0">
  <p:cSld name="Title 1">
    <p:bg>
      <p:bgPr>
        <a:solidFill>
          <a:schemeClr val="accent2"/>
        </a:solidFill>
      </p:bgPr>
    </p:bg>
    <p:spTree>
      <p:nvGrpSpPr>
        <p:cNvPr id="13" name="Shape 13"/>
        <p:cNvGrpSpPr/>
        <p:nvPr/>
      </p:nvGrpSpPr>
      <p:grpSpPr>
        <a:xfrm>
          <a:off x="0" y="0"/>
          <a:ext cx="0" cy="0"/>
          <a:chOff x="0" y="0"/>
          <a:chExt cx="0" cy="0"/>
        </a:xfrm>
      </p:grpSpPr>
      <p:pic>
        <p:nvPicPr>
          <p:cNvPr descr="A purple light in the dark&#10;&#10;Description automatically generated" id="14" name="Google Shape;14;p2"/>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5" name="Google Shape;15;p2"/>
          <p:cNvSpPr/>
          <p:nvPr/>
        </p:nvSpPr>
        <p:spPr>
          <a:xfrm>
            <a:off x="680117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pic>
        <p:nvPicPr>
          <p:cNvPr descr="A purple dot on a black background&#10;&#10;Description automatically generated" id="16" name="Google Shape;16;p2"/>
          <p:cNvPicPr preferRelativeResize="0"/>
          <p:nvPr/>
        </p:nvPicPr>
        <p:blipFill rotWithShape="1">
          <a:blip r:embed="rId3">
            <a:alphaModFix/>
          </a:blip>
          <a:srcRect b="0" l="0" r="0" t="0"/>
          <a:stretch/>
        </p:blipFill>
        <p:spPr>
          <a:xfrm>
            <a:off x="5621482" y="544797"/>
            <a:ext cx="5982967" cy="5768405"/>
          </a:xfrm>
          <a:prstGeom prst="rect">
            <a:avLst/>
          </a:prstGeom>
          <a:noFill/>
          <a:ln>
            <a:noFill/>
          </a:ln>
        </p:spPr>
      </p:pic>
      <p:sp>
        <p:nvSpPr>
          <p:cNvPr id="17" name="Google Shape;17;p2"/>
          <p:cNvSpPr txBox="1"/>
          <p:nvPr>
            <p:ph type="title"/>
          </p:nvPr>
        </p:nvSpPr>
        <p:spPr>
          <a:xfrm>
            <a:off x="593725" y="1714500"/>
            <a:ext cx="5327650" cy="342423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593725" y="5486400"/>
            <a:ext cx="5327650" cy="639764"/>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9" name="Google Shape;19;p2"/>
          <p:cNvPicPr preferRelativeResize="0"/>
          <p:nvPr/>
        </p:nvPicPr>
        <p:blipFill rotWithShape="1">
          <a:blip r:embed="rId4">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howMasterSp="0">
  <p:cSld name="Divider">
    <p:bg>
      <p:bgPr>
        <a:solidFill>
          <a:schemeClr val="dk1"/>
        </a:solidFill>
      </p:bgPr>
    </p:bg>
    <p:spTree>
      <p:nvGrpSpPr>
        <p:cNvPr id="20" name="Shape 20"/>
        <p:cNvGrpSpPr/>
        <p:nvPr/>
      </p:nvGrpSpPr>
      <p:grpSpPr>
        <a:xfrm>
          <a:off x="0" y="0"/>
          <a:ext cx="0" cy="0"/>
          <a:chOff x="0" y="0"/>
          <a:chExt cx="0" cy="0"/>
        </a:xfrm>
      </p:grpSpPr>
      <p:sp>
        <p:nvSpPr>
          <p:cNvPr id="21" name="Google Shape;21;p3"/>
          <p:cNvSpPr/>
          <p:nvPr/>
        </p:nvSpPr>
        <p:spPr>
          <a:xfrm>
            <a:off x="4982045" y="1925541"/>
            <a:ext cx="1092600" cy="919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22" name="Google Shape;22;p3"/>
          <p:cNvSpPr/>
          <p:nvPr/>
        </p:nvSpPr>
        <p:spPr>
          <a:xfrm>
            <a:off x="9552905" y="1925541"/>
            <a:ext cx="2639096" cy="9194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sp>
        <p:nvSpPr>
          <p:cNvPr id="23" name="Google Shape;23;p3"/>
          <p:cNvSpPr/>
          <p:nvPr/>
        </p:nvSpPr>
        <p:spPr>
          <a:xfrm>
            <a:off x="4982045" y="1925541"/>
            <a:ext cx="7209955" cy="91948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pic>
        <p:nvPicPr>
          <p:cNvPr id="24" name="Google Shape;24;p3"/>
          <p:cNvPicPr preferRelativeResize="0"/>
          <p:nvPr/>
        </p:nvPicPr>
        <p:blipFill rotWithShape="1">
          <a:blip r:embed="rId2">
            <a:alphaModFix/>
          </a:blip>
          <a:srcRect b="0" l="0" r="7902" t="0"/>
          <a:stretch/>
        </p:blipFill>
        <p:spPr>
          <a:xfrm>
            <a:off x="3084525" y="63500"/>
            <a:ext cx="9107476" cy="4533900"/>
          </a:xfrm>
          <a:prstGeom prst="rect">
            <a:avLst/>
          </a:prstGeom>
          <a:noFill/>
          <a:ln>
            <a:noFill/>
          </a:ln>
        </p:spPr>
      </p:pic>
      <p:sp>
        <p:nvSpPr>
          <p:cNvPr id="25" name="Google Shape;25;p3"/>
          <p:cNvSpPr/>
          <p:nvPr/>
        </p:nvSpPr>
        <p:spPr>
          <a:xfrm rot="5400000">
            <a:off x="2329646" y="1522934"/>
            <a:ext cx="2875059" cy="3680272"/>
          </a:xfrm>
          <a:prstGeom prst="rect">
            <a:avLst/>
          </a:prstGeom>
          <a:gradFill>
            <a:gsLst>
              <a:gs pos="0">
                <a:srgbClr val="000000">
                  <a:alpha val="0"/>
                </a:srgbClr>
              </a:gs>
              <a:gs pos="51000">
                <a:schemeClr val="dk1"/>
              </a:gs>
              <a:gs pos="100000">
                <a:srgbClr val="000000">
                  <a:alpha val="65882"/>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sp>
        <p:nvSpPr>
          <p:cNvPr id="26" name="Google Shape;26;p3"/>
          <p:cNvSpPr txBox="1"/>
          <p:nvPr>
            <p:ph type="title"/>
          </p:nvPr>
        </p:nvSpPr>
        <p:spPr>
          <a:xfrm>
            <a:off x="610244" y="3509963"/>
            <a:ext cx="10986444" cy="2616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7" name="Google Shape;27;p3"/>
          <p:cNvCxnSpPr/>
          <p:nvPr/>
        </p:nvCxnSpPr>
        <p:spPr>
          <a:xfrm>
            <a:off x="605395" y="3072407"/>
            <a:ext cx="11586605" cy="0"/>
          </a:xfrm>
          <a:prstGeom prst="straightConnector1">
            <a:avLst/>
          </a:prstGeom>
          <a:noFill/>
          <a:ln cap="flat" cmpd="sng" w="88900">
            <a:solidFill>
              <a:schemeClr val="lt1"/>
            </a:solidFill>
            <a:prstDash val="solid"/>
            <a:miter lim="800000"/>
            <a:headEnd len="sm" w="sm" type="none"/>
            <a:tailEnd len="sm" w="sm" type="none"/>
          </a:ln>
        </p:spPr>
      </p:cxnSp>
      <p:grpSp>
        <p:nvGrpSpPr>
          <p:cNvPr id="28" name="Google Shape;28;p3"/>
          <p:cNvGrpSpPr/>
          <p:nvPr/>
        </p:nvGrpSpPr>
        <p:grpSpPr>
          <a:xfrm>
            <a:off x="605395" y="1925541"/>
            <a:ext cx="4376650" cy="919485"/>
            <a:chOff x="595312" y="547688"/>
            <a:chExt cx="4376650" cy="919485"/>
          </a:xfrm>
        </p:grpSpPr>
        <p:sp>
          <p:nvSpPr>
            <p:cNvPr id="29" name="Google Shape;29;p3"/>
            <p:cNvSpPr/>
            <p:nvPr/>
          </p:nvSpPr>
          <p:spPr>
            <a:xfrm>
              <a:off x="843375" y="772319"/>
              <a:ext cx="425237" cy="470222"/>
            </a:xfrm>
            <a:custGeom>
              <a:rect b="b" l="l" r="r" t="t"/>
              <a:pathLst>
                <a:path extrusionOk="0" h="470222" w="425237">
                  <a:moveTo>
                    <a:pt x="0" y="0"/>
                  </a:moveTo>
                  <a:lnTo>
                    <a:pt x="0" y="470223"/>
                  </a:lnTo>
                  <a:lnTo>
                    <a:pt x="175295" y="470223"/>
                  </a:lnTo>
                  <a:cubicBezTo>
                    <a:pt x="247866" y="470223"/>
                    <a:pt x="308077" y="447582"/>
                    <a:pt x="356029" y="402398"/>
                  </a:cubicBezTo>
                  <a:cubicBezTo>
                    <a:pt x="402102" y="358105"/>
                    <a:pt x="425237" y="302343"/>
                    <a:pt x="425237" y="235111"/>
                  </a:cubicBezTo>
                  <a:lnTo>
                    <a:pt x="425237" y="233727"/>
                  </a:lnTo>
                  <a:cubicBezTo>
                    <a:pt x="425237" y="166990"/>
                    <a:pt x="402201" y="111525"/>
                    <a:pt x="356029" y="67132"/>
                  </a:cubicBezTo>
                  <a:cubicBezTo>
                    <a:pt x="308571" y="22344"/>
                    <a:pt x="248360" y="0"/>
                    <a:pt x="175295" y="0"/>
                  </a:cubicBezTo>
                  <a:lnTo>
                    <a:pt x="0" y="0"/>
                  </a:lnTo>
                  <a:close/>
                  <a:moveTo>
                    <a:pt x="338529" y="235111"/>
                  </a:moveTo>
                  <a:lnTo>
                    <a:pt x="338529" y="236496"/>
                  </a:lnTo>
                  <a:cubicBezTo>
                    <a:pt x="338529" y="283063"/>
                    <a:pt x="323797" y="320930"/>
                    <a:pt x="294235" y="349998"/>
                  </a:cubicBezTo>
                  <a:cubicBezTo>
                    <a:pt x="264278" y="379955"/>
                    <a:pt x="224631" y="394983"/>
                    <a:pt x="175295" y="394983"/>
                  </a:cubicBezTo>
                  <a:lnTo>
                    <a:pt x="82556" y="394983"/>
                  </a:lnTo>
                  <a:lnTo>
                    <a:pt x="82556" y="75240"/>
                  </a:lnTo>
                  <a:lnTo>
                    <a:pt x="175295" y="75240"/>
                  </a:lnTo>
                  <a:cubicBezTo>
                    <a:pt x="224137" y="75240"/>
                    <a:pt x="263685" y="90465"/>
                    <a:pt x="294235" y="120917"/>
                  </a:cubicBezTo>
                  <a:cubicBezTo>
                    <a:pt x="323797" y="150479"/>
                    <a:pt x="338529" y="188544"/>
                    <a:pt x="338529" y="2351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0" name="Google Shape;30;p3"/>
            <p:cNvSpPr/>
            <p:nvPr/>
          </p:nvSpPr>
          <p:spPr>
            <a:xfrm>
              <a:off x="1373413" y="772319"/>
              <a:ext cx="82654" cy="470222"/>
            </a:xfrm>
            <a:custGeom>
              <a:rect b="b" l="l" r="r" t="t"/>
              <a:pathLst>
                <a:path extrusionOk="0" h="470222" w="82654">
                  <a:moveTo>
                    <a:pt x="0" y="0"/>
                  </a:moveTo>
                  <a:lnTo>
                    <a:pt x="82655" y="0"/>
                  </a:lnTo>
                  <a:lnTo>
                    <a:pt x="82655" y="470223"/>
                  </a:lnTo>
                  <a:lnTo>
                    <a:pt x="0" y="47022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1" name="Google Shape;31;p3"/>
            <p:cNvSpPr/>
            <p:nvPr/>
          </p:nvSpPr>
          <p:spPr>
            <a:xfrm>
              <a:off x="1531802" y="768957"/>
              <a:ext cx="490392" cy="473584"/>
            </a:xfrm>
            <a:custGeom>
              <a:rect b="b" l="l" r="r" t="t"/>
              <a:pathLst>
                <a:path extrusionOk="0" h="473584" w="490392">
                  <a:moveTo>
                    <a:pt x="99" y="473584"/>
                  </a:moveTo>
                  <a:lnTo>
                    <a:pt x="84731" y="473584"/>
                  </a:lnTo>
                  <a:lnTo>
                    <a:pt x="133078" y="360082"/>
                  </a:lnTo>
                  <a:lnTo>
                    <a:pt x="355435" y="360082"/>
                  </a:lnTo>
                  <a:lnTo>
                    <a:pt x="403090" y="473584"/>
                  </a:lnTo>
                  <a:lnTo>
                    <a:pt x="490392" y="473584"/>
                  </a:lnTo>
                  <a:lnTo>
                    <a:pt x="283458" y="0"/>
                  </a:lnTo>
                  <a:lnTo>
                    <a:pt x="206934" y="0"/>
                  </a:lnTo>
                  <a:lnTo>
                    <a:pt x="0" y="473584"/>
                  </a:lnTo>
                  <a:close/>
                  <a:moveTo>
                    <a:pt x="325181" y="286128"/>
                  </a:moveTo>
                  <a:lnTo>
                    <a:pt x="163332" y="286128"/>
                  </a:lnTo>
                  <a:lnTo>
                    <a:pt x="243911" y="98078"/>
                  </a:lnTo>
                  <a:lnTo>
                    <a:pt x="325181" y="2861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2" name="Google Shape;32;p3"/>
            <p:cNvSpPr/>
            <p:nvPr/>
          </p:nvSpPr>
          <p:spPr>
            <a:xfrm>
              <a:off x="2052547" y="764310"/>
              <a:ext cx="440067" cy="486338"/>
            </a:xfrm>
            <a:custGeom>
              <a:rect b="b" l="l" r="r" t="t"/>
              <a:pathLst>
                <a:path extrusionOk="0" h="486338" w="440067">
                  <a:moveTo>
                    <a:pt x="130211" y="124872"/>
                  </a:moveTo>
                  <a:cubicBezTo>
                    <a:pt x="159773" y="92146"/>
                    <a:pt x="196058" y="75833"/>
                    <a:pt x="239066" y="75833"/>
                  </a:cubicBezTo>
                  <a:cubicBezTo>
                    <a:pt x="287413" y="75833"/>
                    <a:pt x="331311" y="92641"/>
                    <a:pt x="370760" y="126256"/>
                  </a:cubicBezTo>
                  <a:lnTo>
                    <a:pt x="423161" y="63771"/>
                  </a:lnTo>
                  <a:cubicBezTo>
                    <a:pt x="372540" y="21257"/>
                    <a:pt x="312328" y="0"/>
                    <a:pt x="242428" y="0"/>
                  </a:cubicBezTo>
                  <a:cubicBezTo>
                    <a:pt x="172527" y="0"/>
                    <a:pt x="114392" y="23926"/>
                    <a:pt x="67824" y="71878"/>
                  </a:cubicBezTo>
                  <a:cubicBezTo>
                    <a:pt x="22542" y="119335"/>
                    <a:pt x="0" y="176482"/>
                    <a:pt x="0" y="243120"/>
                  </a:cubicBezTo>
                  <a:lnTo>
                    <a:pt x="0" y="244504"/>
                  </a:lnTo>
                  <a:cubicBezTo>
                    <a:pt x="0" y="313910"/>
                    <a:pt x="22147" y="371254"/>
                    <a:pt x="66539" y="416438"/>
                  </a:cubicBezTo>
                  <a:cubicBezTo>
                    <a:pt x="112217" y="463005"/>
                    <a:pt x="171341" y="486338"/>
                    <a:pt x="243911" y="486338"/>
                  </a:cubicBezTo>
                  <a:cubicBezTo>
                    <a:pt x="316481" y="486338"/>
                    <a:pt x="383218" y="461918"/>
                    <a:pt x="440068" y="413076"/>
                  </a:cubicBezTo>
                  <a:lnTo>
                    <a:pt x="440068" y="215634"/>
                  </a:lnTo>
                  <a:lnTo>
                    <a:pt x="239857" y="215634"/>
                  </a:lnTo>
                  <a:lnTo>
                    <a:pt x="239857" y="287512"/>
                  </a:lnTo>
                  <a:lnTo>
                    <a:pt x="360082" y="287512"/>
                  </a:lnTo>
                  <a:lnTo>
                    <a:pt x="360082" y="375506"/>
                  </a:lnTo>
                  <a:cubicBezTo>
                    <a:pt x="328246" y="399234"/>
                    <a:pt x="290478" y="411099"/>
                    <a:pt x="246580" y="411099"/>
                  </a:cubicBezTo>
                  <a:cubicBezTo>
                    <a:pt x="199518" y="411099"/>
                    <a:pt x="160861" y="395181"/>
                    <a:pt x="130409" y="363444"/>
                  </a:cubicBezTo>
                  <a:cubicBezTo>
                    <a:pt x="101341" y="331608"/>
                    <a:pt x="86708" y="291566"/>
                    <a:pt x="86708" y="243219"/>
                  </a:cubicBezTo>
                  <a:lnTo>
                    <a:pt x="86708" y="241834"/>
                  </a:lnTo>
                  <a:cubicBezTo>
                    <a:pt x="86708" y="196651"/>
                    <a:pt x="101242" y="157697"/>
                    <a:pt x="130409" y="1249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3" name="Google Shape;33;p3"/>
            <p:cNvSpPr/>
            <p:nvPr/>
          </p:nvSpPr>
          <p:spPr>
            <a:xfrm>
              <a:off x="2599888" y="772319"/>
              <a:ext cx="409813" cy="470222"/>
            </a:xfrm>
            <a:custGeom>
              <a:rect b="b" l="l" r="r" t="t"/>
              <a:pathLst>
                <a:path extrusionOk="0" h="470222" w="409813">
                  <a:moveTo>
                    <a:pt x="76624" y="0"/>
                  </a:moveTo>
                  <a:lnTo>
                    <a:pt x="0" y="0"/>
                  </a:lnTo>
                  <a:lnTo>
                    <a:pt x="0" y="470223"/>
                  </a:lnTo>
                  <a:lnTo>
                    <a:pt x="81271" y="470223"/>
                  </a:lnTo>
                  <a:lnTo>
                    <a:pt x="81271" y="135649"/>
                  </a:lnTo>
                  <a:lnTo>
                    <a:pt x="340605" y="470223"/>
                  </a:lnTo>
                  <a:lnTo>
                    <a:pt x="409814" y="470223"/>
                  </a:lnTo>
                  <a:lnTo>
                    <a:pt x="409814" y="0"/>
                  </a:lnTo>
                  <a:lnTo>
                    <a:pt x="328444" y="0"/>
                  </a:lnTo>
                  <a:lnTo>
                    <a:pt x="328444" y="325082"/>
                  </a:lnTo>
                  <a:lnTo>
                    <a:pt x="7662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4" name="Google Shape;34;p3"/>
            <p:cNvSpPr/>
            <p:nvPr/>
          </p:nvSpPr>
          <p:spPr>
            <a:xfrm>
              <a:off x="3130520" y="772319"/>
              <a:ext cx="351974" cy="470222"/>
            </a:xfrm>
            <a:custGeom>
              <a:rect b="b" l="l" r="r" t="t"/>
              <a:pathLst>
                <a:path extrusionOk="0" h="470222" w="351974">
                  <a:moveTo>
                    <a:pt x="348712" y="73855"/>
                  </a:moveTo>
                  <a:lnTo>
                    <a:pt x="348712" y="0"/>
                  </a:lnTo>
                  <a:lnTo>
                    <a:pt x="0" y="0"/>
                  </a:lnTo>
                  <a:lnTo>
                    <a:pt x="0" y="470223"/>
                  </a:lnTo>
                  <a:lnTo>
                    <a:pt x="351975" y="470223"/>
                  </a:lnTo>
                  <a:lnTo>
                    <a:pt x="351975" y="396367"/>
                  </a:lnTo>
                  <a:lnTo>
                    <a:pt x="82655" y="396367"/>
                  </a:lnTo>
                  <a:lnTo>
                    <a:pt x="82655" y="270012"/>
                  </a:lnTo>
                  <a:lnTo>
                    <a:pt x="318458" y="270012"/>
                  </a:lnTo>
                  <a:lnTo>
                    <a:pt x="318458" y="196157"/>
                  </a:lnTo>
                  <a:lnTo>
                    <a:pt x="82655" y="196157"/>
                  </a:lnTo>
                  <a:lnTo>
                    <a:pt x="82655" y="73855"/>
                  </a:lnTo>
                  <a:lnTo>
                    <a:pt x="348712" y="7385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5" name="Google Shape;35;p3"/>
            <p:cNvSpPr/>
            <p:nvPr/>
          </p:nvSpPr>
          <p:spPr>
            <a:xfrm>
              <a:off x="4075019" y="772319"/>
              <a:ext cx="82654" cy="470222"/>
            </a:xfrm>
            <a:custGeom>
              <a:rect b="b" l="l" r="r" t="t"/>
              <a:pathLst>
                <a:path extrusionOk="0" h="470222" w="82654">
                  <a:moveTo>
                    <a:pt x="0" y="0"/>
                  </a:moveTo>
                  <a:lnTo>
                    <a:pt x="82655" y="0"/>
                  </a:lnTo>
                  <a:lnTo>
                    <a:pt x="82655" y="470223"/>
                  </a:lnTo>
                  <a:lnTo>
                    <a:pt x="0" y="47022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6" name="Google Shape;36;p3"/>
            <p:cNvSpPr/>
            <p:nvPr/>
          </p:nvSpPr>
          <p:spPr>
            <a:xfrm>
              <a:off x="4233309" y="768957"/>
              <a:ext cx="490491" cy="473584"/>
            </a:xfrm>
            <a:custGeom>
              <a:rect b="b" l="l" r="r" t="t"/>
              <a:pathLst>
                <a:path extrusionOk="0" h="473584" w="490491">
                  <a:moveTo>
                    <a:pt x="355534" y="360082"/>
                  </a:moveTo>
                  <a:lnTo>
                    <a:pt x="403189" y="473584"/>
                  </a:lnTo>
                  <a:lnTo>
                    <a:pt x="490491" y="473584"/>
                  </a:lnTo>
                  <a:lnTo>
                    <a:pt x="283558" y="0"/>
                  </a:lnTo>
                  <a:lnTo>
                    <a:pt x="206934" y="0"/>
                  </a:lnTo>
                  <a:lnTo>
                    <a:pt x="0" y="473584"/>
                  </a:lnTo>
                  <a:lnTo>
                    <a:pt x="84632" y="473584"/>
                  </a:lnTo>
                  <a:lnTo>
                    <a:pt x="132979" y="360082"/>
                  </a:lnTo>
                  <a:lnTo>
                    <a:pt x="355337" y="360082"/>
                  </a:lnTo>
                  <a:close/>
                  <a:moveTo>
                    <a:pt x="244010" y="98078"/>
                  </a:moveTo>
                  <a:lnTo>
                    <a:pt x="325280" y="286128"/>
                  </a:lnTo>
                  <a:lnTo>
                    <a:pt x="163431" y="286128"/>
                  </a:lnTo>
                  <a:lnTo>
                    <a:pt x="244010" y="980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37" name="Google Shape;37;p3"/>
            <p:cNvSpPr/>
            <p:nvPr/>
          </p:nvSpPr>
          <p:spPr>
            <a:xfrm>
              <a:off x="595312" y="547688"/>
              <a:ext cx="4376650" cy="919485"/>
            </a:xfrm>
            <a:custGeom>
              <a:rect b="b" l="l" r="r" t="t"/>
              <a:pathLst>
                <a:path extrusionOk="0" h="919485" w="4376650">
                  <a:moveTo>
                    <a:pt x="3047451" y="0"/>
                  </a:moveTo>
                  <a:lnTo>
                    <a:pt x="3095798" y="69209"/>
                  </a:lnTo>
                  <a:lnTo>
                    <a:pt x="4307442" y="69209"/>
                  </a:lnTo>
                  <a:lnTo>
                    <a:pt x="4307442" y="850276"/>
                  </a:lnTo>
                  <a:lnTo>
                    <a:pt x="3493055" y="848991"/>
                  </a:lnTo>
                  <a:lnTo>
                    <a:pt x="3219088" y="454404"/>
                  </a:lnTo>
                  <a:lnTo>
                    <a:pt x="3382914" y="224631"/>
                  </a:lnTo>
                  <a:lnTo>
                    <a:pt x="3288197" y="224631"/>
                  </a:lnTo>
                  <a:lnTo>
                    <a:pt x="3170741" y="395280"/>
                  </a:lnTo>
                  <a:lnTo>
                    <a:pt x="2946307" y="69209"/>
                  </a:lnTo>
                  <a:lnTo>
                    <a:pt x="2947098" y="69209"/>
                  </a:lnTo>
                  <a:lnTo>
                    <a:pt x="2898751" y="0"/>
                  </a:lnTo>
                  <a:lnTo>
                    <a:pt x="0" y="0"/>
                  </a:lnTo>
                  <a:lnTo>
                    <a:pt x="0" y="919485"/>
                  </a:lnTo>
                  <a:lnTo>
                    <a:pt x="3305104" y="919485"/>
                  </a:lnTo>
                  <a:lnTo>
                    <a:pt x="3256757" y="850276"/>
                  </a:lnTo>
                  <a:lnTo>
                    <a:pt x="69209" y="850276"/>
                  </a:lnTo>
                  <a:lnTo>
                    <a:pt x="69209" y="69209"/>
                  </a:lnTo>
                  <a:lnTo>
                    <a:pt x="2864839" y="69209"/>
                  </a:lnTo>
                  <a:lnTo>
                    <a:pt x="3119625" y="455689"/>
                  </a:lnTo>
                  <a:lnTo>
                    <a:pt x="2949669" y="694854"/>
                  </a:lnTo>
                  <a:lnTo>
                    <a:pt x="3044386" y="694854"/>
                  </a:lnTo>
                  <a:lnTo>
                    <a:pt x="3167973" y="515505"/>
                  </a:lnTo>
                  <a:lnTo>
                    <a:pt x="3405951" y="848793"/>
                  </a:lnTo>
                  <a:lnTo>
                    <a:pt x="3405951" y="848793"/>
                  </a:lnTo>
                  <a:lnTo>
                    <a:pt x="3453903" y="919485"/>
                  </a:lnTo>
                  <a:lnTo>
                    <a:pt x="4376651" y="919485"/>
                  </a:lnTo>
                  <a:lnTo>
                    <a:pt x="4376651" y="0"/>
                  </a:lnTo>
                  <a:lnTo>
                    <a:pt x="304745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 Divider">
  <p:cSld name="Time Divider">
    <p:spTree>
      <p:nvGrpSpPr>
        <p:cNvPr id="38" name="Shape 38"/>
        <p:cNvGrpSpPr/>
        <p:nvPr/>
      </p:nvGrpSpPr>
      <p:grpSpPr>
        <a:xfrm>
          <a:off x="0" y="0"/>
          <a:ext cx="0" cy="0"/>
          <a:chOff x="0" y="0"/>
          <a:chExt cx="0" cy="0"/>
        </a:xfrm>
      </p:grpSpPr>
      <p:sp>
        <p:nvSpPr>
          <p:cNvPr id="39" name="Google Shape;39;p4"/>
          <p:cNvSpPr/>
          <p:nvPr/>
        </p:nvSpPr>
        <p:spPr>
          <a:xfrm>
            <a:off x="593723" y="871671"/>
            <a:ext cx="8372407" cy="4981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Nunito"/>
              <a:ea typeface="Nunito"/>
              <a:cs typeface="Nunito"/>
              <a:sym typeface="Nunito"/>
            </a:endParaRPr>
          </a:p>
        </p:txBody>
      </p:sp>
      <p:sp>
        <p:nvSpPr>
          <p:cNvPr id="40" name="Google Shape;40;p4"/>
          <p:cNvSpPr txBox="1"/>
          <p:nvPr>
            <p:ph type="title"/>
          </p:nvPr>
        </p:nvSpPr>
        <p:spPr>
          <a:xfrm>
            <a:off x="1192214" y="1535113"/>
            <a:ext cx="3774908" cy="3603625"/>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4400"/>
              <a:buFont typeface="Montserrat"/>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41" name="Google Shape;41;p4"/>
          <p:cNvGrpSpPr/>
          <p:nvPr/>
        </p:nvGrpSpPr>
        <p:grpSpPr>
          <a:xfrm>
            <a:off x="5331542" y="0"/>
            <a:ext cx="6860459" cy="7309836"/>
            <a:chOff x="3964292" y="408271"/>
            <a:chExt cx="4734402" cy="5044517"/>
          </a:xfrm>
        </p:grpSpPr>
        <p:sp>
          <p:nvSpPr>
            <p:cNvPr id="42" name="Google Shape;42;p4"/>
            <p:cNvSpPr/>
            <p:nvPr/>
          </p:nvSpPr>
          <p:spPr>
            <a:xfrm flipH="1" rot="5400000">
              <a:off x="5583797" y="2616741"/>
              <a:ext cx="2863891" cy="2184642"/>
            </a:xfrm>
            <a:custGeom>
              <a:rect b="b" l="l" r="r" t="t"/>
              <a:pathLst>
                <a:path extrusionOk="0" h="2912856" w="3818521">
                  <a:moveTo>
                    <a:pt x="3485330" y="2039699"/>
                  </a:moveTo>
                  <a:lnTo>
                    <a:pt x="0" y="2039699"/>
                  </a:lnTo>
                  <a:lnTo>
                    <a:pt x="0" y="2912856"/>
                  </a:lnTo>
                  <a:lnTo>
                    <a:pt x="651570" y="2905430"/>
                  </a:lnTo>
                  <a:lnTo>
                    <a:pt x="651570" y="2691268"/>
                  </a:lnTo>
                  <a:lnTo>
                    <a:pt x="2258362" y="2691268"/>
                  </a:lnTo>
                  <a:close/>
                  <a:moveTo>
                    <a:pt x="3818521" y="734718"/>
                  </a:moveTo>
                  <a:lnTo>
                    <a:pt x="3751197" y="0"/>
                  </a:lnTo>
                  <a:lnTo>
                    <a:pt x="2824985" y="623693"/>
                  </a:lnTo>
                  <a:lnTo>
                    <a:pt x="2824985" y="2003001"/>
                  </a:lnTo>
                  <a:lnTo>
                    <a:pt x="2824987" y="2003000"/>
                  </a:lnTo>
                  <a:lnTo>
                    <a:pt x="2824987" y="2009865"/>
                  </a:lnTo>
                  <a:lnTo>
                    <a:pt x="2824987" y="2039698"/>
                  </a:lnTo>
                  <a:lnTo>
                    <a:pt x="3485333" y="2039698"/>
                  </a:lnTo>
                  <a:lnTo>
                    <a:pt x="3485333" y="2009865"/>
                  </a:lnTo>
                  <a:lnTo>
                    <a:pt x="3485333" y="1645890"/>
                  </a:lnTo>
                  <a:lnTo>
                    <a:pt x="3487362" y="1644793"/>
                  </a:lnTo>
                  <a:lnTo>
                    <a:pt x="3487362" y="955137"/>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pic>
          <p:nvPicPr>
            <p:cNvPr descr="A close up of a sand dune&#10;&#10;Description automatically generated" id="43" name="Google Shape;43;p4"/>
            <p:cNvPicPr preferRelativeResize="0"/>
            <p:nvPr/>
          </p:nvPicPr>
          <p:blipFill rotWithShape="1">
            <a:blip r:embed="rId2">
              <a:alphaModFix/>
            </a:blip>
            <a:srcRect b="0" l="30839" r="42777" t="0"/>
            <a:stretch/>
          </p:blipFill>
          <p:spPr>
            <a:xfrm>
              <a:off x="6125641" y="2372711"/>
              <a:ext cx="1155941" cy="638176"/>
            </a:xfrm>
            <a:prstGeom prst="rect">
              <a:avLst/>
            </a:prstGeom>
            <a:noFill/>
            <a:ln>
              <a:noFill/>
            </a:ln>
          </p:spPr>
        </p:pic>
        <p:pic>
          <p:nvPicPr>
            <p:cNvPr descr="A close up of a sand dune&#10;&#10;Description automatically generated" id="44" name="Google Shape;44;p4"/>
            <p:cNvPicPr preferRelativeResize="0"/>
            <p:nvPr/>
          </p:nvPicPr>
          <p:blipFill rotWithShape="1">
            <a:blip r:embed="rId2">
              <a:alphaModFix/>
            </a:blip>
            <a:srcRect b="0" l="26288" r="36586" t="0"/>
            <a:stretch/>
          </p:blipFill>
          <p:spPr>
            <a:xfrm>
              <a:off x="6246004" y="2082974"/>
              <a:ext cx="1626538" cy="638176"/>
            </a:xfrm>
            <a:prstGeom prst="rect">
              <a:avLst/>
            </a:prstGeom>
            <a:noFill/>
            <a:ln>
              <a:noFill/>
            </a:ln>
          </p:spPr>
        </p:pic>
        <p:pic>
          <p:nvPicPr>
            <p:cNvPr descr="A pile of white powder&#10;&#10;Description automatically generated" id="45" name="Google Shape;45;p4"/>
            <p:cNvPicPr preferRelativeResize="0"/>
            <p:nvPr/>
          </p:nvPicPr>
          <p:blipFill rotWithShape="1">
            <a:blip r:embed="rId3">
              <a:alphaModFix/>
            </a:blip>
            <a:srcRect b="17405" l="27123" r="27119" t="6715"/>
            <a:stretch/>
          </p:blipFill>
          <p:spPr>
            <a:xfrm>
              <a:off x="4307133" y="2770789"/>
              <a:ext cx="2032037" cy="2249059"/>
            </a:xfrm>
            <a:prstGeom prst="rect">
              <a:avLst/>
            </a:prstGeom>
            <a:noFill/>
            <a:ln>
              <a:noFill/>
            </a:ln>
          </p:spPr>
        </p:pic>
        <p:sp>
          <p:nvSpPr>
            <p:cNvPr id="46" name="Google Shape;46;p4"/>
            <p:cNvSpPr/>
            <p:nvPr/>
          </p:nvSpPr>
          <p:spPr>
            <a:xfrm>
              <a:off x="6084713" y="408271"/>
              <a:ext cx="2613981" cy="2613983"/>
            </a:xfrm>
            <a:custGeom>
              <a:rect b="b" l="l" r="r" t="t"/>
              <a:pathLst>
                <a:path extrusionOk="0" h="1558261" w="1558260">
                  <a:moveTo>
                    <a:pt x="0" y="1558261"/>
                  </a:moveTo>
                  <a:lnTo>
                    <a:pt x="0" y="0"/>
                  </a:lnTo>
                  <a:lnTo>
                    <a:pt x="1558261" y="0"/>
                  </a:lnTo>
                  <a:lnTo>
                    <a:pt x="1558261" y="621280"/>
                  </a:lnTo>
                  <a:lnTo>
                    <a:pt x="927317" y="1558261"/>
                  </a:lnTo>
                  <a:lnTo>
                    <a:pt x="310640" y="1558261"/>
                  </a:lnTo>
                  <a:lnTo>
                    <a:pt x="470792" y="1262118"/>
                  </a:lnTo>
                  <a:lnTo>
                    <a:pt x="779131" y="1262118"/>
                  </a:lnTo>
                  <a:lnTo>
                    <a:pt x="1257286" y="543735"/>
                  </a:lnTo>
                  <a:lnTo>
                    <a:pt x="1257286" y="291311"/>
                  </a:lnTo>
                  <a:lnTo>
                    <a:pt x="291311" y="291311"/>
                  </a:lnTo>
                  <a:lnTo>
                    <a:pt x="291311" y="1009694"/>
                  </a:lnTo>
                  <a:lnTo>
                    <a:pt x="0" y="1558261"/>
                  </a:ln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p:txBody>
        </p:sp>
        <p:sp>
          <p:nvSpPr>
            <p:cNvPr id="47" name="Google Shape;47;p4"/>
            <p:cNvSpPr/>
            <p:nvPr/>
          </p:nvSpPr>
          <p:spPr>
            <a:xfrm rot="-5400000">
              <a:off x="3964293" y="2529042"/>
              <a:ext cx="2614459" cy="2614457"/>
            </a:xfrm>
            <a:custGeom>
              <a:rect b="b" l="l" r="r" t="t"/>
              <a:pathLst>
                <a:path extrusionOk="0" h="3149948" w="3149950">
                  <a:moveTo>
                    <a:pt x="3149950" y="2085369"/>
                  </a:moveTo>
                  <a:lnTo>
                    <a:pt x="3149950" y="2555172"/>
                  </a:lnTo>
                  <a:lnTo>
                    <a:pt x="2553147" y="2555172"/>
                  </a:lnTo>
                  <a:lnTo>
                    <a:pt x="2553147" y="2199259"/>
                  </a:lnTo>
                  <a:lnTo>
                    <a:pt x="2551309" y="2198265"/>
                  </a:lnTo>
                  <a:lnTo>
                    <a:pt x="2551310" y="1574973"/>
                  </a:lnTo>
                  <a:lnTo>
                    <a:pt x="1099134" y="608406"/>
                  </a:lnTo>
                  <a:lnTo>
                    <a:pt x="588871" y="608406"/>
                  </a:lnTo>
                  <a:lnTo>
                    <a:pt x="588871" y="2561077"/>
                  </a:lnTo>
                  <a:lnTo>
                    <a:pt x="2041047" y="2561077"/>
                  </a:lnTo>
                  <a:lnTo>
                    <a:pt x="3149948" y="3149948"/>
                  </a:lnTo>
                  <a:lnTo>
                    <a:pt x="0" y="3149948"/>
                  </a:lnTo>
                  <a:lnTo>
                    <a:pt x="0" y="0"/>
                  </a:lnTo>
                  <a:lnTo>
                    <a:pt x="1255887" y="0"/>
                  </a:lnTo>
                  <a:lnTo>
                    <a:pt x="3149948" y="1275422"/>
                  </a:lnTo>
                  <a:lnTo>
                    <a:pt x="3149948" y="2085369"/>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nvGrpSpPr>
            <p:cNvPr id="48" name="Google Shape;48;p4"/>
            <p:cNvGrpSpPr/>
            <p:nvPr/>
          </p:nvGrpSpPr>
          <p:grpSpPr>
            <a:xfrm flipH="1">
              <a:off x="6577910" y="2527234"/>
              <a:ext cx="495287" cy="495202"/>
              <a:chOff x="7535934" y="3096835"/>
              <a:chExt cx="596801" cy="596701"/>
            </a:xfrm>
          </p:grpSpPr>
          <p:sp>
            <p:nvSpPr>
              <p:cNvPr id="49" name="Google Shape;49;p4"/>
              <p:cNvSpPr/>
              <p:nvPr/>
            </p:nvSpPr>
            <p:spPr>
              <a:xfrm rot="-5400000">
                <a:off x="7522434" y="3110336"/>
                <a:ext cx="596700" cy="569700"/>
              </a:xfrm>
              <a:prstGeom prst="rtTriangle">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sp>
            <p:nvSpPr>
              <p:cNvPr id="50" name="Google Shape;50;p4"/>
              <p:cNvSpPr/>
              <p:nvPr/>
            </p:nvSpPr>
            <p:spPr>
              <a:xfrm rot="-5400000">
                <a:off x="7599485" y="3160285"/>
                <a:ext cx="596700" cy="4698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pic>
          <p:nvPicPr>
            <p:cNvPr descr="A close-up of a cloud of sand&#10;&#10;Description automatically generated" id="51" name="Google Shape;51;p4"/>
            <p:cNvPicPr preferRelativeResize="0"/>
            <p:nvPr/>
          </p:nvPicPr>
          <p:blipFill rotWithShape="1">
            <a:blip r:embed="rId4">
              <a:alphaModFix/>
            </a:blip>
            <a:srcRect b="0" l="0" r="1941" t="0"/>
            <a:stretch/>
          </p:blipFill>
          <p:spPr>
            <a:xfrm flipH="1" rot="-3908686">
              <a:off x="4303643" y="2656560"/>
              <a:ext cx="3164910" cy="1915547"/>
            </a:xfrm>
            <a:custGeom>
              <a:rect b="b" l="l" r="r" t="t"/>
              <a:pathLst>
                <a:path extrusionOk="0" h="2556051" w="4223166">
                  <a:moveTo>
                    <a:pt x="0" y="0"/>
                  </a:moveTo>
                  <a:lnTo>
                    <a:pt x="0" y="2556050"/>
                  </a:lnTo>
                  <a:lnTo>
                    <a:pt x="3036095" y="2556051"/>
                  </a:lnTo>
                  <a:lnTo>
                    <a:pt x="4223166" y="0"/>
                  </a:lnTo>
                  <a:close/>
                </a:path>
              </a:pathLst>
            </a:custGeom>
            <a:noFill/>
            <a:ln>
              <a:noFill/>
            </a:ln>
          </p:spPr>
        </p:pic>
        <p:sp>
          <p:nvSpPr>
            <p:cNvPr id="52" name="Google Shape;52;p4"/>
            <p:cNvSpPr/>
            <p:nvPr/>
          </p:nvSpPr>
          <p:spPr>
            <a:xfrm rot="-5400000">
              <a:off x="5578353" y="2538068"/>
              <a:ext cx="495300" cy="473100"/>
            </a:xfrm>
            <a:prstGeom prst="rtTriangle">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sp>
          <p:nvSpPr>
            <p:cNvPr id="53" name="Google Shape;53;p4"/>
            <p:cNvSpPr/>
            <p:nvPr/>
          </p:nvSpPr>
          <p:spPr>
            <a:xfrm>
              <a:off x="6084713" y="1740525"/>
              <a:ext cx="488677" cy="1281743"/>
            </a:xfrm>
            <a:custGeom>
              <a:rect b="b" l="l" r="r" t="t"/>
              <a:pathLst>
                <a:path extrusionOk="0" h="1708991" w="651569">
                  <a:moveTo>
                    <a:pt x="651569" y="0"/>
                  </a:moveTo>
                  <a:lnTo>
                    <a:pt x="651569" y="482023"/>
                  </a:lnTo>
                  <a:lnTo>
                    <a:pt x="0" y="1708991"/>
                  </a:lnTo>
                  <a:lnTo>
                    <a:pt x="0" y="56525"/>
                  </a:ln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p:txBody>
        </p:sp>
        <p:sp>
          <p:nvSpPr>
            <p:cNvPr id="54" name="Google Shape;54;p4"/>
            <p:cNvSpPr/>
            <p:nvPr/>
          </p:nvSpPr>
          <p:spPr>
            <a:xfrm rot="-5400000">
              <a:off x="3717459" y="2775874"/>
              <a:ext cx="2614459" cy="2120793"/>
            </a:xfrm>
            <a:custGeom>
              <a:rect b="b" l="l" r="r" t="t"/>
              <a:pathLst>
                <a:path extrusionOk="0" h="2555172" w="3149950">
                  <a:moveTo>
                    <a:pt x="3149950" y="2085369"/>
                  </a:moveTo>
                  <a:lnTo>
                    <a:pt x="3149950" y="2555172"/>
                  </a:lnTo>
                  <a:lnTo>
                    <a:pt x="2553147" y="2555172"/>
                  </a:lnTo>
                  <a:cubicBezTo>
                    <a:pt x="2552535" y="2228439"/>
                    <a:pt x="2551922" y="1901706"/>
                    <a:pt x="2551310" y="1574973"/>
                  </a:cubicBezTo>
                  <a:lnTo>
                    <a:pt x="1099134" y="608406"/>
                  </a:lnTo>
                  <a:lnTo>
                    <a:pt x="588871" y="608406"/>
                  </a:lnTo>
                  <a:lnTo>
                    <a:pt x="588871" y="2006421"/>
                  </a:lnTo>
                  <a:lnTo>
                    <a:pt x="0" y="1826257"/>
                  </a:lnTo>
                  <a:lnTo>
                    <a:pt x="0" y="0"/>
                  </a:lnTo>
                  <a:lnTo>
                    <a:pt x="1255887" y="0"/>
                  </a:lnTo>
                  <a:lnTo>
                    <a:pt x="3149948" y="1275422"/>
                  </a:lnTo>
                  <a:lnTo>
                    <a:pt x="3149948" y="2085369"/>
                  </a:lnTo>
                  <a:lnTo>
                    <a:pt x="3149950" y="2085369"/>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showMasterSp="0">
  <p:cSld name="Divider 2">
    <p:bg>
      <p:bgPr>
        <a:solidFill>
          <a:schemeClr val="accent2"/>
        </a:solidFill>
      </p:bgPr>
    </p:bg>
    <p:spTree>
      <p:nvGrpSpPr>
        <p:cNvPr id="55" name="Shape 55"/>
        <p:cNvGrpSpPr/>
        <p:nvPr/>
      </p:nvGrpSpPr>
      <p:grpSpPr>
        <a:xfrm>
          <a:off x="0" y="0"/>
          <a:ext cx="0" cy="0"/>
          <a:chOff x="0" y="0"/>
          <a:chExt cx="0" cy="0"/>
        </a:xfrm>
      </p:grpSpPr>
      <p:sp>
        <p:nvSpPr>
          <p:cNvPr id="56" name="Google Shape;56;p5"/>
          <p:cNvSpPr/>
          <p:nvPr/>
        </p:nvSpPr>
        <p:spPr>
          <a:xfrm>
            <a:off x="0" y="0"/>
            <a:ext cx="12192000" cy="6858000"/>
          </a:xfrm>
          <a:custGeom>
            <a:rect b="b" l="l" r="r" t="t"/>
            <a:pathLst>
              <a:path extrusionOk="0" h="6858000" w="12192000">
                <a:moveTo>
                  <a:pt x="7330012" y="0"/>
                </a:moveTo>
                <a:lnTo>
                  <a:pt x="12192000" y="0"/>
                </a:lnTo>
                <a:lnTo>
                  <a:pt x="12192000" y="6858000"/>
                </a:lnTo>
                <a:lnTo>
                  <a:pt x="12170298" y="6858000"/>
                </a:lnTo>
                <a:lnTo>
                  <a:pt x="9741590" y="3359992"/>
                </a:lnTo>
                <a:lnTo>
                  <a:pt x="11859108" y="390101"/>
                </a:lnTo>
                <a:lnTo>
                  <a:pt x="10634857" y="390101"/>
                </a:lnTo>
                <a:lnTo>
                  <a:pt x="9116686" y="2595795"/>
                </a:lnTo>
                <a:close/>
                <a:moveTo>
                  <a:pt x="0" y="0"/>
                </a:moveTo>
                <a:lnTo>
                  <a:pt x="6229984" y="0"/>
                </a:lnTo>
                <a:lnTo>
                  <a:pt x="8456002" y="3376605"/>
                </a:lnTo>
                <a:lnTo>
                  <a:pt x="6259253" y="6467898"/>
                </a:lnTo>
                <a:lnTo>
                  <a:pt x="7483506" y="6467898"/>
                </a:lnTo>
                <a:lnTo>
                  <a:pt x="9080905" y="4149748"/>
                </a:lnTo>
                <a:lnTo>
                  <a:pt x="11014679" y="6858000"/>
                </a:lnTo>
                <a:lnTo>
                  <a:pt x="0"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descr="A collage of people's faces&#10;&#10;Description automatically generated" id="57" name="Google Shape;57;p5"/>
          <p:cNvPicPr preferRelativeResize="0"/>
          <p:nvPr/>
        </p:nvPicPr>
        <p:blipFill rotWithShape="1">
          <a:blip r:embed="rId2">
            <a:alphaModFix amt="9000"/>
          </a:blip>
          <a:srcRect b="0" l="5437" r="5436" t="0"/>
          <a:stretch/>
        </p:blipFill>
        <p:spPr>
          <a:xfrm>
            <a:off x="0" y="0"/>
            <a:ext cx="12192000" cy="6858000"/>
          </a:xfrm>
          <a:prstGeom prst="rect">
            <a:avLst/>
          </a:prstGeom>
          <a:noFill/>
          <a:ln>
            <a:noFill/>
          </a:ln>
        </p:spPr>
      </p:pic>
      <p:sp>
        <p:nvSpPr>
          <p:cNvPr id="58" name="Google Shape;58;p5"/>
          <p:cNvSpPr txBox="1"/>
          <p:nvPr>
            <p:ph type="title"/>
          </p:nvPr>
        </p:nvSpPr>
        <p:spPr>
          <a:xfrm>
            <a:off x="593725" y="1714500"/>
            <a:ext cx="5327650" cy="342423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5"/>
          <p:cNvSpPr txBox="1"/>
          <p:nvPr>
            <p:ph idx="1" type="body"/>
          </p:nvPr>
        </p:nvSpPr>
        <p:spPr>
          <a:xfrm>
            <a:off x="593725" y="5486400"/>
            <a:ext cx="5327650" cy="639764"/>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0" name="Google Shape;60;p5"/>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showMasterSp="0">
  <p:cSld name="Divider 3">
    <p:bg>
      <p:bgPr>
        <a:solidFill>
          <a:schemeClr val="accent1"/>
        </a:solidFill>
      </p:bgPr>
    </p:bg>
    <p:spTree>
      <p:nvGrpSpPr>
        <p:cNvPr id="61" name="Shape 61"/>
        <p:cNvGrpSpPr/>
        <p:nvPr/>
      </p:nvGrpSpPr>
      <p:grpSpPr>
        <a:xfrm>
          <a:off x="0" y="0"/>
          <a:ext cx="0" cy="0"/>
          <a:chOff x="0" y="0"/>
          <a:chExt cx="0" cy="0"/>
        </a:xfrm>
      </p:grpSpPr>
      <p:sp>
        <p:nvSpPr>
          <p:cNvPr id="62" name="Google Shape;62;p6"/>
          <p:cNvSpPr/>
          <p:nvPr/>
        </p:nvSpPr>
        <p:spPr>
          <a:xfrm>
            <a:off x="0" y="0"/>
            <a:ext cx="12192000" cy="6858000"/>
          </a:xfrm>
          <a:custGeom>
            <a:rect b="b" l="l" r="r" t="t"/>
            <a:pathLst>
              <a:path extrusionOk="0" h="6858000" w="12192000">
                <a:moveTo>
                  <a:pt x="7330012" y="0"/>
                </a:moveTo>
                <a:lnTo>
                  <a:pt x="12192000" y="0"/>
                </a:lnTo>
                <a:lnTo>
                  <a:pt x="12192000" y="6858000"/>
                </a:lnTo>
                <a:lnTo>
                  <a:pt x="12170298" y="6858000"/>
                </a:lnTo>
                <a:lnTo>
                  <a:pt x="9741590" y="3359992"/>
                </a:lnTo>
                <a:lnTo>
                  <a:pt x="11859108" y="390101"/>
                </a:lnTo>
                <a:lnTo>
                  <a:pt x="10634857" y="390101"/>
                </a:lnTo>
                <a:lnTo>
                  <a:pt x="9116686" y="2595795"/>
                </a:lnTo>
                <a:close/>
                <a:moveTo>
                  <a:pt x="0" y="0"/>
                </a:moveTo>
                <a:lnTo>
                  <a:pt x="6229984" y="0"/>
                </a:lnTo>
                <a:lnTo>
                  <a:pt x="8456002" y="3376605"/>
                </a:lnTo>
                <a:lnTo>
                  <a:pt x="6259253" y="6467898"/>
                </a:lnTo>
                <a:lnTo>
                  <a:pt x="7483506" y="6467898"/>
                </a:lnTo>
                <a:lnTo>
                  <a:pt x="9080905" y="4149748"/>
                </a:lnTo>
                <a:lnTo>
                  <a:pt x="11014679" y="6858000"/>
                </a:lnTo>
                <a:lnTo>
                  <a:pt x="0" y="685800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descr="A collage of people's faces&#10;&#10;Description automatically generated" id="63" name="Google Shape;63;p6"/>
          <p:cNvPicPr preferRelativeResize="0"/>
          <p:nvPr/>
        </p:nvPicPr>
        <p:blipFill rotWithShape="1">
          <a:blip r:embed="rId2">
            <a:alphaModFix amt="9000"/>
          </a:blip>
          <a:srcRect b="0" l="5437" r="5436" t="0"/>
          <a:stretch/>
        </p:blipFill>
        <p:spPr>
          <a:xfrm>
            <a:off x="0" y="0"/>
            <a:ext cx="12192000" cy="6858000"/>
          </a:xfrm>
          <a:prstGeom prst="rect">
            <a:avLst/>
          </a:prstGeom>
          <a:noFill/>
          <a:ln>
            <a:noFill/>
          </a:ln>
        </p:spPr>
      </p:pic>
      <p:sp>
        <p:nvSpPr>
          <p:cNvPr id="64" name="Google Shape;64;p6"/>
          <p:cNvSpPr txBox="1"/>
          <p:nvPr>
            <p:ph type="title"/>
          </p:nvPr>
        </p:nvSpPr>
        <p:spPr>
          <a:xfrm>
            <a:off x="593725" y="1714500"/>
            <a:ext cx="5327650" cy="342423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
          <p:cNvSpPr txBox="1"/>
          <p:nvPr>
            <p:ph idx="1" type="body"/>
          </p:nvPr>
        </p:nvSpPr>
        <p:spPr>
          <a:xfrm>
            <a:off x="593725" y="5486400"/>
            <a:ext cx="5327650" cy="639764"/>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6" name="Google Shape;66;p6"/>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ext blocks">
  <p:cSld name="2 text blocks">
    <p:spTree>
      <p:nvGrpSpPr>
        <p:cNvPr id="67" name="Shape 67"/>
        <p:cNvGrpSpPr/>
        <p:nvPr/>
      </p:nvGrpSpPr>
      <p:grpSpPr>
        <a:xfrm>
          <a:off x="0" y="0"/>
          <a:ext cx="0" cy="0"/>
          <a:chOff x="0" y="0"/>
          <a:chExt cx="0" cy="0"/>
        </a:xfrm>
      </p:grpSpPr>
      <p:sp>
        <p:nvSpPr>
          <p:cNvPr id="68" name="Google Shape;68;p7"/>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7"/>
          <p:cNvSpPr txBox="1"/>
          <p:nvPr>
            <p:ph idx="1" type="body"/>
          </p:nvPr>
        </p:nvSpPr>
        <p:spPr>
          <a:xfrm>
            <a:off x="593725" y="2522537"/>
            <a:ext cx="5327650" cy="3603625"/>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7"/>
          <p:cNvSpPr txBox="1"/>
          <p:nvPr>
            <p:ph idx="2" type="body"/>
          </p:nvPr>
        </p:nvSpPr>
        <p:spPr>
          <a:xfrm>
            <a:off x="6270627" y="2522537"/>
            <a:ext cx="5327650" cy="3603625"/>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7"/>
          <p:cNvSpPr txBox="1"/>
          <p:nvPr>
            <p:ph idx="3" type="body"/>
          </p:nvPr>
        </p:nvSpPr>
        <p:spPr>
          <a:xfrm>
            <a:off x="593725" y="2171701"/>
            <a:ext cx="5327650"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7"/>
          <p:cNvSpPr txBox="1"/>
          <p:nvPr>
            <p:ph idx="4" type="body"/>
          </p:nvPr>
        </p:nvSpPr>
        <p:spPr>
          <a:xfrm>
            <a:off x="6270627" y="2171701"/>
            <a:ext cx="5327650"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73" name="Shape 73"/>
        <p:cNvGrpSpPr/>
        <p:nvPr/>
      </p:nvGrpSpPr>
      <p:grpSpPr>
        <a:xfrm>
          <a:off x="0" y="0"/>
          <a:ext cx="0" cy="0"/>
          <a:chOff x="0" y="0"/>
          <a:chExt cx="0" cy="0"/>
        </a:xfrm>
      </p:grpSpPr>
      <p:sp>
        <p:nvSpPr>
          <p:cNvPr id="74" name="Google Shape;74;p8"/>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8"/>
          <p:cNvSpPr txBox="1"/>
          <p:nvPr>
            <p:ph idx="1" type="body"/>
          </p:nvPr>
        </p:nvSpPr>
        <p:spPr>
          <a:xfrm>
            <a:off x="593725" y="1378745"/>
            <a:ext cx="11004552" cy="4747418"/>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icture">
  <p:cSld name="Text + Picture">
    <p:spTree>
      <p:nvGrpSpPr>
        <p:cNvPr id="76" name="Shape 76"/>
        <p:cNvGrpSpPr/>
        <p:nvPr/>
      </p:nvGrpSpPr>
      <p:grpSpPr>
        <a:xfrm>
          <a:off x="0" y="0"/>
          <a:ext cx="0" cy="0"/>
          <a:chOff x="0" y="0"/>
          <a:chExt cx="0" cy="0"/>
        </a:xfrm>
      </p:grpSpPr>
      <p:sp>
        <p:nvSpPr>
          <p:cNvPr id="77" name="Google Shape;77;p9"/>
          <p:cNvSpPr txBox="1"/>
          <p:nvPr>
            <p:ph type="title"/>
          </p:nvPr>
        </p:nvSpPr>
        <p:spPr>
          <a:xfrm>
            <a:off x="593725" y="547688"/>
            <a:ext cx="567531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9"/>
          <p:cNvSpPr txBox="1"/>
          <p:nvPr>
            <p:ph idx="1" type="body"/>
          </p:nvPr>
        </p:nvSpPr>
        <p:spPr>
          <a:xfrm>
            <a:off x="593725" y="1378745"/>
            <a:ext cx="5676133" cy="4747418"/>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9"/>
          <p:cNvSpPr/>
          <p:nvPr>
            <p:ph idx="2" type="pic"/>
          </p:nvPr>
        </p:nvSpPr>
        <p:spPr>
          <a:xfrm>
            <a:off x="6867525" y="0"/>
            <a:ext cx="5324475" cy="68580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Content Right">
  <p:cSld name="Title left Content Right">
    <p:spTree>
      <p:nvGrpSpPr>
        <p:cNvPr id="80" name="Shape 80"/>
        <p:cNvGrpSpPr/>
        <p:nvPr/>
      </p:nvGrpSpPr>
      <p:grpSpPr>
        <a:xfrm>
          <a:off x="0" y="0"/>
          <a:ext cx="0" cy="0"/>
          <a:chOff x="0" y="0"/>
          <a:chExt cx="0" cy="0"/>
        </a:xfrm>
      </p:grpSpPr>
      <p:pic>
        <p:nvPicPr>
          <p:cNvPr descr="A purple light in the dark&#10;&#10;Description automatically generated" id="81" name="Google Shape;81;p10"/>
          <p:cNvPicPr preferRelativeResize="0"/>
          <p:nvPr/>
        </p:nvPicPr>
        <p:blipFill rotWithShape="1">
          <a:blip r:embed="rId2">
            <a:alphaModFix/>
          </a:blip>
          <a:srcRect b="0" l="34164" r="22178" t="0"/>
          <a:stretch/>
        </p:blipFill>
        <p:spPr>
          <a:xfrm>
            <a:off x="0" y="0"/>
            <a:ext cx="5390830" cy="6858000"/>
          </a:xfrm>
          <a:prstGeom prst="rect">
            <a:avLst/>
          </a:prstGeom>
          <a:noFill/>
          <a:ln>
            <a:noFill/>
          </a:ln>
        </p:spPr>
      </p:pic>
      <p:sp>
        <p:nvSpPr>
          <p:cNvPr id="82" name="Google Shape;82;p10"/>
          <p:cNvSpPr/>
          <p:nvPr/>
        </p:nvSpPr>
        <p:spPr>
          <a:xfrm>
            <a:off x="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83" name="Google Shape;83;p10"/>
          <p:cNvSpPr txBox="1"/>
          <p:nvPr>
            <p:ph type="title"/>
          </p:nvPr>
        </p:nvSpPr>
        <p:spPr>
          <a:xfrm>
            <a:off x="593725" y="547688"/>
            <a:ext cx="3783013" cy="2962275"/>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800"/>
              <a:buFont typeface="Montserrat"/>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0"/>
          <p:cNvSpPr txBox="1"/>
          <p:nvPr>
            <p:ph idx="1" type="body"/>
          </p:nvPr>
        </p:nvSpPr>
        <p:spPr>
          <a:xfrm>
            <a:off x="5921375" y="547688"/>
            <a:ext cx="5676902" cy="5578475"/>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10"/>
          <p:cNvSpPr txBox="1"/>
          <p:nvPr>
            <p:ph idx="2" type="body"/>
          </p:nvPr>
        </p:nvSpPr>
        <p:spPr>
          <a:xfrm>
            <a:off x="593725" y="4151313"/>
            <a:ext cx="3783013" cy="1974850"/>
          </a:xfrm>
          <a:prstGeom prst="rect">
            <a:avLst/>
          </a:prstGeom>
          <a:noFill/>
          <a:ln>
            <a:noFill/>
          </a:ln>
        </p:spPr>
        <p:txBody>
          <a:bodyPr anchorCtr="0" anchor="b"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a:solidFill>
                  <a:schemeClr val="lt1"/>
                </a:solidFill>
              </a:defRPr>
            </a:lvl1pPr>
            <a:lvl2pPr indent="-317500" lvl="1" marL="914400" algn="l">
              <a:lnSpc>
                <a:spcPct val="110000"/>
              </a:lnSpc>
              <a:spcBef>
                <a:spcPts val="600"/>
              </a:spcBef>
              <a:spcAft>
                <a:spcPts val="0"/>
              </a:spcAft>
              <a:buClr>
                <a:schemeClr val="lt1"/>
              </a:buClr>
              <a:buSzPts val="1400"/>
              <a:buChar char="•"/>
              <a:defRPr>
                <a:solidFill>
                  <a:schemeClr val="lt1"/>
                </a:solidFill>
              </a:defRPr>
            </a:lvl2pPr>
            <a:lvl3pPr indent="-304800" lvl="2" marL="1371600" algn="l">
              <a:lnSpc>
                <a:spcPct val="110000"/>
              </a:lnSpc>
              <a:spcBef>
                <a:spcPts val="600"/>
              </a:spcBef>
              <a:spcAft>
                <a:spcPts val="0"/>
              </a:spcAft>
              <a:buClr>
                <a:schemeClr val="lt1"/>
              </a:buClr>
              <a:buSzPts val="1200"/>
              <a:buChar char="•"/>
              <a:defRPr>
                <a:solidFill>
                  <a:schemeClr val="lt1"/>
                </a:solidFill>
              </a:defRPr>
            </a:lvl3pPr>
            <a:lvl4pPr indent="-298450" lvl="3" marL="1828800" algn="l">
              <a:lnSpc>
                <a:spcPct val="110000"/>
              </a:lnSpc>
              <a:spcBef>
                <a:spcPts val="600"/>
              </a:spcBef>
              <a:spcAft>
                <a:spcPts val="0"/>
              </a:spcAft>
              <a:buClr>
                <a:schemeClr val="lt1"/>
              </a:buClr>
              <a:buSzPts val="1100"/>
              <a:buChar char="•"/>
              <a:defRPr>
                <a:solidFill>
                  <a:schemeClr val="lt1"/>
                </a:solidFill>
              </a:defRPr>
            </a:lvl4pPr>
            <a:lvl5pPr indent="-298450" lvl="4" marL="2286000" algn="l">
              <a:lnSpc>
                <a:spcPct val="110000"/>
              </a:lnSpc>
              <a:spcBef>
                <a:spcPts val="600"/>
              </a:spcBef>
              <a:spcAft>
                <a:spcPts val="0"/>
              </a:spcAft>
              <a:buClr>
                <a:schemeClr val="lt1"/>
              </a:buClr>
              <a:buSzPts val="1100"/>
              <a:buChar char="•"/>
              <a:defRPr>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86" name="Google Shape;86;p10"/>
          <p:cNvPicPr preferRelativeResize="0"/>
          <p:nvPr/>
        </p:nvPicPr>
        <p:blipFill rotWithShape="1">
          <a:blip r:embed="rId3">
            <a:alphaModFix/>
          </a:blip>
          <a:srcRect b="0" l="0" r="0" t="0"/>
          <a:stretch/>
        </p:blipFill>
        <p:spPr>
          <a:xfrm>
            <a:off x="593725" y="6353610"/>
            <a:ext cx="1337003" cy="2806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ext blocks">
  <p:cSld name="3 text blocks">
    <p:spTree>
      <p:nvGrpSpPr>
        <p:cNvPr id="87" name="Shape 87"/>
        <p:cNvGrpSpPr/>
        <p:nvPr/>
      </p:nvGrpSpPr>
      <p:grpSpPr>
        <a:xfrm>
          <a:off x="0" y="0"/>
          <a:ext cx="0" cy="0"/>
          <a:chOff x="0" y="0"/>
          <a:chExt cx="0" cy="0"/>
        </a:xfrm>
      </p:grpSpPr>
      <p:sp>
        <p:nvSpPr>
          <p:cNvPr id="88" name="Google Shape;88;p11"/>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9" name="Google Shape;89;p11"/>
          <p:cNvCxnSpPr/>
          <p:nvPr/>
        </p:nvCxnSpPr>
        <p:spPr>
          <a:xfrm>
            <a:off x="4204002" y="2174875"/>
            <a:ext cx="0" cy="3951288"/>
          </a:xfrm>
          <a:prstGeom prst="straightConnector1">
            <a:avLst/>
          </a:prstGeom>
          <a:noFill/>
          <a:ln cap="flat" cmpd="sng" w="19050">
            <a:solidFill>
              <a:schemeClr val="accent1"/>
            </a:solidFill>
            <a:prstDash val="solid"/>
            <a:miter lim="800000"/>
            <a:headEnd len="sm" w="sm" type="none"/>
            <a:tailEnd len="sm" w="sm" type="none"/>
          </a:ln>
        </p:spPr>
      </p:cxnSp>
      <p:cxnSp>
        <p:nvCxnSpPr>
          <p:cNvPr id="90" name="Google Shape;90;p11"/>
          <p:cNvCxnSpPr/>
          <p:nvPr/>
        </p:nvCxnSpPr>
        <p:spPr>
          <a:xfrm>
            <a:off x="7986412" y="2174875"/>
            <a:ext cx="0" cy="3951288"/>
          </a:xfrm>
          <a:prstGeom prst="straightConnector1">
            <a:avLst/>
          </a:prstGeom>
          <a:noFill/>
          <a:ln cap="flat" cmpd="sng" w="19050">
            <a:solidFill>
              <a:schemeClr val="accent1"/>
            </a:solidFill>
            <a:prstDash val="solid"/>
            <a:miter lim="800000"/>
            <a:headEnd len="sm" w="sm" type="none"/>
            <a:tailEnd len="sm" w="sm" type="none"/>
          </a:ln>
        </p:spPr>
      </p:cxnSp>
      <p:sp>
        <p:nvSpPr>
          <p:cNvPr id="91" name="Google Shape;91;p11"/>
          <p:cNvSpPr txBox="1"/>
          <p:nvPr>
            <p:ph idx="1" type="body"/>
          </p:nvPr>
        </p:nvSpPr>
        <p:spPr>
          <a:xfrm>
            <a:off x="590931" y="2525711"/>
            <a:ext cx="3438144" cy="3600451"/>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11"/>
          <p:cNvSpPr txBox="1"/>
          <p:nvPr>
            <p:ph idx="2" type="body"/>
          </p:nvPr>
        </p:nvSpPr>
        <p:spPr>
          <a:xfrm>
            <a:off x="590931" y="2174875"/>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1"/>
          <p:cNvSpPr txBox="1"/>
          <p:nvPr>
            <p:ph idx="3" type="body"/>
          </p:nvPr>
        </p:nvSpPr>
        <p:spPr>
          <a:xfrm>
            <a:off x="4375531" y="2525711"/>
            <a:ext cx="3438144" cy="3600451"/>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11"/>
          <p:cNvSpPr txBox="1"/>
          <p:nvPr>
            <p:ph idx="4" type="body"/>
          </p:nvPr>
        </p:nvSpPr>
        <p:spPr>
          <a:xfrm>
            <a:off x="4375531" y="2174875"/>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5" name="Google Shape;95;p11"/>
          <p:cNvSpPr txBox="1"/>
          <p:nvPr>
            <p:ph idx="5" type="body"/>
          </p:nvPr>
        </p:nvSpPr>
        <p:spPr>
          <a:xfrm>
            <a:off x="8161338" y="2525711"/>
            <a:ext cx="3438144" cy="3600451"/>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6" name="Google Shape;96;p11"/>
          <p:cNvSpPr txBox="1"/>
          <p:nvPr>
            <p:ph idx="6" type="body"/>
          </p:nvPr>
        </p:nvSpPr>
        <p:spPr>
          <a:xfrm>
            <a:off x="8161338" y="2174875"/>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3 text blocks">
  <p:cSld name="1_3 text blocks">
    <p:spTree>
      <p:nvGrpSpPr>
        <p:cNvPr id="97" name="Shape 97"/>
        <p:cNvGrpSpPr/>
        <p:nvPr/>
      </p:nvGrpSpPr>
      <p:grpSpPr>
        <a:xfrm>
          <a:off x="0" y="0"/>
          <a:ext cx="0" cy="0"/>
          <a:chOff x="0" y="0"/>
          <a:chExt cx="0" cy="0"/>
        </a:xfrm>
      </p:grpSpPr>
      <p:sp>
        <p:nvSpPr>
          <p:cNvPr id="98" name="Google Shape;98;p12"/>
          <p:cNvSpPr txBox="1"/>
          <p:nvPr>
            <p:ph idx="1" type="body"/>
          </p:nvPr>
        </p:nvSpPr>
        <p:spPr>
          <a:xfrm>
            <a:off x="590931" y="4497388"/>
            <a:ext cx="3438144" cy="1628776"/>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12"/>
          <p:cNvSpPr txBox="1"/>
          <p:nvPr>
            <p:ph idx="2" type="body"/>
          </p:nvPr>
        </p:nvSpPr>
        <p:spPr>
          <a:xfrm>
            <a:off x="590931" y="4146551"/>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2"/>
          <p:cNvSpPr/>
          <p:nvPr>
            <p:ph idx="3" type="pic"/>
          </p:nvPr>
        </p:nvSpPr>
        <p:spPr>
          <a:xfrm>
            <a:off x="593725" y="1535113"/>
            <a:ext cx="3435351" cy="2498725"/>
          </a:xfrm>
          <a:prstGeom prst="rect">
            <a:avLst/>
          </a:prstGeom>
          <a:noFill/>
          <a:ln>
            <a:noFill/>
          </a:ln>
        </p:spPr>
      </p:sp>
      <p:sp>
        <p:nvSpPr>
          <p:cNvPr id="101" name="Google Shape;101;p12"/>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2"/>
          <p:cNvSpPr txBox="1"/>
          <p:nvPr>
            <p:ph idx="4" type="body"/>
          </p:nvPr>
        </p:nvSpPr>
        <p:spPr>
          <a:xfrm>
            <a:off x="4375531" y="4497388"/>
            <a:ext cx="3438144" cy="1628776"/>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12"/>
          <p:cNvSpPr txBox="1"/>
          <p:nvPr>
            <p:ph idx="5" type="body"/>
          </p:nvPr>
        </p:nvSpPr>
        <p:spPr>
          <a:xfrm>
            <a:off x="4375531" y="4146551"/>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4" name="Google Shape;104;p12"/>
          <p:cNvSpPr/>
          <p:nvPr>
            <p:ph idx="6" type="pic"/>
          </p:nvPr>
        </p:nvSpPr>
        <p:spPr>
          <a:xfrm>
            <a:off x="4378325" y="1535113"/>
            <a:ext cx="3435351" cy="2498725"/>
          </a:xfrm>
          <a:prstGeom prst="rect">
            <a:avLst/>
          </a:prstGeom>
          <a:noFill/>
          <a:ln>
            <a:noFill/>
          </a:ln>
        </p:spPr>
      </p:sp>
      <p:sp>
        <p:nvSpPr>
          <p:cNvPr id="105" name="Google Shape;105;p12"/>
          <p:cNvSpPr txBox="1"/>
          <p:nvPr>
            <p:ph idx="7" type="body"/>
          </p:nvPr>
        </p:nvSpPr>
        <p:spPr>
          <a:xfrm>
            <a:off x="8161338" y="4497388"/>
            <a:ext cx="3438144" cy="1628776"/>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12"/>
          <p:cNvSpPr txBox="1"/>
          <p:nvPr>
            <p:ph idx="8" type="body"/>
          </p:nvPr>
        </p:nvSpPr>
        <p:spPr>
          <a:xfrm>
            <a:off x="8161338" y="4146551"/>
            <a:ext cx="3438144" cy="238214"/>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p:nvPr>
            <p:ph idx="9" type="pic"/>
          </p:nvPr>
        </p:nvSpPr>
        <p:spPr>
          <a:xfrm>
            <a:off x="8164132" y="1535113"/>
            <a:ext cx="3435351" cy="2498725"/>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6 Points">
  <p:cSld name="1_6 Points">
    <p:spTree>
      <p:nvGrpSpPr>
        <p:cNvPr id="108" name="Shape 108"/>
        <p:cNvGrpSpPr/>
        <p:nvPr/>
      </p:nvGrpSpPr>
      <p:grpSpPr>
        <a:xfrm>
          <a:off x="0" y="0"/>
          <a:ext cx="0" cy="0"/>
          <a:chOff x="0" y="0"/>
          <a:chExt cx="0" cy="0"/>
        </a:xfrm>
      </p:grpSpPr>
      <p:sp>
        <p:nvSpPr>
          <p:cNvPr id="109" name="Google Shape;109;p13"/>
          <p:cNvSpPr txBox="1"/>
          <p:nvPr>
            <p:ph idx="1" type="body"/>
          </p:nvPr>
        </p:nvSpPr>
        <p:spPr>
          <a:xfrm>
            <a:off x="8085138" y="5053325"/>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13"/>
          <p:cNvSpPr txBox="1"/>
          <p:nvPr>
            <p:ph idx="2" type="body"/>
          </p:nvPr>
        </p:nvSpPr>
        <p:spPr>
          <a:xfrm>
            <a:off x="8740533" y="4410518"/>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1" name="Google Shape;111;p13"/>
          <p:cNvSpPr txBox="1"/>
          <p:nvPr>
            <p:ph idx="3" type="body"/>
          </p:nvPr>
        </p:nvSpPr>
        <p:spPr>
          <a:xfrm>
            <a:off x="4338638" y="5053325"/>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13"/>
          <p:cNvSpPr txBox="1"/>
          <p:nvPr>
            <p:ph idx="4" type="body"/>
          </p:nvPr>
        </p:nvSpPr>
        <p:spPr>
          <a:xfrm>
            <a:off x="4994033" y="4410518"/>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3"/>
          <p:cNvSpPr txBox="1"/>
          <p:nvPr>
            <p:ph idx="5" type="body"/>
          </p:nvPr>
        </p:nvSpPr>
        <p:spPr>
          <a:xfrm>
            <a:off x="592136" y="5053325"/>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3"/>
          <p:cNvSpPr txBox="1"/>
          <p:nvPr>
            <p:ph idx="6" type="body"/>
          </p:nvPr>
        </p:nvSpPr>
        <p:spPr>
          <a:xfrm>
            <a:off x="1247531" y="4410518"/>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3"/>
          <p:cNvSpPr txBox="1"/>
          <p:nvPr>
            <p:ph idx="7" type="body"/>
          </p:nvPr>
        </p:nvSpPr>
        <p:spPr>
          <a:xfrm>
            <a:off x="8085138" y="2652343"/>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13"/>
          <p:cNvSpPr txBox="1"/>
          <p:nvPr>
            <p:ph idx="8" type="body"/>
          </p:nvPr>
        </p:nvSpPr>
        <p:spPr>
          <a:xfrm>
            <a:off x="8740533" y="2009536"/>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13"/>
          <p:cNvSpPr txBox="1"/>
          <p:nvPr>
            <p:ph idx="9" type="body"/>
          </p:nvPr>
        </p:nvSpPr>
        <p:spPr>
          <a:xfrm>
            <a:off x="4338638" y="2652343"/>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3"/>
          <p:cNvSpPr txBox="1"/>
          <p:nvPr>
            <p:ph idx="13" type="body"/>
          </p:nvPr>
        </p:nvSpPr>
        <p:spPr>
          <a:xfrm>
            <a:off x="4994033" y="2009536"/>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3"/>
          <p:cNvSpPr txBox="1"/>
          <p:nvPr>
            <p:ph idx="14" type="body"/>
          </p:nvPr>
        </p:nvSpPr>
        <p:spPr>
          <a:xfrm>
            <a:off x="592136" y="2652343"/>
            <a:ext cx="3513136" cy="1072837"/>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3"/>
          <p:cNvSpPr txBox="1"/>
          <p:nvPr>
            <p:ph idx="15" type="body"/>
          </p:nvPr>
        </p:nvSpPr>
        <p:spPr>
          <a:xfrm>
            <a:off x="1247531" y="2009536"/>
            <a:ext cx="2857742" cy="547796"/>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3"/>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quotes">
  <p:cSld name="3 quotes">
    <p:spTree>
      <p:nvGrpSpPr>
        <p:cNvPr id="122" name="Shape 122"/>
        <p:cNvGrpSpPr/>
        <p:nvPr/>
      </p:nvGrpSpPr>
      <p:grpSpPr>
        <a:xfrm>
          <a:off x="0" y="0"/>
          <a:ext cx="0" cy="0"/>
          <a:chOff x="0" y="0"/>
          <a:chExt cx="0" cy="0"/>
        </a:xfrm>
      </p:grpSpPr>
      <p:sp>
        <p:nvSpPr>
          <p:cNvPr id="123" name="Google Shape;123;p14"/>
          <p:cNvSpPr/>
          <p:nvPr/>
        </p:nvSpPr>
        <p:spPr>
          <a:xfrm rot="5400000">
            <a:off x="7810959" y="2326524"/>
            <a:ext cx="1703387" cy="5871241"/>
          </a:xfrm>
          <a:prstGeom prst="roundRect">
            <a:avLst>
              <a:gd fmla="val 7053" name="adj"/>
            </a:avLst>
          </a:prstGeom>
          <a:gradFill>
            <a:gsLst>
              <a:gs pos="0">
                <a:schemeClr val="lt1"/>
              </a:gs>
              <a:gs pos="2900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24" name="Google Shape;124;p14"/>
          <p:cNvSpPr/>
          <p:nvPr/>
        </p:nvSpPr>
        <p:spPr>
          <a:xfrm rot="5400000">
            <a:off x="7810961" y="395141"/>
            <a:ext cx="1703390" cy="5871241"/>
          </a:xfrm>
          <a:prstGeom prst="roundRect">
            <a:avLst>
              <a:gd fmla="val 7053" name="adj"/>
            </a:avLst>
          </a:prstGeom>
          <a:gradFill>
            <a:gsLst>
              <a:gs pos="0">
                <a:schemeClr val="lt1"/>
              </a:gs>
              <a:gs pos="2900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25" name="Google Shape;125;p14"/>
          <p:cNvSpPr/>
          <p:nvPr/>
        </p:nvSpPr>
        <p:spPr>
          <a:xfrm rot="5400000">
            <a:off x="7810960" y="-1536238"/>
            <a:ext cx="1703387" cy="5871241"/>
          </a:xfrm>
          <a:prstGeom prst="roundRect">
            <a:avLst>
              <a:gd fmla="val 7053" name="adj"/>
            </a:avLst>
          </a:prstGeom>
          <a:gradFill>
            <a:gsLst>
              <a:gs pos="0">
                <a:schemeClr val="lt1"/>
              </a:gs>
              <a:gs pos="2900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26" name="Google Shape;126;p14"/>
          <p:cNvSpPr txBox="1"/>
          <p:nvPr>
            <p:ph idx="1" type="body"/>
          </p:nvPr>
        </p:nvSpPr>
        <p:spPr>
          <a:xfrm>
            <a:off x="593725" y="2251076"/>
            <a:ext cx="4437305" cy="386276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7" name="Google Shape;127;p14"/>
          <p:cNvSpPr/>
          <p:nvPr/>
        </p:nvSpPr>
        <p:spPr>
          <a:xfrm rot="-2700000">
            <a:off x="5408181" y="677274"/>
            <a:ext cx="643422" cy="643422"/>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28" name="Google Shape;128;p14"/>
          <p:cNvSpPr/>
          <p:nvPr/>
        </p:nvSpPr>
        <p:spPr>
          <a:xfrm rot="-2700000">
            <a:off x="5408181" y="2608653"/>
            <a:ext cx="643422" cy="643422"/>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29" name="Google Shape;129;p14"/>
          <p:cNvSpPr/>
          <p:nvPr/>
        </p:nvSpPr>
        <p:spPr>
          <a:xfrm rot="-2700000">
            <a:off x="5408181" y="4540037"/>
            <a:ext cx="643422" cy="643422"/>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cxnSp>
        <p:nvCxnSpPr>
          <p:cNvPr id="130" name="Google Shape;130;p14"/>
          <p:cNvCxnSpPr/>
          <p:nvPr/>
        </p:nvCxnSpPr>
        <p:spPr>
          <a:xfrm>
            <a:off x="6130429" y="1739413"/>
            <a:ext cx="5164601" cy="0"/>
          </a:xfrm>
          <a:prstGeom prst="straightConnector1">
            <a:avLst/>
          </a:prstGeom>
          <a:noFill/>
          <a:ln cap="flat" cmpd="sng" w="12700">
            <a:solidFill>
              <a:schemeClr val="accent1"/>
            </a:solidFill>
            <a:prstDash val="solid"/>
            <a:miter lim="800000"/>
            <a:headEnd len="sm" w="sm" type="none"/>
            <a:tailEnd len="sm" w="sm" type="none"/>
          </a:ln>
        </p:spPr>
      </p:cxnSp>
      <p:cxnSp>
        <p:nvCxnSpPr>
          <p:cNvPr id="131" name="Google Shape;131;p14"/>
          <p:cNvCxnSpPr/>
          <p:nvPr/>
        </p:nvCxnSpPr>
        <p:spPr>
          <a:xfrm>
            <a:off x="6130429" y="3670792"/>
            <a:ext cx="5164601" cy="0"/>
          </a:xfrm>
          <a:prstGeom prst="straightConnector1">
            <a:avLst/>
          </a:prstGeom>
          <a:noFill/>
          <a:ln cap="flat" cmpd="sng" w="12700">
            <a:solidFill>
              <a:schemeClr val="accent1"/>
            </a:solidFill>
            <a:prstDash val="solid"/>
            <a:miter lim="800000"/>
            <a:headEnd len="sm" w="sm" type="none"/>
            <a:tailEnd len="sm" w="sm" type="none"/>
          </a:ln>
        </p:spPr>
      </p:cxnSp>
      <p:cxnSp>
        <p:nvCxnSpPr>
          <p:cNvPr id="132" name="Google Shape;132;p14"/>
          <p:cNvCxnSpPr/>
          <p:nvPr/>
        </p:nvCxnSpPr>
        <p:spPr>
          <a:xfrm>
            <a:off x="6130429" y="5602176"/>
            <a:ext cx="5164601" cy="0"/>
          </a:xfrm>
          <a:prstGeom prst="straightConnector1">
            <a:avLst/>
          </a:prstGeom>
          <a:noFill/>
          <a:ln cap="flat" cmpd="sng" w="12700">
            <a:solidFill>
              <a:schemeClr val="accent1"/>
            </a:solidFill>
            <a:prstDash val="solid"/>
            <a:miter lim="800000"/>
            <a:headEnd len="sm" w="sm" type="none"/>
            <a:tailEnd len="sm" w="sm" type="none"/>
          </a:ln>
        </p:spPr>
      </p:cxnSp>
      <p:sp>
        <p:nvSpPr>
          <p:cNvPr id="133" name="Google Shape;133;p14"/>
          <p:cNvSpPr txBox="1"/>
          <p:nvPr>
            <p:ph idx="2" type="body"/>
          </p:nvPr>
        </p:nvSpPr>
        <p:spPr>
          <a:xfrm>
            <a:off x="6370864" y="2698883"/>
            <a:ext cx="4924166" cy="828743"/>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14"/>
          <p:cNvSpPr txBox="1"/>
          <p:nvPr>
            <p:ph idx="3" type="body"/>
          </p:nvPr>
        </p:nvSpPr>
        <p:spPr>
          <a:xfrm>
            <a:off x="6370864" y="767504"/>
            <a:ext cx="4924166" cy="828743"/>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14"/>
          <p:cNvSpPr txBox="1"/>
          <p:nvPr>
            <p:ph idx="4" type="body"/>
          </p:nvPr>
        </p:nvSpPr>
        <p:spPr>
          <a:xfrm>
            <a:off x="6370864" y="4630267"/>
            <a:ext cx="4924166" cy="828743"/>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6" name="Google Shape;136;p14"/>
          <p:cNvSpPr txBox="1"/>
          <p:nvPr>
            <p:ph idx="5" type="body"/>
          </p:nvPr>
        </p:nvSpPr>
        <p:spPr>
          <a:xfrm>
            <a:off x="6370864" y="3755618"/>
            <a:ext cx="4924166" cy="19884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4"/>
          <p:cNvSpPr txBox="1"/>
          <p:nvPr>
            <p:ph idx="6" type="body"/>
          </p:nvPr>
        </p:nvSpPr>
        <p:spPr>
          <a:xfrm>
            <a:off x="6370864" y="1824239"/>
            <a:ext cx="4924166" cy="19884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8" name="Google Shape;138;p14"/>
          <p:cNvSpPr txBox="1"/>
          <p:nvPr>
            <p:ph idx="7" type="body"/>
          </p:nvPr>
        </p:nvSpPr>
        <p:spPr>
          <a:xfrm>
            <a:off x="6370864" y="5687002"/>
            <a:ext cx="4924166" cy="19884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39" name="Google Shape;139;p14"/>
          <p:cNvPicPr preferRelativeResize="0"/>
          <p:nvPr/>
        </p:nvPicPr>
        <p:blipFill rotWithShape="1">
          <a:blip r:embed="rId2">
            <a:alphaModFix/>
          </a:blip>
          <a:srcRect b="0" l="0" r="0" t="0"/>
          <a:stretch/>
        </p:blipFill>
        <p:spPr>
          <a:xfrm rot="10800000">
            <a:off x="5589352" y="457829"/>
            <a:ext cx="679686" cy="619348"/>
          </a:xfrm>
          <a:prstGeom prst="rect">
            <a:avLst/>
          </a:prstGeom>
          <a:noFill/>
          <a:ln>
            <a:noFill/>
          </a:ln>
        </p:spPr>
      </p:pic>
      <p:pic>
        <p:nvPicPr>
          <p:cNvPr id="140" name="Google Shape;140;p14"/>
          <p:cNvPicPr preferRelativeResize="0"/>
          <p:nvPr/>
        </p:nvPicPr>
        <p:blipFill rotWithShape="1">
          <a:blip r:embed="rId2">
            <a:alphaModFix/>
          </a:blip>
          <a:srcRect b="0" l="0" r="0" t="0"/>
          <a:stretch/>
        </p:blipFill>
        <p:spPr>
          <a:xfrm rot="10800000">
            <a:off x="5589352" y="2386582"/>
            <a:ext cx="679686" cy="619348"/>
          </a:xfrm>
          <a:prstGeom prst="rect">
            <a:avLst/>
          </a:prstGeom>
          <a:noFill/>
          <a:ln>
            <a:noFill/>
          </a:ln>
        </p:spPr>
      </p:pic>
      <p:pic>
        <p:nvPicPr>
          <p:cNvPr id="141" name="Google Shape;141;p14"/>
          <p:cNvPicPr preferRelativeResize="0"/>
          <p:nvPr/>
        </p:nvPicPr>
        <p:blipFill rotWithShape="1">
          <a:blip r:embed="rId2">
            <a:alphaModFix/>
          </a:blip>
          <a:srcRect b="0" l="0" r="0" t="0"/>
          <a:stretch/>
        </p:blipFill>
        <p:spPr>
          <a:xfrm rot="10800000">
            <a:off x="5589352" y="4320593"/>
            <a:ext cx="679686" cy="619348"/>
          </a:xfrm>
          <a:prstGeom prst="rect">
            <a:avLst/>
          </a:prstGeom>
          <a:noFill/>
          <a:ln>
            <a:noFill/>
          </a:ln>
        </p:spPr>
      </p:pic>
      <p:sp>
        <p:nvSpPr>
          <p:cNvPr id="142" name="Google Shape;142;p14"/>
          <p:cNvSpPr txBox="1"/>
          <p:nvPr>
            <p:ph type="title"/>
          </p:nvPr>
        </p:nvSpPr>
        <p:spPr>
          <a:xfrm>
            <a:off x="593725" y="547688"/>
            <a:ext cx="4495195" cy="1048559"/>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4 points">
  <p:cSld name="Timeline 4 points">
    <p:spTree>
      <p:nvGrpSpPr>
        <p:cNvPr id="143" name="Shape 143"/>
        <p:cNvGrpSpPr/>
        <p:nvPr/>
      </p:nvGrpSpPr>
      <p:grpSpPr>
        <a:xfrm>
          <a:off x="0" y="0"/>
          <a:ext cx="0" cy="0"/>
          <a:chOff x="0" y="0"/>
          <a:chExt cx="0" cy="0"/>
        </a:xfrm>
      </p:grpSpPr>
      <p:sp>
        <p:nvSpPr>
          <p:cNvPr id="144" name="Google Shape;144;p15"/>
          <p:cNvSpPr/>
          <p:nvPr/>
        </p:nvSpPr>
        <p:spPr>
          <a:xfrm rot="-2700000">
            <a:off x="8469578" y="2880798"/>
            <a:ext cx="3657600" cy="3657600"/>
          </a:xfrm>
          <a:prstGeom prst="roundRect">
            <a:avLst>
              <a:gd fmla="val 0" name="adj"/>
            </a:avLst>
          </a:prstGeom>
          <a:gradFill>
            <a:gsLst>
              <a:gs pos="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45" name="Google Shape;145;p15"/>
          <p:cNvSpPr/>
          <p:nvPr/>
        </p:nvSpPr>
        <p:spPr>
          <a:xfrm rot="-2700000">
            <a:off x="5667993" y="2880798"/>
            <a:ext cx="3657600" cy="3657600"/>
          </a:xfrm>
          <a:prstGeom prst="roundRect">
            <a:avLst>
              <a:gd fmla="val 0" name="adj"/>
            </a:avLst>
          </a:prstGeom>
          <a:gradFill>
            <a:gsLst>
              <a:gs pos="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46" name="Google Shape;146;p15"/>
          <p:cNvSpPr/>
          <p:nvPr/>
        </p:nvSpPr>
        <p:spPr>
          <a:xfrm rot="-2700000">
            <a:off x="2866407" y="2880798"/>
            <a:ext cx="3657600" cy="3657600"/>
          </a:xfrm>
          <a:prstGeom prst="roundRect">
            <a:avLst>
              <a:gd fmla="val 0" name="adj"/>
            </a:avLst>
          </a:prstGeom>
          <a:gradFill>
            <a:gsLst>
              <a:gs pos="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47" name="Google Shape;147;p15"/>
          <p:cNvSpPr/>
          <p:nvPr/>
        </p:nvSpPr>
        <p:spPr>
          <a:xfrm rot="-2700000">
            <a:off x="64822" y="2880798"/>
            <a:ext cx="3657600" cy="3657600"/>
          </a:xfrm>
          <a:prstGeom prst="roundRect">
            <a:avLst>
              <a:gd fmla="val 0" name="adj"/>
            </a:avLst>
          </a:prstGeom>
          <a:gradFill>
            <a:gsLst>
              <a:gs pos="0">
                <a:schemeClr val="lt1"/>
              </a:gs>
              <a:gs pos="100000">
                <a:srgbClr val="FFFFFF">
                  <a:alpha val="0"/>
                </a:srgbClr>
              </a:gs>
            </a:gsLst>
            <a:lin ang="81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cxnSp>
        <p:nvCxnSpPr>
          <p:cNvPr id="148" name="Google Shape;148;p15"/>
          <p:cNvCxnSpPr/>
          <p:nvPr/>
        </p:nvCxnSpPr>
        <p:spPr>
          <a:xfrm>
            <a:off x="675918" y="1473397"/>
            <a:ext cx="0" cy="3662169"/>
          </a:xfrm>
          <a:prstGeom prst="straightConnector1">
            <a:avLst/>
          </a:prstGeom>
          <a:noFill/>
          <a:ln cap="flat" cmpd="sng" w="12700">
            <a:solidFill>
              <a:schemeClr val="accent1"/>
            </a:solidFill>
            <a:prstDash val="solid"/>
            <a:miter lim="800000"/>
            <a:headEnd len="sm" w="sm" type="none"/>
            <a:tailEnd len="sm" w="sm" type="none"/>
          </a:ln>
        </p:spPr>
      </p:cxnSp>
      <p:cxnSp>
        <p:nvCxnSpPr>
          <p:cNvPr id="149" name="Google Shape;149;p15"/>
          <p:cNvCxnSpPr/>
          <p:nvPr/>
        </p:nvCxnSpPr>
        <p:spPr>
          <a:xfrm>
            <a:off x="3477503" y="2561195"/>
            <a:ext cx="0" cy="2574371"/>
          </a:xfrm>
          <a:prstGeom prst="straightConnector1">
            <a:avLst/>
          </a:prstGeom>
          <a:noFill/>
          <a:ln cap="flat" cmpd="sng" w="12700">
            <a:solidFill>
              <a:schemeClr val="accent1"/>
            </a:solidFill>
            <a:prstDash val="solid"/>
            <a:miter lim="800000"/>
            <a:headEnd len="sm" w="sm" type="none"/>
            <a:tailEnd len="sm" w="sm" type="none"/>
          </a:ln>
        </p:spPr>
      </p:cxnSp>
      <p:cxnSp>
        <p:nvCxnSpPr>
          <p:cNvPr id="150" name="Google Shape;150;p15"/>
          <p:cNvCxnSpPr/>
          <p:nvPr/>
        </p:nvCxnSpPr>
        <p:spPr>
          <a:xfrm>
            <a:off x="6279088" y="2561195"/>
            <a:ext cx="0" cy="2574371"/>
          </a:xfrm>
          <a:prstGeom prst="straightConnector1">
            <a:avLst/>
          </a:prstGeom>
          <a:noFill/>
          <a:ln cap="flat" cmpd="sng" w="12700">
            <a:solidFill>
              <a:schemeClr val="accent1"/>
            </a:solidFill>
            <a:prstDash val="solid"/>
            <a:miter lim="800000"/>
            <a:headEnd len="sm" w="sm" type="none"/>
            <a:tailEnd len="sm" w="sm" type="none"/>
          </a:ln>
        </p:spPr>
      </p:cxnSp>
      <p:cxnSp>
        <p:nvCxnSpPr>
          <p:cNvPr id="151" name="Google Shape;151;p15"/>
          <p:cNvCxnSpPr/>
          <p:nvPr/>
        </p:nvCxnSpPr>
        <p:spPr>
          <a:xfrm>
            <a:off x="9080673" y="2561195"/>
            <a:ext cx="0" cy="2574371"/>
          </a:xfrm>
          <a:prstGeom prst="straightConnector1">
            <a:avLst/>
          </a:prstGeom>
          <a:noFill/>
          <a:ln cap="flat" cmpd="sng" w="12700">
            <a:solidFill>
              <a:schemeClr val="accent1"/>
            </a:solidFill>
            <a:prstDash val="solid"/>
            <a:miter lim="800000"/>
            <a:headEnd len="sm" w="sm" type="none"/>
            <a:tailEnd len="sm" w="sm" type="none"/>
          </a:ln>
        </p:spPr>
      </p:cxnSp>
      <p:sp>
        <p:nvSpPr>
          <p:cNvPr id="152" name="Google Shape;152;p15"/>
          <p:cNvSpPr txBox="1"/>
          <p:nvPr>
            <p:ph type="title"/>
          </p:nvPr>
        </p:nvSpPr>
        <p:spPr>
          <a:xfrm>
            <a:off x="593725" y="547688"/>
            <a:ext cx="11004550" cy="735012"/>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53" name="Google Shape;153;p15"/>
          <p:cNvCxnSpPr/>
          <p:nvPr/>
        </p:nvCxnSpPr>
        <p:spPr>
          <a:xfrm>
            <a:off x="0" y="2561195"/>
            <a:ext cx="12192000" cy="0"/>
          </a:xfrm>
          <a:prstGeom prst="straightConnector1">
            <a:avLst/>
          </a:prstGeom>
          <a:noFill/>
          <a:ln cap="flat" cmpd="sng" w="12700">
            <a:solidFill>
              <a:schemeClr val="accent1"/>
            </a:solidFill>
            <a:prstDash val="dash"/>
            <a:miter lim="800000"/>
            <a:headEnd len="sm" w="sm" type="none"/>
            <a:tailEnd len="sm" w="sm" type="none"/>
          </a:ln>
        </p:spPr>
      </p:cxnSp>
      <p:sp>
        <p:nvSpPr>
          <p:cNvPr id="154" name="Google Shape;154;p15"/>
          <p:cNvSpPr/>
          <p:nvPr/>
        </p:nvSpPr>
        <p:spPr>
          <a:xfrm rot="-2700000">
            <a:off x="617799" y="2503076"/>
            <a:ext cx="116237" cy="116237"/>
          </a:xfrm>
          <a:prstGeom prst="rect">
            <a:avLst/>
          </a:prstGeom>
          <a:gradFill>
            <a:gsLst>
              <a:gs pos="0">
                <a:schemeClr val="accent3"/>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5" name="Google Shape;155;p15"/>
          <p:cNvSpPr/>
          <p:nvPr/>
        </p:nvSpPr>
        <p:spPr>
          <a:xfrm rot="-2700000">
            <a:off x="3419384" y="2503078"/>
            <a:ext cx="116237" cy="116237"/>
          </a:xfrm>
          <a:prstGeom prst="rect">
            <a:avLst/>
          </a:prstGeom>
          <a:gradFill>
            <a:gsLst>
              <a:gs pos="0">
                <a:schemeClr val="accent3"/>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6" name="Google Shape;156;p15"/>
          <p:cNvSpPr/>
          <p:nvPr/>
        </p:nvSpPr>
        <p:spPr>
          <a:xfrm rot="-2700000">
            <a:off x="6220969" y="2503078"/>
            <a:ext cx="116237" cy="116237"/>
          </a:xfrm>
          <a:prstGeom prst="rect">
            <a:avLst/>
          </a:prstGeom>
          <a:gradFill>
            <a:gsLst>
              <a:gs pos="0">
                <a:schemeClr val="accent3"/>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57" name="Google Shape;157;p15"/>
          <p:cNvSpPr txBox="1"/>
          <p:nvPr>
            <p:ph idx="1" type="body"/>
          </p:nvPr>
        </p:nvSpPr>
        <p:spPr>
          <a:xfrm>
            <a:off x="758818" y="2808529"/>
            <a:ext cx="1561297" cy="67710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15"/>
          <p:cNvSpPr txBox="1"/>
          <p:nvPr>
            <p:ph idx="2" type="body"/>
          </p:nvPr>
        </p:nvSpPr>
        <p:spPr>
          <a:xfrm>
            <a:off x="758110" y="3895594"/>
            <a:ext cx="2435410" cy="123997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15"/>
          <p:cNvSpPr txBox="1"/>
          <p:nvPr>
            <p:ph idx="3" type="body"/>
          </p:nvPr>
        </p:nvSpPr>
        <p:spPr>
          <a:xfrm>
            <a:off x="758110" y="3554071"/>
            <a:ext cx="2435410" cy="273088"/>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15"/>
          <p:cNvSpPr txBox="1"/>
          <p:nvPr>
            <p:ph idx="4" type="body"/>
          </p:nvPr>
        </p:nvSpPr>
        <p:spPr>
          <a:xfrm>
            <a:off x="3560403" y="2808529"/>
            <a:ext cx="1561297" cy="67710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1" name="Google Shape;161;p15"/>
          <p:cNvSpPr txBox="1"/>
          <p:nvPr>
            <p:ph idx="5" type="body"/>
          </p:nvPr>
        </p:nvSpPr>
        <p:spPr>
          <a:xfrm>
            <a:off x="3559695" y="3895594"/>
            <a:ext cx="2435410" cy="123997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2" name="Google Shape;162;p15"/>
          <p:cNvSpPr txBox="1"/>
          <p:nvPr>
            <p:ph idx="6" type="body"/>
          </p:nvPr>
        </p:nvSpPr>
        <p:spPr>
          <a:xfrm>
            <a:off x="3559695" y="3554071"/>
            <a:ext cx="2435410" cy="273088"/>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3" name="Google Shape;163;p15"/>
          <p:cNvSpPr txBox="1"/>
          <p:nvPr>
            <p:ph idx="7" type="body"/>
          </p:nvPr>
        </p:nvSpPr>
        <p:spPr>
          <a:xfrm>
            <a:off x="6361988" y="2808529"/>
            <a:ext cx="1561297" cy="67710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15"/>
          <p:cNvSpPr txBox="1"/>
          <p:nvPr>
            <p:ph idx="8" type="body"/>
          </p:nvPr>
        </p:nvSpPr>
        <p:spPr>
          <a:xfrm>
            <a:off x="6361280" y="3895594"/>
            <a:ext cx="2435410" cy="123997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15"/>
          <p:cNvSpPr txBox="1"/>
          <p:nvPr>
            <p:ph idx="9" type="body"/>
          </p:nvPr>
        </p:nvSpPr>
        <p:spPr>
          <a:xfrm>
            <a:off x="6361280" y="3554071"/>
            <a:ext cx="2435410" cy="273088"/>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6" name="Google Shape;166;p15"/>
          <p:cNvSpPr txBox="1"/>
          <p:nvPr>
            <p:ph idx="13" type="body"/>
          </p:nvPr>
        </p:nvSpPr>
        <p:spPr>
          <a:xfrm>
            <a:off x="9163573" y="2808529"/>
            <a:ext cx="1561297" cy="67710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7" name="Google Shape;167;p15"/>
          <p:cNvSpPr txBox="1"/>
          <p:nvPr>
            <p:ph idx="14" type="body"/>
          </p:nvPr>
        </p:nvSpPr>
        <p:spPr>
          <a:xfrm>
            <a:off x="9162865" y="3895594"/>
            <a:ext cx="2435410" cy="123997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8" name="Google Shape;168;p15"/>
          <p:cNvSpPr txBox="1"/>
          <p:nvPr>
            <p:ph idx="15" type="body"/>
          </p:nvPr>
        </p:nvSpPr>
        <p:spPr>
          <a:xfrm>
            <a:off x="9162865" y="3554071"/>
            <a:ext cx="2435410" cy="273088"/>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9" name="Google Shape;169;p15"/>
          <p:cNvSpPr/>
          <p:nvPr/>
        </p:nvSpPr>
        <p:spPr>
          <a:xfrm rot="-2700000">
            <a:off x="9022555" y="2503076"/>
            <a:ext cx="116237" cy="116237"/>
          </a:xfrm>
          <a:prstGeom prst="rect">
            <a:avLst/>
          </a:prstGeom>
          <a:gradFill>
            <a:gsLst>
              <a:gs pos="0">
                <a:schemeClr val="accent3"/>
              </a:gs>
              <a:gs pos="100000">
                <a:schemeClr val="accent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0" name="Google Shape;170;p15"/>
          <p:cNvSpPr txBox="1"/>
          <p:nvPr>
            <p:ph idx="16" type="body"/>
          </p:nvPr>
        </p:nvSpPr>
        <p:spPr>
          <a:xfrm>
            <a:off x="758818" y="1473397"/>
            <a:ext cx="2205949" cy="830997"/>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2"/>
              </a:buClr>
              <a:buSzPts val="5400"/>
              <a:buNone/>
              <a:defRPr b="1" sz="5400">
                <a:solidFill>
                  <a:schemeClr val="accent2"/>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and 3 points">
  <p:cSld name="Big text and 3 points">
    <p:spTree>
      <p:nvGrpSpPr>
        <p:cNvPr id="171" name="Shape 171"/>
        <p:cNvGrpSpPr/>
        <p:nvPr/>
      </p:nvGrpSpPr>
      <p:grpSpPr>
        <a:xfrm>
          <a:off x="0" y="0"/>
          <a:ext cx="0" cy="0"/>
          <a:chOff x="0" y="0"/>
          <a:chExt cx="0" cy="0"/>
        </a:xfrm>
      </p:grpSpPr>
      <p:sp>
        <p:nvSpPr>
          <p:cNvPr id="172" name="Google Shape;172;p16"/>
          <p:cNvSpPr/>
          <p:nvPr/>
        </p:nvSpPr>
        <p:spPr>
          <a:xfrm>
            <a:off x="506689" y="3939611"/>
            <a:ext cx="3611013" cy="2370701"/>
          </a:xfrm>
          <a:prstGeom prst="roundRect">
            <a:avLst>
              <a:gd fmla="val 5631" name="adj"/>
            </a:avLst>
          </a:prstGeom>
          <a:gradFill>
            <a:gsLst>
              <a:gs pos="0">
                <a:schemeClr val="lt1"/>
              </a:gs>
              <a:gs pos="21000">
                <a:schemeClr val="lt1"/>
              </a:gs>
              <a:gs pos="100000">
                <a:srgbClr val="FFFFFF">
                  <a:alpha val="0"/>
                </a:srgbClr>
              </a:gs>
            </a:gsLst>
            <a:lin ang="27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3" name="Google Shape;173;p16"/>
          <p:cNvSpPr/>
          <p:nvPr/>
        </p:nvSpPr>
        <p:spPr>
          <a:xfrm>
            <a:off x="4284280" y="3939611"/>
            <a:ext cx="3611013" cy="2370701"/>
          </a:xfrm>
          <a:prstGeom prst="roundRect">
            <a:avLst>
              <a:gd fmla="val 5631" name="adj"/>
            </a:avLst>
          </a:prstGeom>
          <a:gradFill>
            <a:gsLst>
              <a:gs pos="0">
                <a:schemeClr val="lt1"/>
              </a:gs>
              <a:gs pos="21000">
                <a:schemeClr val="lt1"/>
              </a:gs>
              <a:gs pos="100000">
                <a:srgbClr val="FFFFFF">
                  <a:alpha val="0"/>
                </a:srgbClr>
              </a:gs>
            </a:gsLst>
            <a:lin ang="27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4" name="Google Shape;174;p16"/>
          <p:cNvSpPr/>
          <p:nvPr/>
        </p:nvSpPr>
        <p:spPr>
          <a:xfrm>
            <a:off x="8074298" y="3939611"/>
            <a:ext cx="3611013" cy="2370701"/>
          </a:xfrm>
          <a:prstGeom prst="roundRect">
            <a:avLst>
              <a:gd fmla="val 5631" name="adj"/>
            </a:avLst>
          </a:prstGeom>
          <a:gradFill>
            <a:gsLst>
              <a:gs pos="0">
                <a:schemeClr val="lt1"/>
              </a:gs>
              <a:gs pos="21000">
                <a:schemeClr val="lt1"/>
              </a:gs>
              <a:gs pos="100000">
                <a:srgbClr val="FFFFFF">
                  <a:alpha val="0"/>
                </a:srgbClr>
              </a:gs>
            </a:gsLst>
            <a:lin ang="2700000" scaled="0"/>
          </a:gradFill>
          <a:ln>
            <a:noFill/>
          </a:ln>
          <a:effectLst>
            <a:outerShdw blurRad="1075824" sx="102000" rotWithShape="0" algn="ctr" sy="102000">
              <a:schemeClr val="dk1">
                <a:alpha val="784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75" name="Google Shape;175;p16"/>
          <p:cNvSpPr txBox="1"/>
          <p:nvPr>
            <p:ph type="title"/>
          </p:nvPr>
        </p:nvSpPr>
        <p:spPr>
          <a:xfrm>
            <a:off x="593725" y="547688"/>
            <a:ext cx="11004550" cy="313485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16"/>
          <p:cNvSpPr txBox="1"/>
          <p:nvPr>
            <p:ph idx="1" type="body"/>
          </p:nvPr>
        </p:nvSpPr>
        <p:spPr>
          <a:xfrm>
            <a:off x="593725" y="4879572"/>
            <a:ext cx="3444875" cy="124659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16"/>
          <p:cNvSpPr txBox="1"/>
          <p:nvPr>
            <p:ph idx="2" type="body"/>
          </p:nvPr>
        </p:nvSpPr>
        <p:spPr>
          <a:xfrm>
            <a:off x="4376738" y="4879572"/>
            <a:ext cx="3436938" cy="124659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16"/>
          <p:cNvSpPr txBox="1"/>
          <p:nvPr>
            <p:ph idx="3" type="body"/>
          </p:nvPr>
        </p:nvSpPr>
        <p:spPr>
          <a:xfrm>
            <a:off x="8161337" y="4879572"/>
            <a:ext cx="3436937" cy="1246592"/>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9" name="Google Shape;179;p16"/>
          <p:cNvSpPr txBox="1"/>
          <p:nvPr>
            <p:ph idx="4" type="body"/>
          </p:nvPr>
        </p:nvSpPr>
        <p:spPr>
          <a:xfrm>
            <a:off x="593726" y="4031673"/>
            <a:ext cx="1069108" cy="748145"/>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0" name="Google Shape;180;p16"/>
          <p:cNvSpPr txBox="1"/>
          <p:nvPr>
            <p:ph idx="5" type="body"/>
          </p:nvPr>
        </p:nvSpPr>
        <p:spPr>
          <a:xfrm>
            <a:off x="4376738" y="4031673"/>
            <a:ext cx="1032596" cy="748145"/>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1" name="Google Shape;181;p16"/>
          <p:cNvSpPr txBox="1"/>
          <p:nvPr>
            <p:ph idx="6" type="body"/>
          </p:nvPr>
        </p:nvSpPr>
        <p:spPr>
          <a:xfrm>
            <a:off x="8161338" y="4031673"/>
            <a:ext cx="994496" cy="748145"/>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2" name="Google Shape;182;p16"/>
          <p:cNvSpPr txBox="1"/>
          <p:nvPr>
            <p:ph idx="7" type="body"/>
          </p:nvPr>
        </p:nvSpPr>
        <p:spPr>
          <a:xfrm>
            <a:off x="1762299" y="4031672"/>
            <a:ext cx="2276301" cy="748145"/>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3" name="Google Shape;183;p16"/>
          <p:cNvSpPr txBox="1"/>
          <p:nvPr>
            <p:ph idx="8" type="body"/>
          </p:nvPr>
        </p:nvSpPr>
        <p:spPr>
          <a:xfrm>
            <a:off x="5508798" y="4031672"/>
            <a:ext cx="2304877" cy="748145"/>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4" name="Google Shape;184;p16"/>
          <p:cNvSpPr txBox="1"/>
          <p:nvPr>
            <p:ph idx="9" type="body"/>
          </p:nvPr>
        </p:nvSpPr>
        <p:spPr>
          <a:xfrm>
            <a:off x="9255298" y="4031672"/>
            <a:ext cx="2342977" cy="748145"/>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Points">
  <p:cSld name="5 Points">
    <p:spTree>
      <p:nvGrpSpPr>
        <p:cNvPr id="185" name="Shape 185"/>
        <p:cNvGrpSpPr/>
        <p:nvPr/>
      </p:nvGrpSpPr>
      <p:grpSpPr>
        <a:xfrm>
          <a:off x="0" y="0"/>
          <a:ext cx="0" cy="0"/>
          <a:chOff x="0" y="0"/>
          <a:chExt cx="0" cy="0"/>
        </a:xfrm>
      </p:grpSpPr>
      <p:sp>
        <p:nvSpPr>
          <p:cNvPr id="186" name="Google Shape;186;p17"/>
          <p:cNvSpPr/>
          <p:nvPr/>
        </p:nvSpPr>
        <p:spPr>
          <a:xfrm>
            <a:off x="637195" y="547687"/>
            <a:ext cx="3783013" cy="5576819"/>
          </a:xfrm>
          <a:prstGeom prst="rect">
            <a:avLst/>
          </a:prstGeom>
          <a:no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187" name="Google Shape;187;p17"/>
          <p:cNvSpPr txBox="1"/>
          <p:nvPr>
            <p:ph type="title"/>
          </p:nvPr>
        </p:nvSpPr>
        <p:spPr>
          <a:xfrm>
            <a:off x="762792" y="1030073"/>
            <a:ext cx="3444875" cy="4432163"/>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800"/>
              <a:buFont typeface="Montserrat"/>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17"/>
          <p:cNvSpPr txBox="1"/>
          <p:nvPr>
            <p:ph idx="1" type="body"/>
          </p:nvPr>
        </p:nvSpPr>
        <p:spPr>
          <a:xfrm>
            <a:off x="5065712" y="900985"/>
            <a:ext cx="6530969" cy="5331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9" name="Google Shape;189;p17"/>
          <p:cNvSpPr txBox="1"/>
          <p:nvPr>
            <p:ph idx="2" type="body"/>
          </p:nvPr>
        </p:nvSpPr>
        <p:spPr>
          <a:xfrm>
            <a:off x="5065499" y="547687"/>
            <a:ext cx="6531187" cy="296798"/>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0" name="Google Shape;190;p17"/>
          <p:cNvSpPr txBox="1"/>
          <p:nvPr>
            <p:ph idx="3" type="body"/>
          </p:nvPr>
        </p:nvSpPr>
        <p:spPr>
          <a:xfrm>
            <a:off x="5065712" y="2073570"/>
            <a:ext cx="6530969" cy="5331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1" name="Google Shape;191;p17"/>
          <p:cNvSpPr txBox="1"/>
          <p:nvPr>
            <p:ph idx="4" type="body"/>
          </p:nvPr>
        </p:nvSpPr>
        <p:spPr>
          <a:xfrm>
            <a:off x="5065499" y="1720272"/>
            <a:ext cx="6531187" cy="296798"/>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17"/>
          <p:cNvSpPr txBox="1"/>
          <p:nvPr>
            <p:ph idx="5" type="body"/>
          </p:nvPr>
        </p:nvSpPr>
        <p:spPr>
          <a:xfrm>
            <a:off x="5065712" y="3246155"/>
            <a:ext cx="6530969" cy="5331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3" name="Google Shape;193;p17"/>
          <p:cNvSpPr txBox="1"/>
          <p:nvPr>
            <p:ph idx="6" type="body"/>
          </p:nvPr>
        </p:nvSpPr>
        <p:spPr>
          <a:xfrm>
            <a:off x="5065499" y="2892857"/>
            <a:ext cx="6531187" cy="296798"/>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4" name="Google Shape;194;p17"/>
          <p:cNvSpPr txBox="1"/>
          <p:nvPr>
            <p:ph idx="7" type="body"/>
          </p:nvPr>
        </p:nvSpPr>
        <p:spPr>
          <a:xfrm>
            <a:off x="5065712" y="4418740"/>
            <a:ext cx="6530969" cy="5331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5" name="Google Shape;195;p17"/>
          <p:cNvSpPr txBox="1"/>
          <p:nvPr>
            <p:ph idx="8" type="body"/>
          </p:nvPr>
        </p:nvSpPr>
        <p:spPr>
          <a:xfrm>
            <a:off x="5065499" y="4065442"/>
            <a:ext cx="6531187" cy="296798"/>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6" name="Google Shape;196;p17"/>
          <p:cNvSpPr txBox="1"/>
          <p:nvPr>
            <p:ph idx="9" type="body"/>
          </p:nvPr>
        </p:nvSpPr>
        <p:spPr>
          <a:xfrm>
            <a:off x="5065712" y="5591327"/>
            <a:ext cx="6530969" cy="5331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7" name="Google Shape;197;p17"/>
          <p:cNvSpPr txBox="1"/>
          <p:nvPr>
            <p:ph idx="13" type="body"/>
          </p:nvPr>
        </p:nvSpPr>
        <p:spPr>
          <a:xfrm>
            <a:off x="5065499" y="5238029"/>
            <a:ext cx="6531187" cy="296798"/>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98" name="Google Shape;198;p17"/>
          <p:cNvCxnSpPr/>
          <p:nvPr/>
        </p:nvCxnSpPr>
        <p:spPr>
          <a:xfrm>
            <a:off x="4975225" y="547687"/>
            <a:ext cx="0" cy="886477"/>
          </a:xfrm>
          <a:prstGeom prst="straightConnector1">
            <a:avLst/>
          </a:prstGeom>
          <a:noFill/>
          <a:ln cap="flat" cmpd="sng" w="19050">
            <a:solidFill>
              <a:schemeClr val="accent1"/>
            </a:solidFill>
            <a:prstDash val="solid"/>
            <a:miter lim="800000"/>
            <a:headEnd len="sm" w="sm" type="none"/>
            <a:tailEnd len="sm" w="sm" type="none"/>
          </a:ln>
        </p:spPr>
      </p:cxnSp>
      <p:cxnSp>
        <p:nvCxnSpPr>
          <p:cNvPr id="199" name="Google Shape;199;p17"/>
          <p:cNvCxnSpPr/>
          <p:nvPr/>
        </p:nvCxnSpPr>
        <p:spPr>
          <a:xfrm>
            <a:off x="4975225" y="1720273"/>
            <a:ext cx="0" cy="886477"/>
          </a:xfrm>
          <a:prstGeom prst="straightConnector1">
            <a:avLst/>
          </a:prstGeom>
          <a:noFill/>
          <a:ln cap="flat" cmpd="sng" w="19050">
            <a:solidFill>
              <a:schemeClr val="accent1"/>
            </a:solidFill>
            <a:prstDash val="solid"/>
            <a:miter lim="800000"/>
            <a:headEnd len="sm" w="sm" type="none"/>
            <a:tailEnd len="sm" w="sm" type="none"/>
          </a:ln>
        </p:spPr>
      </p:cxnSp>
      <p:cxnSp>
        <p:nvCxnSpPr>
          <p:cNvPr id="200" name="Google Shape;200;p17"/>
          <p:cNvCxnSpPr/>
          <p:nvPr/>
        </p:nvCxnSpPr>
        <p:spPr>
          <a:xfrm>
            <a:off x="4975225" y="2892858"/>
            <a:ext cx="0" cy="886477"/>
          </a:xfrm>
          <a:prstGeom prst="straightConnector1">
            <a:avLst/>
          </a:prstGeom>
          <a:noFill/>
          <a:ln cap="flat" cmpd="sng" w="19050">
            <a:solidFill>
              <a:schemeClr val="accent1"/>
            </a:solidFill>
            <a:prstDash val="solid"/>
            <a:miter lim="800000"/>
            <a:headEnd len="sm" w="sm" type="none"/>
            <a:tailEnd len="sm" w="sm" type="none"/>
          </a:ln>
        </p:spPr>
      </p:cxnSp>
      <p:cxnSp>
        <p:nvCxnSpPr>
          <p:cNvPr id="201" name="Google Shape;201;p17"/>
          <p:cNvCxnSpPr/>
          <p:nvPr/>
        </p:nvCxnSpPr>
        <p:spPr>
          <a:xfrm>
            <a:off x="4975225" y="4065443"/>
            <a:ext cx="0" cy="886477"/>
          </a:xfrm>
          <a:prstGeom prst="straightConnector1">
            <a:avLst/>
          </a:prstGeom>
          <a:noFill/>
          <a:ln cap="flat" cmpd="sng" w="19050">
            <a:solidFill>
              <a:schemeClr val="accent1"/>
            </a:solidFill>
            <a:prstDash val="solid"/>
            <a:miter lim="800000"/>
            <a:headEnd len="sm" w="sm" type="none"/>
            <a:tailEnd len="sm" w="sm" type="none"/>
          </a:ln>
        </p:spPr>
      </p:cxnSp>
      <p:cxnSp>
        <p:nvCxnSpPr>
          <p:cNvPr id="202" name="Google Shape;202;p17"/>
          <p:cNvCxnSpPr/>
          <p:nvPr/>
        </p:nvCxnSpPr>
        <p:spPr>
          <a:xfrm>
            <a:off x="4975225" y="5238029"/>
            <a:ext cx="0" cy="886477"/>
          </a:xfrm>
          <a:prstGeom prst="straightConnector1">
            <a:avLst/>
          </a:prstGeom>
          <a:noFill/>
          <a:ln cap="flat" cmpd="sng" w="19050">
            <a:solidFill>
              <a:schemeClr val="accent1"/>
            </a:solidFill>
            <a:prstDash val="solid"/>
            <a:miter lim="800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Title only">
    <p:spTree>
      <p:nvGrpSpPr>
        <p:cNvPr id="203" name="Shape 203"/>
        <p:cNvGrpSpPr/>
        <p:nvPr/>
      </p:nvGrpSpPr>
      <p:grpSpPr>
        <a:xfrm>
          <a:off x="0" y="0"/>
          <a:ext cx="0" cy="0"/>
          <a:chOff x="0" y="0"/>
          <a:chExt cx="0" cy="0"/>
        </a:xfrm>
      </p:grpSpPr>
      <p:sp>
        <p:nvSpPr>
          <p:cNvPr id="204" name="Google Shape;204;p18"/>
          <p:cNvSpPr txBox="1"/>
          <p:nvPr>
            <p:ph type="title"/>
          </p:nvPr>
        </p:nvSpPr>
        <p:spPr>
          <a:xfrm>
            <a:off x="593725" y="547688"/>
            <a:ext cx="11002963" cy="387798"/>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18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showMasterSp="0">
  <p:cSld name="Final slide">
    <p:bg>
      <p:bgPr>
        <a:solidFill>
          <a:schemeClr val="accent2"/>
        </a:solidFill>
      </p:bgPr>
    </p:bg>
    <p:spTree>
      <p:nvGrpSpPr>
        <p:cNvPr id="205" name="Shape 205"/>
        <p:cNvGrpSpPr/>
        <p:nvPr/>
      </p:nvGrpSpPr>
      <p:grpSpPr>
        <a:xfrm>
          <a:off x="0" y="0"/>
          <a:ext cx="0" cy="0"/>
          <a:chOff x="0" y="0"/>
          <a:chExt cx="0" cy="0"/>
        </a:xfrm>
      </p:grpSpPr>
      <p:pic>
        <p:nvPicPr>
          <p:cNvPr descr="A purple light in the dark&#10;&#10;Description automatically generated" id="206" name="Google Shape;206;p19"/>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07" name="Google Shape;207;p19"/>
          <p:cNvSpPr txBox="1"/>
          <p:nvPr>
            <p:ph type="title"/>
          </p:nvPr>
        </p:nvSpPr>
        <p:spPr>
          <a:xfrm>
            <a:off x="593726" y="3429000"/>
            <a:ext cx="4381500" cy="170973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19"/>
          <p:cNvSpPr txBox="1"/>
          <p:nvPr>
            <p:ph idx="1" type="body"/>
          </p:nvPr>
        </p:nvSpPr>
        <p:spPr>
          <a:xfrm>
            <a:off x="593725" y="5486400"/>
            <a:ext cx="4381500" cy="639764"/>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accent1"/>
              </a:buClr>
              <a:buSzPts val="1400"/>
              <a:buChar char="•"/>
              <a:defRPr b="1">
                <a:solidFill>
                  <a:schemeClr val="accent1"/>
                </a:solidFill>
              </a:defRPr>
            </a:lvl2pPr>
            <a:lvl3pPr indent="-304800" lvl="2" marL="1371600" algn="l">
              <a:lnSpc>
                <a:spcPct val="110000"/>
              </a:lnSpc>
              <a:spcBef>
                <a:spcPts val="600"/>
              </a:spcBef>
              <a:spcAft>
                <a:spcPts val="0"/>
              </a:spcAft>
              <a:buClr>
                <a:schemeClr val="accent1"/>
              </a:buClr>
              <a:buSzPts val="1200"/>
              <a:buChar char="•"/>
              <a:defRPr b="1">
                <a:solidFill>
                  <a:schemeClr val="accent1"/>
                </a:solidFill>
              </a:defRPr>
            </a:lvl3pPr>
            <a:lvl4pPr indent="-298450" lvl="3" marL="1828800" algn="l">
              <a:lnSpc>
                <a:spcPct val="110000"/>
              </a:lnSpc>
              <a:spcBef>
                <a:spcPts val="600"/>
              </a:spcBef>
              <a:spcAft>
                <a:spcPts val="0"/>
              </a:spcAft>
              <a:buClr>
                <a:schemeClr val="accent1"/>
              </a:buClr>
              <a:buSzPts val="1100"/>
              <a:buChar char="•"/>
              <a:defRPr b="1">
                <a:solidFill>
                  <a:schemeClr val="accent1"/>
                </a:solidFill>
              </a:defRPr>
            </a:lvl4pPr>
            <a:lvl5pPr indent="-298450" lvl="4" marL="2286000" algn="l">
              <a:lnSpc>
                <a:spcPct val="110000"/>
              </a:lnSpc>
              <a:spcBef>
                <a:spcPts val="600"/>
              </a:spcBef>
              <a:spcAft>
                <a:spcPts val="0"/>
              </a:spcAft>
              <a:buClr>
                <a:schemeClr val="accent1"/>
              </a:buClr>
              <a:buSzPts val="1100"/>
              <a:buChar char="•"/>
              <a:defRPr b="1">
                <a:solidFill>
                  <a:schemeClr val="accen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9" name="Google Shape;209;p19"/>
          <p:cNvSpPr/>
          <p:nvPr/>
        </p:nvSpPr>
        <p:spPr>
          <a:xfrm>
            <a:off x="680117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id="210" name="Google Shape;210;p19"/>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showMasterSp="0">
  <p:cSld name="Title 1">
    <p:bg>
      <p:bgPr>
        <a:solidFill>
          <a:schemeClr val="accent2"/>
        </a:solidFill>
      </p:bgPr>
    </p:bg>
    <p:spTree>
      <p:nvGrpSpPr>
        <p:cNvPr id="215" name="Shape 215"/>
        <p:cNvGrpSpPr/>
        <p:nvPr/>
      </p:nvGrpSpPr>
      <p:grpSpPr>
        <a:xfrm>
          <a:off x="0" y="0"/>
          <a:ext cx="0" cy="0"/>
          <a:chOff x="0" y="0"/>
          <a:chExt cx="0" cy="0"/>
        </a:xfrm>
      </p:grpSpPr>
      <p:pic>
        <p:nvPicPr>
          <p:cNvPr descr="A purple light in the dark&#10;&#10;Description automatically generated" id="216" name="Google Shape;216;p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17" name="Google Shape;217;p21"/>
          <p:cNvSpPr/>
          <p:nvPr/>
        </p:nvSpPr>
        <p:spPr>
          <a:xfrm>
            <a:off x="680117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pic>
        <p:nvPicPr>
          <p:cNvPr descr="A purple dot on a black background&#10;&#10;Description automatically generated" id="218" name="Google Shape;218;p21"/>
          <p:cNvPicPr preferRelativeResize="0"/>
          <p:nvPr/>
        </p:nvPicPr>
        <p:blipFill rotWithShape="1">
          <a:blip r:embed="rId3">
            <a:alphaModFix/>
          </a:blip>
          <a:srcRect b="0" l="0" r="0" t="0"/>
          <a:stretch/>
        </p:blipFill>
        <p:spPr>
          <a:xfrm>
            <a:off x="5621482" y="544797"/>
            <a:ext cx="5982969" cy="5768407"/>
          </a:xfrm>
          <a:prstGeom prst="rect">
            <a:avLst/>
          </a:prstGeom>
          <a:noFill/>
          <a:ln>
            <a:noFill/>
          </a:ln>
        </p:spPr>
      </p:pic>
      <p:sp>
        <p:nvSpPr>
          <p:cNvPr id="219" name="Google Shape;219;p21"/>
          <p:cNvSpPr txBox="1"/>
          <p:nvPr>
            <p:ph type="title"/>
          </p:nvPr>
        </p:nvSpPr>
        <p:spPr>
          <a:xfrm>
            <a:off x="593725" y="1714500"/>
            <a:ext cx="5327700" cy="3424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21"/>
          <p:cNvSpPr txBox="1"/>
          <p:nvPr>
            <p:ph idx="1" type="body"/>
          </p:nvPr>
        </p:nvSpPr>
        <p:spPr>
          <a:xfrm>
            <a:off x="593725" y="5486400"/>
            <a:ext cx="5327700" cy="639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21" name="Google Shape;221;p21"/>
          <p:cNvPicPr preferRelativeResize="0"/>
          <p:nvPr/>
        </p:nvPicPr>
        <p:blipFill rotWithShape="1">
          <a:blip r:embed="rId4">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showMasterSp="0">
  <p:cSld name="Divider">
    <p:bg>
      <p:bgPr>
        <a:solidFill>
          <a:schemeClr val="dk1"/>
        </a:solidFill>
      </p:bgPr>
    </p:bg>
    <p:spTree>
      <p:nvGrpSpPr>
        <p:cNvPr id="222" name="Shape 222"/>
        <p:cNvGrpSpPr/>
        <p:nvPr/>
      </p:nvGrpSpPr>
      <p:grpSpPr>
        <a:xfrm>
          <a:off x="0" y="0"/>
          <a:ext cx="0" cy="0"/>
          <a:chOff x="0" y="0"/>
          <a:chExt cx="0" cy="0"/>
        </a:xfrm>
      </p:grpSpPr>
      <p:sp>
        <p:nvSpPr>
          <p:cNvPr id="223" name="Google Shape;223;p22"/>
          <p:cNvSpPr/>
          <p:nvPr/>
        </p:nvSpPr>
        <p:spPr>
          <a:xfrm>
            <a:off x="4982045" y="1925541"/>
            <a:ext cx="1092600" cy="919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224" name="Google Shape;224;p22"/>
          <p:cNvSpPr/>
          <p:nvPr/>
        </p:nvSpPr>
        <p:spPr>
          <a:xfrm>
            <a:off x="9552905" y="1925541"/>
            <a:ext cx="2639100" cy="919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sp>
        <p:nvSpPr>
          <p:cNvPr id="225" name="Google Shape;225;p22"/>
          <p:cNvSpPr/>
          <p:nvPr/>
        </p:nvSpPr>
        <p:spPr>
          <a:xfrm>
            <a:off x="4982045" y="1925541"/>
            <a:ext cx="7209900" cy="9195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pic>
        <p:nvPicPr>
          <p:cNvPr id="226" name="Google Shape;226;p22"/>
          <p:cNvPicPr preferRelativeResize="0"/>
          <p:nvPr/>
        </p:nvPicPr>
        <p:blipFill rotWithShape="1">
          <a:blip r:embed="rId2">
            <a:alphaModFix/>
          </a:blip>
          <a:srcRect b="0" l="0" r="7902" t="0"/>
          <a:stretch/>
        </p:blipFill>
        <p:spPr>
          <a:xfrm>
            <a:off x="3084525" y="63500"/>
            <a:ext cx="9107476" cy="4533900"/>
          </a:xfrm>
          <a:prstGeom prst="rect">
            <a:avLst/>
          </a:prstGeom>
          <a:noFill/>
          <a:ln>
            <a:noFill/>
          </a:ln>
        </p:spPr>
      </p:pic>
      <p:sp>
        <p:nvSpPr>
          <p:cNvPr id="227" name="Google Shape;227;p22"/>
          <p:cNvSpPr/>
          <p:nvPr/>
        </p:nvSpPr>
        <p:spPr>
          <a:xfrm rot="5400000">
            <a:off x="2329512" y="1522940"/>
            <a:ext cx="2875200" cy="3680400"/>
          </a:xfrm>
          <a:prstGeom prst="rect">
            <a:avLst/>
          </a:prstGeom>
          <a:gradFill>
            <a:gsLst>
              <a:gs pos="0">
                <a:srgbClr val="000000">
                  <a:alpha val="0"/>
                </a:srgbClr>
              </a:gs>
              <a:gs pos="51000">
                <a:schemeClr val="dk1"/>
              </a:gs>
              <a:gs pos="100000">
                <a:srgbClr val="000000">
                  <a:alpha val="65882"/>
                </a:srgbClr>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Montserrat"/>
              <a:ea typeface="Montserrat"/>
              <a:cs typeface="Montserrat"/>
              <a:sym typeface="Montserrat"/>
            </a:endParaRPr>
          </a:p>
        </p:txBody>
      </p:sp>
      <p:sp>
        <p:nvSpPr>
          <p:cNvPr id="228" name="Google Shape;228;p22"/>
          <p:cNvSpPr txBox="1"/>
          <p:nvPr>
            <p:ph type="title"/>
          </p:nvPr>
        </p:nvSpPr>
        <p:spPr>
          <a:xfrm>
            <a:off x="610244" y="3509963"/>
            <a:ext cx="10986300" cy="26163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29" name="Google Shape;229;p22"/>
          <p:cNvCxnSpPr/>
          <p:nvPr/>
        </p:nvCxnSpPr>
        <p:spPr>
          <a:xfrm>
            <a:off x="605395" y="3072407"/>
            <a:ext cx="11586600" cy="0"/>
          </a:xfrm>
          <a:prstGeom prst="straightConnector1">
            <a:avLst/>
          </a:prstGeom>
          <a:noFill/>
          <a:ln cap="flat" cmpd="sng" w="88900">
            <a:solidFill>
              <a:schemeClr val="lt1"/>
            </a:solidFill>
            <a:prstDash val="solid"/>
            <a:miter lim="800000"/>
            <a:headEnd len="sm" w="sm" type="none"/>
            <a:tailEnd len="sm" w="sm" type="none"/>
          </a:ln>
        </p:spPr>
      </p:cxnSp>
      <p:grpSp>
        <p:nvGrpSpPr>
          <p:cNvPr id="230" name="Google Shape;230;p22"/>
          <p:cNvGrpSpPr/>
          <p:nvPr/>
        </p:nvGrpSpPr>
        <p:grpSpPr>
          <a:xfrm>
            <a:off x="605395" y="1925541"/>
            <a:ext cx="4376650" cy="919485"/>
            <a:chOff x="595312" y="547688"/>
            <a:chExt cx="4376650" cy="919485"/>
          </a:xfrm>
        </p:grpSpPr>
        <p:sp>
          <p:nvSpPr>
            <p:cNvPr id="231" name="Google Shape;231;p22"/>
            <p:cNvSpPr/>
            <p:nvPr/>
          </p:nvSpPr>
          <p:spPr>
            <a:xfrm>
              <a:off x="843375" y="772319"/>
              <a:ext cx="425237" cy="470222"/>
            </a:xfrm>
            <a:custGeom>
              <a:rect b="b" l="l" r="r" t="t"/>
              <a:pathLst>
                <a:path extrusionOk="0" h="470222" w="425237">
                  <a:moveTo>
                    <a:pt x="0" y="0"/>
                  </a:moveTo>
                  <a:lnTo>
                    <a:pt x="0" y="470223"/>
                  </a:lnTo>
                  <a:lnTo>
                    <a:pt x="175295" y="470223"/>
                  </a:lnTo>
                  <a:cubicBezTo>
                    <a:pt x="247866" y="470223"/>
                    <a:pt x="308077" y="447582"/>
                    <a:pt x="356029" y="402398"/>
                  </a:cubicBezTo>
                  <a:cubicBezTo>
                    <a:pt x="402102" y="358105"/>
                    <a:pt x="425237" y="302343"/>
                    <a:pt x="425237" y="235111"/>
                  </a:cubicBezTo>
                  <a:lnTo>
                    <a:pt x="425237" y="233727"/>
                  </a:lnTo>
                  <a:cubicBezTo>
                    <a:pt x="425237" y="166990"/>
                    <a:pt x="402201" y="111525"/>
                    <a:pt x="356029" y="67132"/>
                  </a:cubicBezTo>
                  <a:cubicBezTo>
                    <a:pt x="308571" y="22344"/>
                    <a:pt x="248360" y="0"/>
                    <a:pt x="175295" y="0"/>
                  </a:cubicBezTo>
                  <a:lnTo>
                    <a:pt x="0" y="0"/>
                  </a:lnTo>
                  <a:close/>
                  <a:moveTo>
                    <a:pt x="338529" y="235111"/>
                  </a:moveTo>
                  <a:lnTo>
                    <a:pt x="338529" y="236496"/>
                  </a:lnTo>
                  <a:cubicBezTo>
                    <a:pt x="338529" y="283063"/>
                    <a:pt x="323797" y="320930"/>
                    <a:pt x="294235" y="349998"/>
                  </a:cubicBezTo>
                  <a:cubicBezTo>
                    <a:pt x="264278" y="379955"/>
                    <a:pt x="224631" y="394983"/>
                    <a:pt x="175295" y="394983"/>
                  </a:cubicBezTo>
                  <a:lnTo>
                    <a:pt x="82556" y="394983"/>
                  </a:lnTo>
                  <a:lnTo>
                    <a:pt x="82556" y="75240"/>
                  </a:lnTo>
                  <a:lnTo>
                    <a:pt x="175295" y="75240"/>
                  </a:lnTo>
                  <a:cubicBezTo>
                    <a:pt x="224137" y="75240"/>
                    <a:pt x="263685" y="90465"/>
                    <a:pt x="294235" y="120917"/>
                  </a:cubicBezTo>
                  <a:cubicBezTo>
                    <a:pt x="323797" y="150479"/>
                    <a:pt x="338529" y="188544"/>
                    <a:pt x="338529" y="23511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2" name="Google Shape;232;p22"/>
            <p:cNvSpPr/>
            <p:nvPr/>
          </p:nvSpPr>
          <p:spPr>
            <a:xfrm>
              <a:off x="1373413" y="772319"/>
              <a:ext cx="82654" cy="470222"/>
            </a:xfrm>
            <a:custGeom>
              <a:rect b="b" l="l" r="r" t="t"/>
              <a:pathLst>
                <a:path extrusionOk="0" h="470222" w="82654">
                  <a:moveTo>
                    <a:pt x="0" y="0"/>
                  </a:moveTo>
                  <a:lnTo>
                    <a:pt x="82655" y="0"/>
                  </a:lnTo>
                  <a:lnTo>
                    <a:pt x="82655" y="470223"/>
                  </a:lnTo>
                  <a:lnTo>
                    <a:pt x="0" y="47022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3" name="Google Shape;233;p22"/>
            <p:cNvSpPr/>
            <p:nvPr/>
          </p:nvSpPr>
          <p:spPr>
            <a:xfrm>
              <a:off x="1531802" y="768957"/>
              <a:ext cx="490392" cy="473584"/>
            </a:xfrm>
            <a:custGeom>
              <a:rect b="b" l="l" r="r" t="t"/>
              <a:pathLst>
                <a:path extrusionOk="0" h="473584" w="490392">
                  <a:moveTo>
                    <a:pt x="99" y="473584"/>
                  </a:moveTo>
                  <a:lnTo>
                    <a:pt x="84731" y="473584"/>
                  </a:lnTo>
                  <a:lnTo>
                    <a:pt x="133078" y="360082"/>
                  </a:lnTo>
                  <a:lnTo>
                    <a:pt x="355435" y="360082"/>
                  </a:lnTo>
                  <a:lnTo>
                    <a:pt x="403090" y="473584"/>
                  </a:lnTo>
                  <a:lnTo>
                    <a:pt x="490392" y="473584"/>
                  </a:lnTo>
                  <a:lnTo>
                    <a:pt x="283458" y="0"/>
                  </a:lnTo>
                  <a:lnTo>
                    <a:pt x="206934" y="0"/>
                  </a:lnTo>
                  <a:lnTo>
                    <a:pt x="0" y="473584"/>
                  </a:lnTo>
                  <a:close/>
                  <a:moveTo>
                    <a:pt x="325181" y="286128"/>
                  </a:moveTo>
                  <a:lnTo>
                    <a:pt x="163332" y="286128"/>
                  </a:lnTo>
                  <a:lnTo>
                    <a:pt x="243911" y="98078"/>
                  </a:lnTo>
                  <a:lnTo>
                    <a:pt x="325181" y="28612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4" name="Google Shape;234;p22"/>
            <p:cNvSpPr/>
            <p:nvPr/>
          </p:nvSpPr>
          <p:spPr>
            <a:xfrm>
              <a:off x="2052547" y="764310"/>
              <a:ext cx="440067" cy="486338"/>
            </a:xfrm>
            <a:custGeom>
              <a:rect b="b" l="l" r="r" t="t"/>
              <a:pathLst>
                <a:path extrusionOk="0" h="486338" w="440067">
                  <a:moveTo>
                    <a:pt x="130211" y="124872"/>
                  </a:moveTo>
                  <a:cubicBezTo>
                    <a:pt x="159773" y="92146"/>
                    <a:pt x="196058" y="75833"/>
                    <a:pt x="239066" y="75833"/>
                  </a:cubicBezTo>
                  <a:cubicBezTo>
                    <a:pt x="287413" y="75833"/>
                    <a:pt x="331311" y="92641"/>
                    <a:pt x="370760" y="126256"/>
                  </a:cubicBezTo>
                  <a:lnTo>
                    <a:pt x="423161" y="63771"/>
                  </a:lnTo>
                  <a:cubicBezTo>
                    <a:pt x="372540" y="21257"/>
                    <a:pt x="312328" y="0"/>
                    <a:pt x="242428" y="0"/>
                  </a:cubicBezTo>
                  <a:cubicBezTo>
                    <a:pt x="172527" y="0"/>
                    <a:pt x="114392" y="23926"/>
                    <a:pt x="67824" y="71878"/>
                  </a:cubicBezTo>
                  <a:cubicBezTo>
                    <a:pt x="22542" y="119335"/>
                    <a:pt x="0" y="176482"/>
                    <a:pt x="0" y="243120"/>
                  </a:cubicBezTo>
                  <a:lnTo>
                    <a:pt x="0" y="244504"/>
                  </a:lnTo>
                  <a:cubicBezTo>
                    <a:pt x="0" y="313910"/>
                    <a:pt x="22147" y="371254"/>
                    <a:pt x="66539" y="416438"/>
                  </a:cubicBezTo>
                  <a:cubicBezTo>
                    <a:pt x="112217" y="463005"/>
                    <a:pt x="171341" y="486338"/>
                    <a:pt x="243911" y="486338"/>
                  </a:cubicBezTo>
                  <a:cubicBezTo>
                    <a:pt x="316481" y="486338"/>
                    <a:pt x="383218" y="461918"/>
                    <a:pt x="440068" y="413076"/>
                  </a:cubicBezTo>
                  <a:lnTo>
                    <a:pt x="440068" y="215634"/>
                  </a:lnTo>
                  <a:lnTo>
                    <a:pt x="239857" y="215634"/>
                  </a:lnTo>
                  <a:lnTo>
                    <a:pt x="239857" y="287512"/>
                  </a:lnTo>
                  <a:lnTo>
                    <a:pt x="360082" y="287512"/>
                  </a:lnTo>
                  <a:lnTo>
                    <a:pt x="360082" y="375506"/>
                  </a:lnTo>
                  <a:cubicBezTo>
                    <a:pt x="328246" y="399234"/>
                    <a:pt x="290478" y="411099"/>
                    <a:pt x="246580" y="411099"/>
                  </a:cubicBezTo>
                  <a:cubicBezTo>
                    <a:pt x="199518" y="411099"/>
                    <a:pt x="160861" y="395181"/>
                    <a:pt x="130409" y="363444"/>
                  </a:cubicBezTo>
                  <a:cubicBezTo>
                    <a:pt x="101341" y="331608"/>
                    <a:pt x="86708" y="291566"/>
                    <a:pt x="86708" y="243219"/>
                  </a:cubicBezTo>
                  <a:lnTo>
                    <a:pt x="86708" y="241834"/>
                  </a:lnTo>
                  <a:cubicBezTo>
                    <a:pt x="86708" y="196651"/>
                    <a:pt x="101242" y="157697"/>
                    <a:pt x="130409" y="12497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5" name="Google Shape;235;p22"/>
            <p:cNvSpPr/>
            <p:nvPr/>
          </p:nvSpPr>
          <p:spPr>
            <a:xfrm>
              <a:off x="2599888" y="772319"/>
              <a:ext cx="409813" cy="470222"/>
            </a:xfrm>
            <a:custGeom>
              <a:rect b="b" l="l" r="r" t="t"/>
              <a:pathLst>
                <a:path extrusionOk="0" h="470222" w="409813">
                  <a:moveTo>
                    <a:pt x="76624" y="0"/>
                  </a:moveTo>
                  <a:lnTo>
                    <a:pt x="0" y="0"/>
                  </a:lnTo>
                  <a:lnTo>
                    <a:pt x="0" y="470223"/>
                  </a:lnTo>
                  <a:lnTo>
                    <a:pt x="81271" y="470223"/>
                  </a:lnTo>
                  <a:lnTo>
                    <a:pt x="81271" y="135649"/>
                  </a:lnTo>
                  <a:lnTo>
                    <a:pt x="340605" y="470223"/>
                  </a:lnTo>
                  <a:lnTo>
                    <a:pt x="409814" y="470223"/>
                  </a:lnTo>
                  <a:lnTo>
                    <a:pt x="409814" y="0"/>
                  </a:lnTo>
                  <a:lnTo>
                    <a:pt x="328444" y="0"/>
                  </a:lnTo>
                  <a:lnTo>
                    <a:pt x="328444" y="325082"/>
                  </a:lnTo>
                  <a:lnTo>
                    <a:pt x="76624"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6" name="Google Shape;236;p22"/>
            <p:cNvSpPr/>
            <p:nvPr/>
          </p:nvSpPr>
          <p:spPr>
            <a:xfrm>
              <a:off x="3130520" y="772319"/>
              <a:ext cx="351974" cy="470222"/>
            </a:xfrm>
            <a:custGeom>
              <a:rect b="b" l="l" r="r" t="t"/>
              <a:pathLst>
                <a:path extrusionOk="0" h="470222" w="351974">
                  <a:moveTo>
                    <a:pt x="348712" y="73855"/>
                  </a:moveTo>
                  <a:lnTo>
                    <a:pt x="348712" y="0"/>
                  </a:lnTo>
                  <a:lnTo>
                    <a:pt x="0" y="0"/>
                  </a:lnTo>
                  <a:lnTo>
                    <a:pt x="0" y="470223"/>
                  </a:lnTo>
                  <a:lnTo>
                    <a:pt x="351975" y="470223"/>
                  </a:lnTo>
                  <a:lnTo>
                    <a:pt x="351975" y="396367"/>
                  </a:lnTo>
                  <a:lnTo>
                    <a:pt x="82655" y="396367"/>
                  </a:lnTo>
                  <a:lnTo>
                    <a:pt x="82655" y="270012"/>
                  </a:lnTo>
                  <a:lnTo>
                    <a:pt x="318458" y="270012"/>
                  </a:lnTo>
                  <a:lnTo>
                    <a:pt x="318458" y="196157"/>
                  </a:lnTo>
                  <a:lnTo>
                    <a:pt x="82655" y="196157"/>
                  </a:lnTo>
                  <a:lnTo>
                    <a:pt x="82655" y="73855"/>
                  </a:lnTo>
                  <a:lnTo>
                    <a:pt x="348712" y="7385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7" name="Google Shape;237;p22"/>
            <p:cNvSpPr/>
            <p:nvPr/>
          </p:nvSpPr>
          <p:spPr>
            <a:xfrm>
              <a:off x="4075019" y="772319"/>
              <a:ext cx="82654" cy="470222"/>
            </a:xfrm>
            <a:custGeom>
              <a:rect b="b" l="l" r="r" t="t"/>
              <a:pathLst>
                <a:path extrusionOk="0" h="470222" w="82654">
                  <a:moveTo>
                    <a:pt x="0" y="0"/>
                  </a:moveTo>
                  <a:lnTo>
                    <a:pt x="82655" y="0"/>
                  </a:lnTo>
                  <a:lnTo>
                    <a:pt x="82655" y="470223"/>
                  </a:lnTo>
                  <a:lnTo>
                    <a:pt x="0" y="470223"/>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8" name="Google Shape;238;p22"/>
            <p:cNvSpPr/>
            <p:nvPr/>
          </p:nvSpPr>
          <p:spPr>
            <a:xfrm>
              <a:off x="4233309" y="768957"/>
              <a:ext cx="490491" cy="473584"/>
            </a:xfrm>
            <a:custGeom>
              <a:rect b="b" l="l" r="r" t="t"/>
              <a:pathLst>
                <a:path extrusionOk="0" h="473584" w="490491">
                  <a:moveTo>
                    <a:pt x="355534" y="360082"/>
                  </a:moveTo>
                  <a:lnTo>
                    <a:pt x="403189" y="473584"/>
                  </a:lnTo>
                  <a:lnTo>
                    <a:pt x="490491" y="473584"/>
                  </a:lnTo>
                  <a:lnTo>
                    <a:pt x="283558" y="0"/>
                  </a:lnTo>
                  <a:lnTo>
                    <a:pt x="206934" y="0"/>
                  </a:lnTo>
                  <a:lnTo>
                    <a:pt x="0" y="473584"/>
                  </a:lnTo>
                  <a:lnTo>
                    <a:pt x="84632" y="473584"/>
                  </a:lnTo>
                  <a:lnTo>
                    <a:pt x="132979" y="360082"/>
                  </a:lnTo>
                  <a:lnTo>
                    <a:pt x="355337" y="360082"/>
                  </a:lnTo>
                  <a:close/>
                  <a:moveTo>
                    <a:pt x="244010" y="98078"/>
                  </a:moveTo>
                  <a:lnTo>
                    <a:pt x="325280" y="286128"/>
                  </a:lnTo>
                  <a:lnTo>
                    <a:pt x="163431" y="286128"/>
                  </a:lnTo>
                  <a:lnTo>
                    <a:pt x="244010" y="98078"/>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sp>
          <p:nvSpPr>
            <p:cNvPr id="239" name="Google Shape;239;p22"/>
            <p:cNvSpPr/>
            <p:nvPr/>
          </p:nvSpPr>
          <p:spPr>
            <a:xfrm>
              <a:off x="595312" y="547688"/>
              <a:ext cx="4376650" cy="919485"/>
            </a:xfrm>
            <a:custGeom>
              <a:rect b="b" l="l" r="r" t="t"/>
              <a:pathLst>
                <a:path extrusionOk="0" h="919485" w="4376650">
                  <a:moveTo>
                    <a:pt x="3047451" y="0"/>
                  </a:moveTo>
                  <a:lnTo>
                    <a:pt x="3095798" y="69209"/>
                  </a:lnTo>
                  <a:lnTo>
                    <a:pt x="4307442" y="69209"/>
                  </a:lnTo>
                  <a:lnTo>
                    <a:pt x="4307442" y="850276"/>
                  </a:lnTo>
                  <a:lnTo>
                    <a:pt x="3493055" y="848991"/>
                  </a:lnTo>
                  <a:lnTo>
                    <a:pt x="3219088" y="454404"/>
                  </a:lnTo>
                  <a:lnTo>
                    <a:pt x="3382914" y="224631"/>
                  </a:lnTo>
                  <a:lnTo>
                    <a:pt x="3288197" y="224631"/>
                  </a:lnTo>
                  <a:lnTo>
                    <a:pt x="3170741" y="395280"/>
                  </a:lnTo>
                  <a:lnTo>
                    <a:pt x="2946307" y="69209"/>
                  </a:lnTo>
                  <a:lnTo>
                    <a:pt x="2947098" y="69209"/>
                  </a:lnTo>
                  <a:lnTo>
                    <a:pt x="2898751" y="0"/>
                  </a:lnTo>
                  <a:lnTo>
                    <a:pt x="0" y="0"/>
                  </a:lnTo>
                  <a:lnTo>
                    <a:pt x="0" y="919485"/>
                  </a:lnTo>
                  <a:lnTo>
                    <a:pt x="3305104" y="919485"/>
                  </a:lnTo>
                  <a:lnTo>
                    <a:pt x="3256757" y="850276"/>
                  </a:lnTo>
                  <a:lnTo>
                    <a:pt x="69209" y="850276"/>
                  </a:lnTo>
                  <a:lnTo>
                    <a:pt x="69209" y="69209"/>
                  </a:lnTo>
                  <a:lnTo>
                    <a:pt x="2864839" y="69209"/>
                  </a:lnTo>
                  <a:lnTo>
                    <a:pt x="3119625" y="455689"/>
                  </a:lnTo>
                  <a:lnTo>
                    <a:pt x="2949669" y="694854"/>
                  </a:lnTo>
                  <a:lnTo>
                    <a:pt x="3044386" y="694854"/>
                  </a:lnTo>
                  <a:lnTo>
                    <a:pt x="3167973" y="515505"/>
                  </a:lnTo>
                  <a:lnTo>
                    <a:pt x="3405951" y="848793"/>
                  </a:lnTo>
                  <a:lnTo>
                    <a:pt x="3405951" y="848793"/>
                  </a:lnTo>
                  <a:lnTo>
                    <a:pt x="3453903" y="919485"/>
                  </a:lnTo>
                  <a:lnTo>
                    <a:pt x="4376651" y="919485"/>
                  </a:lnTo>
                  <a:lnTo>
                    <a:pt x="4376651" y="0"/>
                  </a:lnTo>
                  <a:lnTo>
                    <a:pt x="3047451"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Montserrat"/>
                <a:ea typeface="Montserrat"/>
                <a:cs typeface="Montserrat"/>
                <a:sym typeface="Montserrat"/>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 Divider">
  <p:cSld name="Time Divider">
    <p:spTree>
      <p:nvGrpSpPr>
        <p:cNvPr id="240" name="Shape 240"/>
        <p:cNvGrpSpPr/>
        <p:nvPr/>
      </p:nvGrpSpPr>
      <p:grpSpPr>
        <a:xfrm>
          <a:off x="0" y="0"/>
          <a:ext cx="0" cy="0"/>
          <a:chOff x="0" y="0"/>
          <a:chExt cx="0" cy="0"/>
        </a:xfrm>
      </p:grpSpPr>
      <p:sp>
        <p:nvSpPr>
          <p:cNvPr id="241" name="Google Shape;241;p23"/>
          <p:cNvSpPr/>
          <p:nvPr/>
        </p:nvSpPr>
        <p:spPr>
          <a:xfrm>
            <a:off x="593723" y="871671"/>
            <a:ext cx="8372400" cy="4981500"/>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Nunito"/>
              <a:ea typeface="Nunito"/>
              <a:cs typeface="Nunito"/>
              <a:sym typeface="Nunito"/>
            </a:endParaRPr>
          </a:p>
        </p:txBody>
      </p:sp>
      <p:sp>
        <p:nvSpPr>
          <p:cNvPr id="242" name="Google Shape;242;p23"/>
          <p:cNvSpPr txBox="1"/>
          <p:nvPr>
            <p:ph type="title"/>
          </p:nvPr>
        </p:nvSpPr>
        <p:spPr>
          <a:xfrm>
            <a:off x="1192214" y="1535113"/>
            <a:ext cx="3774900" cy="3603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4400"/>
              <a:buFont typeface="Montserrat"/>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43" name="Google Shape;243;p23"/>
          <p:cNvGrpSpPr/>
          <p:nvPr/>
        </p:nvGrpSpPr>
        <p:grpSpPr>
          <a:xfrm>
            <a:off x="5331678" y="14"/>
            <a:ext cx="6860622" cy="7310009"/>
            <a:chOff x="3964292" y="408271"/>
            <a:chExt cx="4734402" cy="5044517"/>
          </a:xfrm>
        </p:grpSpPr>
        <p:sp>
          <p:nvSpPr>
            <p:cNvPr id="244" name="Google Shape;244;p23"/>
            <p:cNvSpPr/>
            <p:nvPr/>
          </p:nvSpPr>
          <p:spPr>
            <a:xfrm flipH="1" rot="5400000">
              <a:off x="5583797" y="2616741"/>
              <a:ext cx="2863891" cy="2184642"/>
            </a:xfrm>
            <a:custGeom>
              <a:rect b="b" l="l" r="r" t="t"/>
              <a:pathLst>
                <a:path extrusionOk="0" h="2912856" w="3818521">
                  <a:moveTo>
                    <a:pt x="3485330" y="2039699"/>
                  </a:moveTo>
                  <a:lnTo>
                    <a:pt x="0" y="2039699"/>
                  </a:lnTo>
                  <a:lnTo>
                    <a:pt x="0" y="2912856"/>
                  </a:lnTo>
                  <a:lnTo>
                    <a:pt x="651570" y="2905430"/>
                  </a:lnTo>
                  <a:lnTo>
                    <a:pt x="651570" y="2691268"/>
                  </a:lnTo>
                  <a:lnTo>
                    <a:pt x="2258362" y="2691268"/>
                  </a:lnTo>
                  <a:close/>
                  <a:moveTo>
                    <a:pt x="3818521" y="734718"/>
                  </a:moveTo>
                  <a:lnTo>
                    <a:pt x="3751197" y="0"/>
                  </a:lnTo>
                  <a:lnTo>
                    <a:pt x="2824985" y="623693"/>
                  </a:lnTo>
                  <a:lnTo>
                    <a:pt x="2824985" y="2003001"/>
                  </a:lnTo>
                  <a:lnTo>
                    <a:pt x="2824987" y="2003000"/>
                  </a:lnTo>
                  <a:lnTo>
                    <a:pt x="2824987" y="2009865"/>
                  </a:lnTo>
                  <a:lnTo>
                    <a:pt x="2824987" y="2039698"/>
                  </a:lnTo>
                  <a:lnTo>
                    <a:pt x="3485333" y="2039698"/>
                  </a:lnTo>
                  <a:lnTo>
                    <a:pt x="3485333" y="2009865"/>
                  </a:lnTo>
                  <a:lnTo>
                    <a:pt x="3485333" y="1645890"/>
                  </a:lnTo>
                  <a:lnTo>
                    <a:pt x="3487362" y="1644793"/>
                  </a:lnTo>
                  <a:lnTo>
                    <a:pt x="3487362" y="955137"/>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pic>
          <p:nvPicPr>
            <p:cNvPr descr="A close up of a sand dune&#10;&#10;Description automatically generated" id="245" name="Google Shape;245;p23"/>
            <p:cNvPicPr preferRelativeResize="0"/>
            <p:nvPr/>
          </p:nvPicPr>
          <p:blipFill rotWithShape="1">
            <a:blip r:embed="rId2">
              <a:alphaModFix/>
            </a:blip>
            <a:srcRect b="0" l="30840" r="42776" t="0"/>
            <a:stretch/>
          </p:blipFill>
          <p:spPr>
            <a:xfrm>
              <a:off x="6125641" y="2372711"/>
              <a:ext cx="1155941" cy="638176"/>
            </a:xfrm>
            <a:prstGeom prst="rect">
              <a:avLst/>
            </a:prstGeom>
            <a:noFill/>
            <a:ln>
              <a:noFill/>
            </a:ln>
          </p:spPr>
        </p:pic>
        <p:pic>
          <p:nvPicPr>
            <p:cNvPr descr="A close up of a sand dune&#10;&#10;Description automatically generated" id="246" name="Google Shape;246;p23"/>
            <p:cNvPicPr preferRelativeResize="0"/>
            <p:nvPr/>
          </p:nvPicPr>
          <p:blipFill rotWithShape="1">
            <a:blip r:embed="rId2">
              <a:alphaModFix/>
            </a:blip>
            <a:srcRect b="0" l="26289" r="36584" t="0"/>
            <a:stretch/>
          </p:blipFill>
          <p:spPr>
            <a:xfrm>
              <a:off x="6246004" y="2082974"/>
              <a:ext cx="1626538" cy="638176"/>
            </a:xfrm>
            <a:prstGeom prst="rect">
              <a:avLst/>
            </a:prstGeom>
            <a:noFill/>
            <a:ln>
              <a:noFill/>
            </a:ln>
          </p:spPr>
        </p:pic>
        <p:pic>
          <p:nvPicPr>
            <p:cNvPr descr="A pile of white powder&#10;&#10;Description automatically generated" id="247" name="Google Shape;247;p23"/>
            <p:cNvPicPr preferRelativeResize="0"/>
            <p:nvPr/>
          </p:nvPicPr>
          <p:blipFill rotWithShape="1">
            <a:blip r:embed="rId3">
              <a:alphaModFix/>
            </a:blip>
            <a:srcRect b="17406" l="27124" r="27119" t="6715"/>
            <a:stretch/>
          </p:blipFill>
          <p:spPr>
            <a:xfrm>
              <a:off x="4307133" y="2770789"/>
              <a:ext cx="2032037" cy="2249059"/>
            </a:xfrm>
            <a:prstGeom prst="rect">
              <a:avLst/>
            </a:prstGeom>
            <a:noFill/>
            <a:ln>
              <a:noFill/>
            </a:ln>
          </p:spPr>
        </p:pic>
        <p:sp>
          <p:nvSpPr>
            <p:cNvPr id="248" name="Google Shape;248;p23"/>
            <p:cNvSpPr/>
            <p:nvPr/>
          </p:nvSpPr>
          <p:spPr>
            <a:xfrm>
              <a:off x="6084713" y="408271"/>
              <a:ext cx="2613981" cy="2613983"/>
            </a:xfrm>
            <a:custGeom>
              <a:rect b="b" l="l" r="r" t="t"/>
              <a:pathLst>
                <a:path extrusionOk="0" h="1558261" w="1558260">
                  <a:moveTo>
                    <a:pt x="0" y="1558261"/>
                  </a:moveTo>
                  <a:lnTo>
                    <a:pt x="0" y="0"/>
                  </a:lnTo>
                  <a:lnTo>
                    <a:pt x="1558261" y="0"/>
                  </a:lnTo>
                  <a:lnTo>
                    <a:pt x="1558261" y="621280"/>
                  </a:lnTo>
                  <a:lnTo>
                    <a:pt x="927317" y="1558261"/>
                  </a:lnTo>
                  <a:lnTo>
                    <a:pt x="310640" y="1558261"/>
                  </a:lnTo>
                  <a:lnTo>
                    <a:pt x="470792" y="1262118"/>
                  </a:lnTo>
                  <a:lnTo>
                    <a:pt x="779131" y="1262118"/>
                  </a:lnTo>
                  <a:lnTo>
                    <a:pt x="1257286" y="543735"/>
                  </a:lnTo>
                  <a:lnTo>
                    <a:pt x="1257286" y="291311"/>
                  </a:lnTo>
                  <a:lnTo>
                    <a:pt x="291311" y="291311"/>
                  </a:lnTo>
                  <a:lnTo>
                    <a:pt x="291311" y="1009694"/>
                  </a:lnTo>
                  <a:lnTo>
                    <a:pt x="0" y="1558261"/>
                  </a:ln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p:txBody>
        </p:sp>
        <p:sp>
          <p:nvSpPr>
            <p:cNvPr id="249" name="Google Shape;249;p23"/>
            <p:cNvSpPr/>
            <p:nvPr/>
          </p:nvSpPr>
          <p:spPr>
            <a:xfrm rot="-5400000">
              <a:off x="3964293" y="2529042"/>
              <a:ext cx="2614459" cy="2614457"/>
            </a:xfrm>
            <a:custGeom>
              <a:rect b="b" l="l" r="r" t="t"/>
              <a:pathLst>
                <a:path extrusionOk="0" h="3149948" w="3149950">
                  <a:moveTo>
                    <a:pt x="3149950" y="2085369"/>
                  </a:moveTo>
                  <a:lnTo>
                    <a:pt x="3149950" y="2555172"/>
                  </a:lnTo>
                  <a:lnTo>
                    <a:pt x="2553147" y="2555172"/>
                  </a:lnTo>
                  <a:lnTo>
                    <a:pt x="2553147" y="2199259"/>
                  </a:lnTo>
                  <a:lnTo>
                    <a:pt x="2551309" y="2198265"/>
                  </a:lnTo>
                  <a:lnTo>
                    <a:pt x="2551310" y="1574973"/>
                  </a:lnTo>
                  <a:lnTo>
                    <a:pt x="1099134" y="608406"/>
                  </a:lnTo>
                  <a:lnTo>
                    <a:pt x="588871" y="608406"/>
                  </a:lnTo>
                  <a:lnTo>
                    <a:pt x="588871" y="2561077"/>
                  </a:lnTo>
                  <a:lnTo>
                    <a:pt x="2041047" y="2561077"/>
                  </a:lnTo>
                  <a:lnTo>
                    <a:pt x="3149948" y="3149948"/>
                  </a:lnTo>
                  <a:lnTo>
                    <a:pt x="0" y="3149948"/>
                  </a:lnTo>
                  <a:lnTo>
                    <a:pt x="0" y="0"/>
                  </a:lnTo>
                  <a:lnTo>
                    <a:pt x="1255887" y="0"/>
                  </a:lnTo>
                  <a:lnTo>
                    <a:pt x="3149948" y="1275422"/>
                  </a:lnTo>
                  <a:lnTo>
                    <a:pt x="3149948" y="2085369"/>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nvGrpSpPr>
            <p:cNvPr id="250" name="Google Shape;250;p23"/>
            <p:cNvGrpSpPr/>
            <p:nvPr/>
          </p:nvGrpSpPr>
          <p:grpSpPr>
            <a:xfrm flipH="1">
              <a:off x="6577931" y="2527236"/>
              <a:ext cx="495285" cy="495202"/>
              <a:chOff x="7535934" y="3096835"/>
              <a:chExt cx="596801" cy="596701"/>
            </a:xfrm>
          </p:grpSpPr>
          <p:sp>
            <p:nvSpPr>
              <p:cNvPr id="251" name="Google Shape;251;p23"/>
              <p:cNvSpPr/>
              <p:nvPr/>
            </p:nvSpPr>
            <p:spPr>
              <a:xfrm rot="-5400000">
                <a:off x="7522434" y="3110336"/>
                <a:ext cx="596700" cy="569700"/>
              </a:xfrm>
              <a:prstGeom prst="rtTriangle">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sp>
            <p:nvSpPr>
              <p:cNvPr id="252" name="Google Shape;252;p23"/>
              <p:cNvSpPr/>
              <p:nvPr/>
            </p:nvSpPr>
            <p:spPr>
              <a:xfrm rot="-5400000">
                <a:off x="7599485" y="3160285"/>
                <a:ext cx="596700" cy="4698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pic>
          <p:nvPicPr>
            <p:cNvPr descr="A close-up of a cloud of sand&#10;&#10;Description automatically generated" id="253" name="Google Shape;253;p23"/>
            <p:cNvPicPr preferRelativeResize="0"/>
            <p:nvPr/>
          </p:nvPicPr>
          <p:blipFill rotWithShape="1">
            <a:blip r:embed="rId4">
              <a:alphaModFix/>
            </a:blip>
            <a:srcRect b="0" l="0" r="1941" t="0"/>
            <a:stretch/>
          </p:blipFill>
          <p:spPr>
            <a:xfrm flipH="1" rot="-3908686">
              <a:off x="4303643" y="2656560"/>
              <a:ext cx="3164910" cy="1915547"/>
            </a:xfrm>
            <a:custGeom>
              <a:rect b="b" l="l" r="r" t="t"/>
              <a:pathLst>
                <a:path extrusionOk="0" h="2556051" w="4223166">
                  <a:moveTo>
                    <a:pt x="0" y="0"/>
                  </a:moveTo>
                  <a:lnTo>
                    <a:pt x="0" y="2556050"/>
                  </a:lnTo>
                  <a:lnTo>
                    <a:pt x="3036095" y="2556051"/>
                  </a:lnTo>
                  <a:lnTo>
                    <a:pt x="4223166" y="0"/>
                  </a:lnTo>
                  <a:close/>
                </a:path>
              </a:pathLst>
            </a:custGeom>
            <a:noFill/>
            <a:ln>
              <a:noFill/>
            </a:ln>
          </p:spPr>
        </p:pic>
        <p:sp>
          <p:nvSpPr>
            <p:cNvPr id="254" name="Google Shape;254;p23"/>
            <p:cNvSpPr/>
            <p:nvPr/>
          </p:nvSpPr>
          <p:spPr>
            <a:xfrm rot="-5400000">
              <a:off x="5578353" y="2538068"/>
              <a:ext cx="495300" cy="473100"/>
            </a:xfrm>
            <a:prstGeom prst="rtTriangle">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sp>
          <p:nvSpPr>
            <p:cNvPr id="255" name="Google Shape;255;p23"/>
            <p:cNvSpPr/>
            <p:nvPr/>
          </p:nvSpPr>
          <p:spPr>
            <a:xfrm>
              <a:off x="6084713" y="1740525"/>
              <a:ext cx="488677" cy="1281743"/>
            </a:xfrm>
            <a:custGeom>
              <a:rect b="b" l="l" r="r" t="t"/>
              <a:pathLst>
                <a:path extrusionOk="0" h="1708991" w="651569">
                  <a:moveTo>
                    <a:pt x="651569" y="0"/>
                  </a:moveTo>
                  <a:lnTo>
                    <a:pt x="651569" y="482023"/>
                  </a:lnTo>
                  <a:lnTo>
                    <a:pt x="0" y="1708991"/>
                  </a:lnTo>
                  <a:lnTo>
                    <a:pt x="0" y="56525"/>
                  </a:lnTo>
                  <a:close/>
                </a:path>
              </a:pathLst>
            </a:custGeom>
            <a:solidFill>
              <a:schemeClr val="dk1"/>
            </a:solid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Nunito"/>
                <a:ea typeface="Nunito"/>
                <a:cs typeface="Nunito"/>
                <a:sym typeface="Nunito"/>
              </a:endParaRPr>
            </a:p>
          </p:txBody>
        </p:sp>
        <p:sp>
          <p:nvSpPr>
            <p:cNvPr id="256" name="Google Shape;256;p23"/>
            <p:cNvSpPr/>
            <p:nvPr/>
          </p:nvSpPr>
          <p:spPr>
            <a:xfrm rot="-5400000">
              <a:off x="3717459" y="2775874"/>
              <a:ext cx="2614459" cy="2120793"/>
            </a:xfrm>
            <a:custGeom>
              <a:rect b="b" l="l" r="r" t="t"/>
              <a:pathLst>
                <a:path extrusionOk="0" h="2555172" w="3149950">
                  <a:moveTo>
                    <a:pt x="3149950" y="2085369"/>
                  </a:moveTo>
                  <a:lnTo>
                    <a:pt x="3149950" y="2555172"/>
                  </a:lnTo>
                  <a:lnTo>
                    <a:pt x="2553147" y="2555172"/>
                  </a:lnTo>
                  <a:cubicBezTo>
                    <a:pt x="2552535" y="2228439"/>
                    <a:pt x="2551922" y="1901706"/>
                    <a:pt x="2551310" y="1574973"/>
                  </a:cubicBezTo>
                  <a:lnTo>
                    <a:pt x="1099134" y="608406"/>
                  </a:lnTo>
                  <a:lnTo>
                    <a:pt x="588871" y="608406"/>
                  </a:lnTo>
                  <a:lnTo>
                    <a:pt x="588871" y="2006421"/>
                  </a:lnTo>
                  <a:lnTo>
                    <a:pt x="0" y="1826257"/>
                  </a:lnTo>
                  <a:lnTo>
                    <a:pt x="0" y="0"/>
                  </a:lnTo>
                  <a:lnTo>
                    <a:pt x="1255887" y="0"/>
                  </a:lnTo>
                  <a:lnTo>
                    <a:pt x="3149948" y="1275422"/>
                  </a:lnTo>
                  <a:lnTo>
                    <a:pt x="3149948" y="2085369"/>
                  </a:lnTo>
                  <a:lnTo>
                    <a:pt x="3149950" y="2085369"/>
                  </a:lnTo>
                  <a:close/>
                </a:path>
              </a:pathLst>
            </a:custGeom>
            <a:solidFill>
              <a:schemeClr val="dk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Nunito"/>
                <a:ea typeface="Nunito"/>
                <a:cs typeface="Nunito"/>
                <a:sym typeface="Nunito"/>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2" showMasterSp="0">
  <p:cSld name="Divider 2">
    <p:bg>
      <p:bgPr>
        <a:solidFill>
          <a:schemeClr val="accent2"/>
        </a:solidFill>
      </p:bgPr>
    </p:bg>
    <p:spTree>
      <p:nvGrpSpPr>
        <p:cNvPr id="257" name="Shape 257"/>
        <p:cNvGrpSpPr/>
        <p:nvPr/>
      </p:nvGrpSpPr>
      <p:grpSpPr>
        <a:xfrm>
          <a:off x="0" y="0"/>
          <a:ext cx="0" cy="0"/>
          <a:chOff x="0" y="0"/>
          <a:chExt cx="0" cy="0"/>
        </a:xfrm>
      </p:grpSpPr>
      <p:sp>
        <p:nvSpPr>
          <p:cNvPr id="258" name="Google Shape;258;p24"/>
          <p:cNvSpPr/>
          <p:nvPr/>
        </p:nvSpPr>
        <p:spPr>
          <a:xfrm>
            <a:off x="0" y="0"/>
            <a:ext cx="12192000" cy="6858000"/>
          </a:xfrm>
          <a:custGeom>
            <a:rect b="b" l="l" r="r" t="t"/>
            <a:pathLst>
              <a:path extrusionOk="0" h="6858000" w="12192000">
                <a:moveTo>
                  <a:pt x="7330012" y="0"/>
                </a:moveTo>
                <a:lnTo>
                  <a:pt x="12192000" y="0"/>
                </a:lnTo>
                <a:lnTo>
                  <a:pt x="12192000" y="6858000"/>
                </a:lnTo>
                <a:lnTo>
                  <a:pt x="12170298" y="6858000"/>
                </a:lnTo>
                <a:lnTo>
                  <a:pt x="9741590" y="3359992"/>
                </a:lnTo>
                <a:lnTo>
                  <a:pt x="11859108" y="390101"/>
                </a:lnTo>
                <a:lnTo>
                  <a:pt x="10634857" y="390101"/>
                </a:lnTo>
                <a:lnTo>
                  <a:pt x="9116686" y="2595795"/>
                </a:lnTo>
                <a:close/>
                <a:moveTo>
                  <a:pt x="0" y="0"/>
                </a:moveTo>
                <a:lnTo>
                  <a:pt x="6229984" y="0"/>
                </a:lnTo>
                <a:lnTo>
                  <a:pt x="8456002" y="3376605"/>
                </a:lnTo>
                <a:lnTo>
                  <a:pt x="6259253" y="6467898"/>
                </a:lnTo>
                <a:lnTo>
                  <a:pt x="7483506" y="6467898"/>
                </a:lnTo>
                <a:lnTo>
                  <a:pt x="9080905" y="4149748"/>
                </a:lnTo>
                <a:lnTo>
                  <a:pt x="11014679" y="6858000"/>
                </a:lnTo>
                <a:lnTo>
                  <a:pt x="0"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descr="A collage of people's faces&#10;&#10;Description automatically generated" id="259" name="Google Shape;259;p24"/>
          <p:cNvPicPr preferRelativeResize="0"/>
          <p:nvPr/>
        </p:nvPicPr>
        <p:blipFill rotWithShape="1">
          <a:blip r:embed="rId2">
            <a:alphaModFix amt="9000"/>
          </a:blip>
          <a:srcRect b="0" l="5436" r="5436" t="0"/>
          <a:stretch/>
        </p:blipFill>
        <p:spPr>
          <a:xfrm>
            <a:off x="0" y="0"/>
            <a:ext cx="12192000" cy="6857999"/>
          </a:xfrm>
          <a:prstGeom prst="rect">
            <a:avLst/>
          </a:prstGeom>
          <a:noFill/>
          <a:ln>
            <a:noFill/>
          </a:ln>
        </p:spPr>
      </p:pic>
      <p:sp>
        <p:nvSpPr>
          <p:cNvPr id="260" name="Google Shape;260;p24"/>
          <p:cNvSpPr txBox="1"/>
          <p:nvPr>
            <p:ph type="title"/>
          </p:nvPr>
        </p:nvSpPr>
        <p:spPr>
          <a:xfrm>
            <a:off x="593725" y="1714500"/>
            <a:ext cx="5327700" cy="3424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24"/>
          <p:cNvSpPr txBox="1"/>
          <p:nvPr>
            <p:ph idx="1" type="body"/>
          </p:nvPr>
        </p:nvSpPr>
        <p:spPr>
          <a:xfrm>
            <a:off x="593725" y="5486400"/>
            <a:ext cx="5327700" cy="639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2" name="Google Shape;262;p24"/>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3" showMasterSp="0">
  <p:cSld name="Divider 3">
    <p:bg>
      <p:bgPr>
        <a:solidFill>
          <a:schemeClr val="accent1"/>
        </a:solidFill>
      </p:bgPr>
    </p:bg>
    <p:spTree>
      <p:nvGrpSpPr>
        <p:cNvPr id="263" name="Shape 263"/>
        <p:cNvGrpSpPr/>
        <p:nvPr/>
      </p:nvGrpSpPr>
      <p:grpSpPr>
        <a:xfrm>
          <a:off x="0" y="0"/>
          <a:ext cx="0" cy="0"/>
          <a:chOff x="0" y="0"/>
          <a:chExt cx="0" cy="0"/>
        </a:xfrm>
      </p:grpSpPr>
      <p:sp>
        <p:nvSpPr>
          <p:cNvPr id="264" name="Google Shape;264;p25"/>
          <p:cNvSpPr/>
          <p:nvPr/>
        </p:nvSpPr>
        <p:spPr>
          <a:xfrm>
            <a:off x="0" y="0"/>
            <a:ext cx="12192000" cy="6858000"/>
          </a:xfrm>
          <a:custGeom>
            <a:rect b="b" l="l" r="r" t="t"/>
            <a:pathLst>
              <a:path extrusionOk="0" h="6858000" w="12192000">
                <a:moveTo>
                  <a:pt x="7330012" y="0"/>
                </a:moveTo>
                <a:lnTo>
                  <a:pt x="12192000" y="0"/>
                </a:lnTo>
                <a:lnTo>
                  <a:pt x="12192000" y="6858000"/>
                </a:lnTo>
                <a:lnTo>
                  <a:pt x="12170298" y="6858000"/>
                </a:lnTo>
                <a:lnTo>
                  <a:pt x="9741590" y="3359992"/>
                </a:lnTo>
                <a:lnTo>
                  <a:pt x="11859108" y="390101"/>
                </a:lnTo>
                <a:lnTo>
                  <a:pt x="10634857" y="390101"/>
                </a:lnTo>
                <a:lnTo>
                  <a:pt x="9116686" y="2595795"/>
                </a:lnTo>
                <a:close/>
                <a:moveTo>
                  <a:pt x="0" y="0"/>
                </a:moveTo>
                <a:lnTo>
                  <a:pt x="6229984" y="0"/>
                </a:lnTo>
                <a:lnTo>
                  <a:pt x="8456002" y="3376605"/>
                </a:lnTo>
                <a:lnTo>
                  <a:pt x="6259253" y="6467898"/>
                </a:lnTo>
                <a:lnTo>
                  <a:pt x="7483506" y="6467898"/>
                </a:lnTo>
                <a:lnTo>
                  <a:pt x="9080905" y="4149748"/>
                </a:lnTo>
                <a:lnTo>
                  <a:pt x="11014679" y="6858000"/>
                </a:lnTo>
                <a:lnTo>
                  <a:pt x="0" y="6858000"/>
                </a:ln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descr="A collage of people's faces&#10;&#10;Description automatically generated" id="265" name="Google Shape;265;p25"/>
          <p:cNvPicPr preferRelativeResize="0"/>
          <p:nvPr/>
        </p:nvPicPr>
        <p:blipFill rotWithShape="1">
          <a:blip r:embed="rId2">
            <a:alphaModFix amt="9000"/>
          </a:blip>
          <a:srcRect b="0" l="5436" r="5436" t="0"/>
          <a:stretch/>
        </p:blipFill>
        <p:spPr>
          <a:xfrm>
            <a:off x="0" y="0"/>
            <a:ext cx="12192000" cy="6857999"/>
          </a:xfrm>
          <a:prstGeom prst="rect">
            <a:avLst/>
          </a:prstGeom>
          <a:noFill/>
          <a:ln>
            <a:noFill/>
          </a:ln>
        </p:spPr>
      </p:pic>
      <p:sp>
        <p:nvSpPr>
          <p:cNvPr id="266" name="Google Shape;266;p25"/>
          <p:cNvSpPr txBox="1"/>
          <p:nvPr>
            <p:ph type="title"/>
          </p:nvPr>
        </p:nvSpPr>
        <p:spPr>
          <a:xfrm>
            <a:off x="593725" y="1714500"/>
            <a:ext cx="5327700" cy="34242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5"/>
          <p:cNvSpPr txBox="1"/>
          <p:nvPr>
            <p:ph idx="1" type="body"/>
          </p:nvPr>
        </p:nvSpPr>
        <p:spPr>
          <a:xfrm>
            <a:off x="593725" y="5486400"/>
            <a:ext cx="5327700" cy="639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b="1">
                <a:solidFill>
                  <a:schemeClr val="lt1"/>
                </a:solidFill>
              </a:defRPr>
            </a:lvl1pPr>
            <a:lvl2pPr indent="-317500" lvl="1" marL="914400" algn="l">
              <a:lnSpc>
                <a:spcPct val="110000"/>
              </a:lnSpc>
              <a:spcBef>
                <a:spcPts val="600"/>
              </a:spcBef>
              <a:spcAft>
                <a:spcPts val="0"/>
              </a:spcAft>
              <a:buClr>
                <a:schemeClr val="lt1"/>
              </a:buClr>
              <a:buSzPts val="1400"/>
              <a:buChar char="•"/>
              <a:defRPr b="1">
                <a:solidFill>
                  <a:schemeClr val="lt1"/>
                </a:solidFill>
              </a:defRPr>
            </a:lvl2pPr>
            <a:lvl3pPr indent="-304800" lvl="2" marL="1371600" algn="l">
              <a:lnSpc>
                <a:spcPct val="110000"/>
              </a:lnSpc>
              <a:spcBef>
                <a:spcPts val="600"/>
              </a:spcBef>
              <a:spcAft>
                <a:spcPts val="0"/>
              </a:spcAft>
              <a:buClr>
                <a:schemeClr val="lt1"/>
              </a:buClr>
              <a:buSzPts val="1200"/>
              <a:buChar char="•"/>
              <a:defRPr b="1">
                <a:solidFill>
                  <a:schemeClr val="lt1"/>
                </a:solidFill>
              </a:defRPr>
            </a:lvl3pPr>
            <a:lvl4pPr indent="-298450" lvl="3" marL="1828800" algn="l">
              <a:lnSpc>
                <a:spcPct val="110000"/>
              </a:lnSpc>
              <a:spcBef>
                <a:spcPts val="600"/>
              </a:spcBef>
              <a:spcAft>
                <a:spcPts val="0"/>
              </a:spcAft>
              <a:buClr>
                <a:schemeClr val="lt1"/>
              </a:buClr>
              <a:buSzPts val="1100"/>
              <a:buChar char="•"/>
              <a:defRPr b="1">
                <a:solidFill>
                  <a:schemeClr val="lt1"/>
                </a:solidFill>
              </a:defRPr>
            </a:lvl4pPr>
            <a:lvl5pPr indent="-298450" lvl="4" marL="2286000" algn="l">
              <a:lnSpc>
                <a:spcPct val="110000"/>
              </a:lnSpc>
              <a:spcBef>
                <a:spcPts val="600"/>
              </a:spcBef>
              <a:spcAft>
                <a:spcPts val="0"/>
              </a:spcAft>
              <a:buClr>
                <a:schemeClr val="lt1"/>
              </a:buClr>
              <a:buSzPts val="1100"/>
              <a:buChar char="•"/>
              <a:defRPr b="1">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68" name="Google Shape;268;p25"/>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ext blocks">
  <p:cSld name="2 text blocks">
    <p:spTree>
      <p:nvGrpSpPr>
        <p:cNvPr id="269" name="Shape 269"/>
        <p:cNvGrpSpPr/>
        <p:nvPr/>
      </p:nvGrpSpPr>
      <p:grpSpPr>
        <a:xfrm>
          <a:off x="0" y="0"/>
          <a:ext cx="0" cy="0"/>
          <a:chOff x="0" y="0"/>
          <a:chExt cx="0" cy="0"/>
        </a:xfrm>
      </p:grpSpPr>
      <p:sp>
        <p:nvSpPr>
          <p:cNvPr id="270" name="Google Shape;270;p26"/>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26"/>
          <p:cNvSpPr txBox="1"/>
          <p:nvPr>
            <p:ph idx="1" type="body"/>
          </p:nvPr>
        </p:nvSpPr>
        <p:spPr>
          <a:xfrm>
            <a:off x="593725" y="2522537"/>
            <a:ext cx="5327700" cy="36036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2" name="Google Shape;272;p26"/>
          <p:cNvSpPr txBox="1"/>
          <p:nvPr>
            <p:ph idx="2" type="body"/>
          </p:nvPr>
        </p:nvSpPr>
        <p:spPr>
          <a:xfrm>
            <a:off x="6270627" y="2522537"/>
            <a:ext cx="5327700" cy="36036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3" name="Google Shape;273;p26"/>
          <p:cNvSpPr txBox="1"/>
          <p:nvPr>
            <p:ph idx="3" type="body"/>
          </p:nvPr>
        </p:nvSpPr>
        <p:spPr>
          <a:xfrm>
            <a:off x="593725" y="2171701"/>
            <a:ext cx="53277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4" name="Google Shape;274;p26"/>
          <p:cNvSpPr txBox="1"/>
          <p:nvPr>
            <p:ph idx="4" type="body"/>
          </p:nvPr>
        </p:nvSpPr>
        <p:spPr>
          <a:xfrm>
            <a:off x="6270627" y="2171701"/>
            <a:ext cx="53277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spTree>
      <p:nvGrpSpPr>
        <p:cNvPr id="275" name="Shape 275"/>
        <p:cNvGrpSpPr/>
        <p:nvPr/>
      </p:nvGrpSpPr>
      <p:grpSpPr>
        <a:xfrm>
          <a:off x="0" y="0"/>
          <a:ext cx="0" cy="0"/>
          <a:chOff x="0" y="0"/>
          <a:chExt cx="0" cy="0"/>
        </a:xfrm>
      </p:grpSpPr>
      <p:sp>
        <p:nvSpPr>
          <p:cNvPr id="276" name="Google Shape;276;p27"/>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7" name="Google Shape;277;p27"/>
          <p:cNvSpPr txBox="1"/>
          <p:nvPr>
            <p:ph idx="1" type="body"/>
          </p:nvPr>
        </p:nvSpPr>
        <p:spPr>
          <a:xfrm>
            <a:off x="593725" y="1378745"/>
            <a:ext cx="11004600" cy="4747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icture">
  <p:cSld name="Text + Picture">
    <p:spTree>
      <p:nvGrpSpPr>
        <p:cNvPr id="278" name="Shape 278"/>
        <p:cNvGrpSpPr/>
        <p:nvPr/>
      </p:nvGrpSpPr>
      <p:grpSpPr>
        <a:xfrm>
          <a:off x="0" y="0"/>
          <a:ext cx="0" cy="0"/>
          <a:chOff x="0" y="0"/>
          <a:chExt cx="0" cy="0"/>
        </a:xfrm>
      </p:grpSpPr>
      <p:sp>
        <p:nvSpPr>
          <p:cNvPr id="279" name="Google Shape;279;p28"/>
          <p:cNvSpPr txBox="1"/>
          <p:nvPr>
            <p:ph type="title"/>
          </p:nvPr>
        </p:nvSpPr>
        <p:spPr>
          <a:xfrm>
            <a:off x="593725" y="547688"/>
            <a:ext cx="56754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0" name="Google Shape;280;p28"/>
          <p:cNvSpPr txBox="1"/>
          <p:nvPr>
            <p:ph idx="1" type="body"/>
          </p:nvPr>
        </p:nvSpPr>
        <p:spPr>
          <a:xfrm>
            <a:off x="593725" y="1378745"/>
            <a:ext cx="5676000" cy="4747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1" name="Google Shape;281;p28"/>
          <p:cNvSpPr/>
          <p:nvPr>
            <p:ph idx="2" type="pic"/>
          </p:nvPr>
        </p:nvSpPr>
        <p:spPr>
          <a:xfrm>
            <a:off x="6867525" y="0"/>
            <a:ext cx="5324400" cy="6858000"/>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eft Content Right">
  <p:cSld name="Title left Content Right">
    <p:spTree>
      <p:nvGrpSpPr>
        <p:cNvPr id="282" name="Shape 282"/>
        <p:cNvGrpSpPr/>
        <p:nvPr/>
      </p:nvGrpSpPr>
      <p:grpSpPr>
        <a:xfrm>
          <a:off x="0" y="0"/>
          <a:ext cx="0" cy="0"/>
          <a:chOff x="0" y="0"/>
          <a:chExt cx="0" cy="0"/>
        </a:xfrm>
      </p:grpSpPr>
      <p:pic>
        <p:nvPicPr>
          <p:cNvPr descr="A purple light in the dark&#10;&#10;Description automatically generated" id="283" name="Google Shape;283;p29"/>
          <p:cNvPicPr preferRelativeResize="0"/>
          <p:nvPr/>
        </p:nvPicPr>
        <p:blipFill rotWithShape="1">
          <a:blip r:embed="rId2">
            <a:alphaModFix/>
          </a:blip>
          <a:srcRect b="0" l="34162" r="22178" t="0"/>
          <a:stretch/>
        </p:blipFill>
        <p:spPr>
          <a:xfrm>
            <a:off x="0" y="0"/>
            <a:ext cx="5390830" cy="6858000"/>
          </a:xfrm>
          <a:prstGeom prst="rect">
            <a:avLst/>
          </a:prstGeom>
          <a:noFill/>
          <a:ln>
            <a:noFill/>
          </a:ln>
        </p:spPr>
      </p:pic>
      <p:sp>
        <p:nvSpPr>
          <p:cNvPr id="284" name="Google Shape;284;p29"/>
          <p:cNvSpPr/>
          <p:nvPr/>
        </p:nvSpPr>
        <p:spPr>
          <a:xfrm>
            <a:off x="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285" name="Google Shape;285;p29"/>
          <p:cNvSpPr txBox="1"/>
          <p:nvPr>
            <p:ph type="title"/>
          </p:nvPr>
        </p:nvSpPr>
        <p:spPr>
          <a:xfrm>
            <a:off x="593725" y="547688"/>
            <a:ext cx="3783000" cy="2962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2800"/>
              <a:buFont typeface="Montserrat"/>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6" name="Google Shape;286;p29"/>
          <p:cNvSpPr txBox="1"/>
          <p:nvPr>
            <p:ph idx="1" type="body"/>
          </p:nvPr>
        </p:nvSpPr>
        <p:spPr>
          <a:xfrm>
            <a:off x="5921375" y="547688"/>
            <a:ext cx="5676900" cy="55785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7" name="Google Shape;287;p29"/>
          <p:cNvSpPr txBox="1"/>
          <p:nvPr>
            <p:ph idx="2" type="body"/>
          </p:nvPr>
        </p:nvSpPr>
        <p:spPr>
          <a:xfrm>
            <a:off x="593725" y="4151313"/>
            <a:ext cx="3783000" cy="1974900"/>
          </a:xfrm>
          <a:prstGeom prst="rect">
            <a:avLst/>
          </a:prstGeom>
          <a:noFill/>
          <a:ln>
            <a:noFill/>
          </a:ln>
        </p:spPr>
        <p:txBody>
          <a:bodyPr anchorCtr="0" anchor="b" bIns="0" lIns="0" spcFirstLastPara="1" rIns="0" wrap="square" tIns="0">
            <a:normAutofit/>
          </a:bodyPr>
          <a:lstStyle>
            <a:lvl1pPr indent="-228600" lvl="0" marL="457200" algn="l">
              <a:lnSpc>
                <a:spcPct val="110000"/>
              </a:lnSpc>
              <a:spcBef>
                <a:spcPts val="0"/>
              </a:spcBef>
              <a:spcAft>
                <a:spcPts val="0"/>
              </a:spcAft>
              <a:buClr>
                <a:schemeClr val="lt1"/>
              </a:buClr>
              <a:buSzPts val="1600"/>
              <a:buNone/>
              <a:defRPr>
                <a:solidFill>
                  <a:schemeClr val="lt1"/>
                </a:solidFill>
              </a:defRPr>
            </a:lvl1pPr>
            <a:lvl2pPr indent="-317500" lvl="1" marL="914400" algn="l">
              <a:lnSpc>
                <a:spcPct val="110000"/>
              </a:lnSpc>
              <a:spcBef>
                <a:spcPts val="600"/>
              </a:spcBef>
              <a:spcAft>
                <a:spcPts val="0"/>
              </a:spcAft>
              <a:buClr>
                <a:schemeClr val="lt1"/>
              </a:buClr>
              <a:buSzPts val="1400"/>
              <a:buChar char="•"/>
              <a:defRPr>
                <a:solidFill>
                  <a:schemeClr val="lt1"/>
                </a:solidFill>
              </a:defRPr>
            </a:lvl2pPr>
            <a:lvl3pPr indent="-304800" lvl="2" marL="1371600" algn="l">
              <a:lnSpc>
                <a:spcPct val="110000"/>
              </a:lnSpc>
              <a:spcBef>
                <a:spcPts val="600"/>
              </a:spcBef>
              <a:spcAft>
                <a:spcPts val="0"/>
              </a:spcAft>
              <a:buClr>
                <a:schemeClr val="lt1"/>
              </a:buClr>
              <a:buSzPts val="1200"/>
              <a:buChar char="•"/>
              <a:defRPr>
                <a:solidFill>
                  <a:schemeClr val="lt1"/>
                </a:solidFill>
              </a:defRPr>
            </a:lvl3pPr>
            <a:lvl4pPr indent="-298450" lvl="3" marL="1828800" algn="l">
              <a:lnSpc>
                <a:spcPct val="110000"/>
              </a:lnSpc>
              <a:spcBef>
                <a:spcPts val="600"/>
              </a:spcBef>
              <a:spcAft>
                <a:spcPts val="0"/>
              </a:spcAft>
              <a:buClr>
                <a:schemeClr val="lt1"/>
              </a:buClr>
              <a:buSzPts val="1100"/>
              <a:buChar char="•"/>
              <a:defRPr>
                <a:solidFill>
                  <a:schemeClr val="lt1"/>
                </a:solidFill>
              </a:defRPr>
            </a:lvl4pPr>
            <a:lvl5pPr indent="-298450" lvl="4" marL="2286000" algn="l">
              <a:lnSpc>
                <a:spcPct val="110000"/>
              </a:lnSpc>
              <a:spcBef>
                <a:spcPts val="600"/>
              </a:spcBef>
              <a:spcAft>
                <a:spcPts val="0"/>
              </a:spcAft>
              <a:buClr>
                <a:schemeClr val="lt1"/>
              </a:buClr>
              <a:buSzPts val="1100"/>
              <a:buChar char="•"/>
              <a:defRPr>
                <a:solidFill>
                  <a:schemeClr val="l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288" name="Google Shape;288;p29"/>
          <p:cNvPicPr preferRelativeResize="0"/>
          <p:nvPr/>
        </p:nvPicPr>
        <p:blipFill rotWithShape="1">
          <a:blip r:embed="rId3">
            <a:alphaModFix/>
          </a:blip>
          <a:srcRect b="0" l="0" r="0" t="0"/>
          <a:stretch/>
        </p:blipFill>
        <p:spPr>
          <a:xfrm>
            <a:off x="593725" y="6353610"/>
            <a:ext cx="1337005" cy="280680"/>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ext blocks">
  <p:cSld name="3 text blocks">
    <p:spTree>
      <p:nvGrpSpPr>
        <p:cNvPr id="289" name="Shape 289"/>
        <p:cNvGrpSpPr/>
        <p:nvPr/>
      </p:nvGrpSpPr>
      <p:grpSpPr>
        <a:xfrm>
          <a:off x="0" y="0"/>
          <a:ext cx="0" cy="0"/>
          <a:chOff x="0" y="0"/>
          <a:chExt cx="0" cy="0"/>
        </a:xfrm>
      </p:grpSpPr>
      <p:sp>
        <p:nvSpPr>
          <p:cNvPr id="290" name="Google Shape;290;p30"/>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91" name="Google Shape;291;p30"/>
          <p:cNvCxnSpPr/>
          <p:nvPr/>
        </p:nvCxnSpPr>
        <p:spPr>
          <a:xfrm>
            <a:off x="4204002" y="2174875"/>
            <a:ext cx="0" cy="3951300"/>
          </a:xfrm>
          <a:prstGeom prst="straightConnector1">
            <a:avLst/>
          </a:prstGeom>
          <a:noFill/>
          <a:ln cap="flat" cmpd="sng" w="19050">
            <a:solidFill>
              <a:schemeClr val="accent1"/>
            </a:solidFill>
            <a:prstDash val="solid"/>
            <a:miter lim="800000"/>
            <a:headEnd len="sm" w="sm" type="none"/>
            <a:tailEnd len="sm" w="sm" type="none"/>
          </a:ln>
        </p:spPr>
      </p:cxnSp>
      <p:cxnSp>
        <p:nvCxnSpPr>
          <p:cNvPr id="292" name="Google Shape;292;p30"/>
          <p:cNvCxnSpPr/>
          <p:nvPr/>
        </p:nvCxnSpPr>
        <p:spPr>
          <a:xfrm>
            <a:off x="7986412" y="2174875"/>
            <a:ext cx="0" cy="3951300"/>
          </a:xfrm>
          <a:prstGeom prst="straightConnector1">
            <a:avLst/>
          </a:prstGeom>
          <a:noFill/>
          <a:ln cap="flat" cmpd="sng" w="19050">
            <a:solidFill>
              <a:schemeClr val="accent1"/>
            </a:solidFill>
            <a:prstDash val="solid"/>
            <a:miter lim="800000"/>
            <a:headEnd len="sm" w="sm" type="none"/>
            <a:tailEnd len="sm" w="sm" type="none"/>
          </a:ln>
        </p:spPr>
      </p:cxnSp>
      <p:sp>
        <p:nvSpPr>
          <p:cNvPr id="293" name="Google Shape;293;p30"/>
          <p:cNvSpPr txBox="1"/>
          <p:nvPr>
            <p:ph idx="1" type="body"/>
          </p:nvPr>
        </p:nvSpPr>
        <p:spPr>
          <a:xfrm>
            <a:off x="590931" y="2525711"/>
            <a:ext cx="3438000" cy="36006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4" name="Google Shape;294;p30"/>
          <p:cNvSpPr txBox="1"/>
          <p:nvPr>
            <p:ph idx="2" type="body"/>
          </p:nvPr>
        </p:nvSpPr>
        <p:spPr>
          <a:xfrm>
            <a:off x="590931" y="2174875"/>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5" name="Google Shape;295;p30"/>
          <p:cNvSpPr txBox="1"/>
          <p:nvPr>
            <p:ph idx="3" type="body"/>
          </p:nvPr>
        </p:nvSpPr>
        <p:spPr>
          <a:xfrm>
            <a:off x="4375531" y="2525711"/>
            <a:ext cx="3438000" cy="36006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6" name="Google Shape;296;p30"/>
          <p:cNvSpPr txBox="1"/>
          <p:nvPr>
            <p:ph idx="4" type="body"/>
          </p:nvPr>
        </p:nvSpPr>
        <p:spPr>
          <a:xfrm>
            <a:off x="4375531" y="2174875"/>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30"/>
          <p:cNvSpPr txBox="1"/>
          <p:nvPr>
            <p:ph idx="5" type="body"/>
          </p:nvPr>
        </p:nvSpPr>
        <p:spPr>
          <a:xfrm>
            <a:off x="8161338" y="2525711"/>
            <a:ext cx="3438000" cy="36006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8" name="Google Shape;298;p30"/>
          <p:cNvSpPr txBox="1"/>
          <p:nvPr>
            <p:ph idx="6" type="body"/>
          </p:nvPr>
        </p:nvSpPr>
        <p:spPr>
          <a:xfrm>
            <a:off x="8161338" y="2174875"/>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3 text blocks">
  <p:cSld name="1_3 text blocks">
    <p:spTree>
      <p:nvGrpSpPr>
        <p:cNvPr id="299" name="Shape 299"/>
        <p:cNvGrpSpPr/>
        <p:nvPr/>
      </p:nvGrpSpPr>
      <p:grpSpPr>
        <a:xfrm>
          <a:off x="0" y="0"/>
          <a:ext cx="0" cy="0"/>
          <a:chOff x="0" y="0"/>
          <a:chExt cx="0" cy="0"/>
        </a:xfrm>
      </p:grpSpPr>
      <p:sp>
        <p:nvSpPr>
          <p:cNvPr id="300" name="Google Shape;300;p31"/>
          <p:cNvSpPr txBox="1"/>
          <p:nvPr>
            <p:ph idx="1" type="body"/>
          </p:nvPr>
        </p:nvSpPr>
        <p:spPr>
          <a:xfrm>
            <a:off x="590931" y="4497388"/>
            <a:ext cx="3438000" cy="1628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1" name="Google Shape;301;p31"/>
          <p:cNvSpPr txBox="1"/>
          <p:nvPr>
            <p:ph idx="2" type="body"/>
          </p:nvPr>
        </p:nvSpPr>
        <p:spPr>
          <a:xfrm>
            <a:off x="590931" y="4146551"/>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2" name="Google Shape;302;p31"/>
          <p:cNvSpPr/>
          <p:nvPr>
            <p:ph idx="3" type="pic"/>
          </p:nvPr>
        </p:nvSpPr>
        <p:spPr>
          <a:xfrm>
            <a:off x="593725" y="1535113"/>
            <a:ext cx="3435300" cy="2498700"/>
          </a:xfrm>
          <a:prstGeom prst="rect">
            <a:avLst/>
          </a:prstGeom>
          <a:noFill/>
          <a:ln>
            <a:noFill/>
          </a:ln>
        </p:spPr>
      </p:sp>
      <p:sp>
        <p:nvSpPr>
          <p:cNvPr id="303" name="Google Shape;303;p31"/>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4" name="Google Shape;304;p31"/>
          <p:cNvSpPr txBox="1"/>
          <p:nvPr>
            <p:ph idx="4" type="body"/>
          </p:nvPr>
        </p:nvSpPr>
        <p:spPr>
          <a:xfrm>
            <a:off x="4375531" y="4497388"/>
            <a:ext cx="3438000" cy="1628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5" name="Google Shape;305;p31"/>
          <p:cNvSpPr txBox="1"/>
          <p:nvPr>
            <p:ph idx="5" type="body"/>
          </p:nvPr>
        </p:nvSpPr>
        <p:spPr>
          <a:xfrm>
            <a:off x="4375531" y="4146551"/>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6" name="Google Shape;306;p31"/>
          <p:cNvSpPr/>
          <p:nvPr>
            <p:ph idx="6" type="pic"/>
          </p:nvPr>
        </p:nvSpPr>
        <p:spPr>
          <a:xfrm>
            <a:off x="4378325" y="1535113"/>
            <a:ext cx="3435300" cy="2498700"/>
          </a:xfrm>
          <a:prstGeom prst="rect">
            <a:avLst/>
          </a:prstGeom>
          <a:noFill/>
          <a:ln>
            <a:noFill/>
          </a:ln>
        </p:spPr>
      </p:sp>
      <p:sp>
        <p:nvSpPr>
          <p:cNvPr id="307" name="Google Shape;307;p31"/>
          <p:cNvSpPr txBox="1"/>
          <p:nvPr>
            <p:ph idx="7" type="body"/>
          </p:nvPr>
        </p:nvSpPr>
        <p:spPr>
          <a:xfrm>
            <a:off x="8161338" y="4497388"/>
            <a:ext cx="3438000" cy="16287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8" name="Google Shape;308;p31"/>
          <p:cNvSpPr txBox="1"/>
          <p:nvPr>
            <p:ph idx="8" type="body"/>
          </p:nvPr>
        </p:nvSpPr>
        <p:spPr>
          <a:xfrm>
            <a:off x="8161338" y="4146551"/>
            <a:ext cx="3438000" cy="2382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dk1"/>
              </a:buClr>
              <a:buSzPts val="1400"/>
              <a:buChar char="•"/>
              <a:defRPr b="1"/>
            </a:lvl2pPr>
            <a:lvl3pPr indent="-304800" lvl="2" marL="1371600" algn="l">
              <a:lnSpc>
                <a:spcPct val="110000"/>
              </a:lnSpc>
              <a:spcBef>
                <a:spcPts val="600"/>
              </a:spcBef>
              <a:spcAft>
                <a:spcPts val="0"/>
              </a:spcAft>
              <a:buClr>
                <a:schemeClr val="dk1"/>
              </a:buClr>
              <a:buSzPts val="1200"/>
              <a:buChar char="•"/>
              <a:defRPr b="1"/>
            </a:lvl3pPr>
            <a:lvl4pPr indent="-298450" lvl="3" marL="1828800" algn="l">
              <a:lnSpc>
                <a:spcPct val="110000"/>
              </a:lnSpc>
              <a:spcBef>
                <a:spcPts val="600"/>
              </a:spcBef>
              <a:spcAft>
                <a:spcPts val="0"/>
              </a:spcAft>
              <a:buClr>
                <a:schemeClr val="dk1"/>
              </a:buClr>
              <a:buSzPts val="1100"/>
              <a:buChar char="•"/>
              <a:defRPr b="1"/>
            </a:lvl4pPr>
            <a:lvl5pPr indent="-298450" lvl="4" marL="2286000" algn="l">
              <a:lnSpc>
                <a:spcPct val="110000"/>
              </a:lnSpc>
              <a:spcBef>
                <a:spcPts val="600"/>
              </a:spcBef>
              <a:spcAft>
                <a:spcPts val="0"/>
              </a:spcAft>
              <a:buClr>
                <a:schemeClr val="dk1"/>
              </a:buClr>
              <a:buSzPts val="1100"/>
              <a:buChar char="•"/>
              <a:defRPr b="1"/>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9" name="Google Shape;309;p31"/>
          <p:cNvSpPr/>
          <p:nvPr>
            <p:ph idx="9" type="pic"/>
          </p:nvPr>
        </p:nvSpPr>
        <p:spPr>
          <a:xfrm>
            <a:off x="8164132" y="1535113"/>
            <a:ext cx="3435300" cy="2498700"/>
          </a:xfrm>
          <a:prstGeom prst="rect">
            <a:avLst/>
          </a:prstGeom>
          <a:no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6 Points">
  <p:cSld name="1_6 Points">
    <p:spTree>
      <p:nvGrpSpPr>
        <p:cNvPr id="310" name="Shape 310"/>
        <p:cNvGrpSpPr/>
        <p:nvPr/>
      </p:nvGrpSpPr>
      <p:grpSpPr>
        <a:xfrm>
          <a:off x="0" y="0"/>
          <a:ext cx="0" cy="0"/>
          <a:chOff x="0" y="0"/>
          <a:chExt cx="0" cy="0"/>
        </a:xfrm>
      </p:grpSpPr>
      <p:sp>
        <p:nvSpPr>
          <p:cNvPr id="311" name="Google Shape;311;p32"/>
          <p:cNvSpPr txBox="1"/>
          <p:nvPr>
            <p:ph idx="1" type="body"/>
          </p:nvPr>
        </p:nvSpPr>
        <p:spPr>
          <a:xfrm>
            <a:off x="8085138" y="5053325"/>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2" name="Google Shape;312;p32"/>
          <p:cNvSpPr txBox="1"/>
          <p:nvPr>
            <p:ph idx="2" type="body"/>
          </p:nvPr>
        </p:nvSpPr>
        <p:spPr>
          <a:xfrm>
            <a:off x="8740533" y="4410518"/>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3" name="Google Shape;313;p32"/>
          <p:cNvSpPr txBox="1"/>
          <p:nvPr>
            <p:ph idx="3" type="body"/>
          </p:nvPr>
        </p:nvSpPr>
        <p:spPr>
          <a:xfrm>
            <a:off x="4338638" y="5053325"/>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4" name="Google Shape;314;p32"/>
          <p:cNvSpPr txBox="1"/>
          <p:nvPr>
            <p:ph idx="4" type="body"/>
          </p:nvPr>
        </p:nvSpPr>
        <p:spPr>
          <a:xfrm>
            <a:off x="4994033" y="4410518"/>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5" name="Google Shape;315;p32"/>
          <p:cNvSpPr txBox="1"/>
          <p:nvPr>
            <p:ph idx="5" type="body"/>
          </p:nvPr>
        </p:nvSpPr>
        <p:spPr>
          <a:xfrm>
            <a:off x="592136" y="5053325"/>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6" name="Google Shape;316;p32"/>
          <p:cNvSpPr txBox="1"/>
          <p:nvPr>
            <p:ph idx="6" type="body"/>
          </p:nvPr>
        </p:nvSpPr>
        <p:spPr>
          <a:xfrm>
            <a:off x="1247531" y="4410518"/>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7" name="Google Shape;317;p32"/>
          <p:cNvSpPr txBox="1"/>
          <p:nvPr>
            <p:ph idx="7" type="body"/>
          </p:nvPr>
        </p:nvSpPr>
        <p:spPr>
          <a:xfrm>
            <a:off x="8085138" y="2652343"/>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8" name="Google Shape;318;p32"/>
          <p:cNvSpPr txBox="1"/>
          <p:nvPr>
            <p:ph idx="8" type="body"/>
          </p:nvPr>
        </p:nvSpPr>
        <p:spPr>
          <a:xfrm>
            <a:off x="8740533" y="2009536"/>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9" name="Google Shape;319;p32"/>
          <p:cNvSpPr txBox="1"/>
          <p:nvPr>
            <p:ph idx="9" type="body"/>
          </p:nvPr>
        </p:nvSpPr>
        <p:spPr>
          <a:xfrm>
            <a:off x="4338638" y="2652343"/>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0" name="Google Shape;320;p32"/>
          <p:cNvSpPr txBox="1"/>
          <p:nvPr>
            <p:ph idx="13" type="body"/>
          </p:nvPr>
        </p:nvSpPr>
        <p:spPr>
          <a:xfrm>
            <a:off x="4994033" y="2009536"/>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32"/>
          <p:cNvSpPr txBox="1"/>
          <p:nvPr>
            <p:ph idx="14" type="body"/>
          </p:nvPr>
        </p:nvSpPr>
        <p:spPr>
          <a:xfrm>
            <a:off x="592136" y="2652343"/>
            <a:ext cx="3513000" cy="107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2" name="Google Shape;322;p32"/>
          <p:cNvSpPr txBox="1"/>
          <p:nvPr>
            <p:ph idx="15" type="body"/>
          </p:nvPr>
        </p:nvSpPr>
        <p:spPr>
          <a:xfrm>
            <a:off x="1247531" y="2009536"/>
            <a:ext cx="2857800" cy="5478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3" name="Google Shape;323;p32"/>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quotes">
  <p:cSld name="3 quotes">
    <p:spTree>
      <p:nvGrpSpPr>
        <p:cNvPr id="324" name="Shape 324"/>
        <p:cNvGrpSpPr/>
        <p:nvPr/>
      </p:nvGrpSpPr>
      <p:grpSpPr>
        <a:xfrm>
          <a:off x="0" y="0"/>
          <a:ext cx="0" cy="0"/>
          <a:chOff x="0" y="0"/>
          <a:chExt cx="0" cy="0"/>
        </a:xfrm>
      </p:grpSpPr>
      <p:sp>
        <p:nvSpPr>
          <p:cNvPr id="325" name="Google Shape;325;p33"/>
          <p:cNvSpPr/>
          <p:nvPr/>
        </p:nvSpPr>
        <p:spPr>
          <a:xfrm rot="5400000">
            <a:off x="7810923" y="2326501"/>
            <a:ext cx="1703400" cy="5871300"/>
          </a:xfrm>
          <a:prstGeom prst="roundRect">
            <a:avLst>
              <a:gd fmla="val 7053" name="adj"/>
            </a:avLst>
          </a:prstGeom>
          <a:gradFill>
            <a:gsLst>
              <a:gs pos="0">
                <a:schemeClr val="lt1"/>
              </a:gs>
              <a:gs pos="2900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26" name="Google Shape;326;p33"/>
          <p:cNvSpPr/>
          <p:nvPr/>
        </p:nvSpPr>
        <p:spPr>
          <a:xfrm rot="5400000">
            <a:off x="7810927" y="395117"/>
            <a:ext cx="1703400" cy="5871300"/>
          </a:xfrm>
          <a:prstGeom prst="roundRect">
            <a:avLst>
              <a:gd fmla="val 7053" name="adj"/>
            </a:avLst>
          </a:prstGeom>
          <a:gradFill>
            <a:gsLst>
              <a:gs pos="0">
                <a:schemeClr val="lt1"/>
              </a:gs>
              <a:gs pos="2900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27" name="Google Shape;327;p33"/>
          <p:cNvSpPr/>
          <p:nvPr/>
        </p:nvSpPr>
        <p:spPr>
          <a:xfrm rot="5400000">
            <a:off x="7810924" y="-1536261"/>
            <a:ext cx="1703400" cy="5871300"/>
          </a:xfrm>
          <a:prstGeom prst="roundRect">
            <a:avLst>
              <a:gd fmla="val 7053" name="adj"/>
            </a:avLst>
          </a:prstGeom>
          <a:gradFill>
            <a:gsLst>
              <a:gs pos="0">
                <a:schemeClr val="lt1"/>
              </a:gs>
              <a:gs pos="2900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28" name="Google Shape;328;p33"/>
          <p:cNvSpPr txBox="1"/>
          <p:nvPr>
            <p:ph idx="1" type="body"/>
          </p:nvPr>
        </p:nvSpPr>
        <p:spPr>
          <a:xfrm>
            <a:off x="593725" y="2251076"/>
            <a:ext cx="4437300" cy="38628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9" name="Google Shape;329;p33"/>
          <p:cNvSpPr/>
          <p:nvPr/>
        </p:nvSpPr>
        <p:spPr>
          <a:xfrm rot="-2700000">
            <a:off x="5408220" y="677181"/>
            <a:ext cx="643609" cy="643609"/>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30" name="Google Shape;330;p33"/>
          <p:cNvSpPr/>
          <p:nvPr/>
        </p:nvSpPr>
        <p:spPr>
          <a:xfrm rot="-2700000">
            <a:off x="5408220" y="2608560"/>
            <a:ext cx="643609" cy="643609"/>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31" name="Google Shape;331;p33"/>
          <p:cNvSpPr/>
          <p:nvPr/>
        </p:nvSpPr>
        <p:spPr>
          <a:xfrm rot="-2700000">
            <a:off x="5408220" y="4539944"/>
            <a:ext cx="643609" cy="643609"/>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cxnSp>
        <p:nvCxnSpPr>
          <p:cNvPr id="332" name="Google Shape;332;p33"/>
          <p:cNvCxnSpPr/>
          <p:nvPr/>
        </p:nvCxnSpPr>
        <p:spPr>
          <a:xfrm>
            <a:off x="6130429" y="1739413"/>
            <a:ext cx="5164500" cy="0"/>
          </a:xfrm>
          <a:prstGeom prst="straightConnector1">
            <a:avLst/>
          </a:prstGeom>
          <a:noFill/>
          <a:ln cap="flat" cmpd="sng" w="12700">
            <a:solidFill>
              <a:schemeClr val="accent1"/>
            </a:solidFill>
            <a:prstDash val="solid"/>
            <a:miter lim="800000"/>
            <a:headEnd len="sm" w="sm" type="none"/>
            <a:tailEnd len="sm" w="sm" type="none"/>
          </a:ln>
        </p:spPr>
      </p:cxnSp>
      <p:cxnSp>
        <p:nvCxnSpPr>
          <p:cNvPr id="333" name="Google Shape;333;p33"/>
          <p:cNvCxnSpPr/>
          <p:nvPr/>
        </p:nvCxnSpPr>
        <p:spPr>
          <a:xfrm>
            <a:off x="6130429" y="3670792"/>
            <a:ext cx="5164500" cy="0"/>
          </a:xfrm>
          <a:prstGeom prst="straightConnector1">
            <a:avLst/>
          </a:prstGeom>
          <a:noFill/>
          <a:ln cap="flat" cmpd="sng" w="12700">
            <a:solidFill>
              <a:schemeClr val="accent1"/>
            </a:solidFill>
            <a:prstDash val="solid"/>
            <a:miter lim="800000"/>
            <a:headEnd len="sm" w="sm" type="none"/>
            <a:tailEnd len="sm" w="sm" type="none"/>
          </a:ln>
        </p:spPr>
      </p:cxnSp>
      <p:cxnSp>
        <p:nvCxnSpPr>
          <p:cNvPr id="334" name="Google Shape;334;p33"/>
          <p:cNvCxnSpPr/>
          <p:nvPr/>
        </p:nvCxnSpPr>
        <p:spPr>
          <a:xfrm>
            <a:off x="6130429" y="5602176"/>
            <a:ext cx="5164500" cy="0"/>
          </a:xfrm>
          <a:prstGeom prst="straightConnector1">
            <a:avLst/>
          </a:prstGeom>
          <a:noFill/>
          <a:ln cap="flat" cmpd="sng" w="12700">
            <a:solidFill>
              <a:schemeClr val="accent1"/>
            </a:solidFill>
            <a:prstDash val="solid"/>
            <a:miter lim="800000"/>
            <a:headEnd len="sm" w="sm" type="none"/>
            <a:tailEnd len="sm" w="sm" type="none"/>
          </a:ln>
        </p:spPr>
      </p:cxnSp>
      <p:sp>
        <p:nvSpPr>
          <p:cNvPr id="335" name="Google Shape;335;p33"/>
          <p:cNvSpPr txBox="1"/>
          <p:nvPr>
            <p:ph idx="2" type="body"/>
          </p:nvPr>
        </p:nvSpPr>
        <p:spPr>
          <a:xfrm>
            <a:off x="6370864" y="2698883"/>
            <a:ext cx="4924200" cy="828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6" name="Google Shape;336;p33"/>
          <p:cNvSpPr txBox="1"/>
          <p:nvPr>
            <p:ph idx="3" type="body"/>
          </p:nvPr>
        </p:nvSpPr>
        <p:spPr>
          <a:xfrm>
            <a:off x="6370864" y="767504"/>
            <a:ext cx="4924200" cy="828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7" name="Google Shape;337;p33"/>
          <p:cNvSpPr txBox="1"/>
          <p:nvPr>
            <p:ph idx="4" type="body"/>
          </p:nvPr>
        </p:nvSpPr>
        <p:spPr>
          <a:xfrm>
            <a:off x="6370864" y="4630267"/>
            <a:ext cx="4924200" cy="8286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800"/>
              <a:buNone/>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8" name="Google Shape;338;p33"/>
          <p:cNvSpPr txBox="1"/>
          <p:nvPr>
            <p:ph idx="5" type="body"/>
          </p:nvPr>
        </p:nvSpPr>
        <p:spPr>
          <a:xfrm>
            <a:off x="6370864" y="3755618"/>
            <a:ext cx="4924200" cy="19890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9" name="Google Shape;339;p33"/>
          <p:cNvSpPr txBox="1"/>
          <p:nvPr>
            <p:ph idx="6" type="body"/>
          </p:nvPr>
        </p:nvSpPr>
        <p:spPr>
          <a:xfrm>
            <a:off x="6370864" y="1824239"/>
            <a:ext cx="4924200" cy="19890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0" name="Google Shape;340;p33"/>
          <p:cNvSpPr txBox="1"/>
          <p:nvPr>
            <p:ph idx="7" type="body"/>
          </p:nvPr>
        </p:nvSpPr>
        <p:spPr>
          <a:xfrm>
            <a:off x="6370864" y="5687002"/>
            <a:ext cx="4924200" cy="198900"/>
          </a:xfrm>
          <a:prstGeom prst="rect">
            <a:avLst/>
          </a:prstGeom>
          <a:noFill/>
          <a:ln>
            <a:noFill/>
          </a:ln>
        </p:spPr>
        <p:txBody>
          <a:bodyPr anchorCtr="0" anchor="ctr" bIns="0" lIns="0" spcFirstLastPara="1" rIns="0" wrap="square" tIns="0">
            <a:normAutofit/>
          </a:bodyPr>
          <a:lstStyle>
            <a:lvl1pPr indent="-228600" lvl="0" marL="457200" algn="r">
              <a:lnSpc>
                <a:spcPct val="110000"/>
              </a:lnSpc>
              <a:spcBef>
                <a:spcPts val="0"/>
              </a:spcBef>
              <a:spcAft>
                <a:spcPts val="0"/>
              </a:spcAft>
              <a:buClr>
                <a:schemeClr val="accent1"/>
              </a:buClr>
              <a:buSzPts val="1200"/>
              <a:buNone/>
              <a:defRPr b="1" sz="12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41" name="Google Shape;341;p33"/>
          <p:cNvPicPr preferRelativeResize="0"/>
          <p:nvPr/>
        </p:nvPicPr>
        <p:blipFill rotWithShape="1">
          <a:blip r:embed="rId2">
            <a:alphaModFix/>
          </a:blip>
          <a:srcRect b="0" l="0" r="0" t="0"/>
          <a:stretch/>
        </p:blipFill>
        <p:spPr>
          <a:xfrm rot="10800000">
            <a:off x="5589351" y="457828"/>
            <a:ext cx="679687" cy="619349"/>
          </a:xfrm>
          <a:prstGeom prst="rect">
            <a:avLst/>
          </a:prstGeom>
          <a:noFill/>
          <a:ln>
            <a:noFill/>
          </a:ln>
        </p:spPr>
      </p:pic>
      <p:pic>
        <p:nvPicPr>
          <p:cNvPr id="342" name="Google Shape;342;p33"/>
          <p:cNvPicPr preferRelativeResize="0"/>
          <p:nvPr/>
        </p:nvPicPr>
        <p:blipFill rotWithShape="1">
          <a:blip r:embed="rId2">
            <a:alphaModFix/>
          </a:blip>
          <a:srcRect b="0" l="0" r="0" t="0"/>
          <a:stretch/>
        </p:blipFill>
        <p:spPr>
          <a:xfrm rot="10800000">
            <a:off x="5589351" y="2386581"/>
            <a:ext cx="679687" cy="619349"/>
          </a:xfrm>
          <a:prstGeom prst="rect">
            <a:avLst/>
          </a:prstGeom>
          <a:noFill/>
          <a:ln>
            <a:noFill/>
          </a:ln>
        </p:spPr>
      </p:pic>
      <p:pic>
        <p:nvPicPr>
          <p:cNvPr id="343" name="Google Shape;343;p33"/>
          <p:cNvPicPr preferRelativeResize="0"/>
          <p:nvPr/>
        </p:nvPicPr>
        <p:blipFill rotWithShape="1">
          <a:blip r:embed="rId2">
            <a:alphaModFix/>
          </a:blip>
          <a:srcRect b="0" l="0" r="0" t="0"/>
          <a:stretch/>
        </p:blipFill>
        <p:spPr>
          <a:xfrm rot="10800000">
            <a:off x="5589351" y="4320592"/>
            <a:ext cx="679687" cy="619349"/>
          </a:xfrm>
          <a:prstGeom prst="rect">
            <a:avLst/>
          </a:prstGeom>
          <a:noFill/>
          <a:ln>
            <a:noFill/>
          </a:ln>
        </p:spPr>
      </p:pic>
      <p:sp>
        <p:nvSpPr>
          <p:cNvPr id="344" name="Google Shape;344;p33"/>
          <p:cNvSpPr txBox="1"/>
          <p:nvPr>
            <p:ph type="title"/>
          </p:nvPr>
        </p:nvSpPr>
        <p:spPr>
          <a:xfrm>
            <a:off x="593725" y="547688"/>
            <a:ext cx="4495200" cy="10485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4 points">
  <p:cSld name="Timeline 4 points">
    <p:spTree>
      <p:nvGrpSpPr>
        <p:cNvPr id="345" name="Shape 345"/>
        <p:cNvGrpSpPr/>
        <p:nvPr/>
      </p:nvGrpSpPr>
      <p:grpSpPr>
        <a:xfrm>
          <a:off x="0" y="0"/>
          <a:ext cx="0" cy="0"/>
          <a:chOff x="0" y="0"/>
          <a:chExt cx="0" cy="0"/>
        </a:xfrm>
      </p:grpSpPr>
      <p:sp>
        <p:nvSpPr>
          <p:cNvPr id="346" name="Google Shape;346;p34"/>
          <p:cNvSpPr/>
          <p:nvPr/>
        </p:nvSpPr>
        <p:spPr>
          <a:xfrm rot="-2700000">
            <a:off x="8469574" y="2880808"/>
            <a:ext cx="3657581" cy="3657581"/>
          </a:xfrm>
          <a:prstGeom prst="roundRect">
            <a:avLst>
              <a:gd fmla="val 0" name="adj"/>
            </a:avLst>
          </a:prstGeom>
          <a:gradFill>
            <a:gsLst>
              <a:gs pos="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47" name="Google Shape;347;p34"/>
          <p:cNvSpPr/>
          <p:nvPr/>
        </p:nvSpPr>
        <p:spPr>
          <a:xfrm rot="-2700000">
            <a:off x="5667989" y="2880808"/>
            <a:ext cx="3657581" cy="3657581"/>
          </a:xfrm>
          <a:prstGeom prst="roundRect">
            <a:avLst>
              <a:gd fmla="val 0" name="adj"/>
            </a:avLst>
          </a:prstGeom>
          <a:gradFill>
            <a:gsLst>
              <a:gs pos="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48" name="Google Shape;348;p34"/>
          <p:cNvSpPr/>
          <p:nvPr/>
        </p:nvSpPr>
        <p:spPr>
          <a:xfrm rot="-2700000">
            <a:off x="2866403" y="2880808"/>
            <a:ext cx="3657581" cy="3657581"/>
          </a:xfrm>
          <a:prstGeom prst="roundRect">
            <a:avLst>
              <a:gd fmla="val 0" name="adj"/>
            </a:avLst>
          </a:prstGeom>
          <a:gradFill>
            <a:gsLst>
              <a:gs pos="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49" name="Google Shape;349;p34"/>
          <p:cNvSpPr/>
          <p:nvPr/>
        </p:nvSpPr>
        <p:spPr>
          <a:xfrm rot="-2700000">
            <a:off x="64818" y="2880808"/>
            <a:ext cx="3657581" cy="3657581"/>
          </a:xfrm>
          <a:prstGeom prst="roundRect">
            <a:avLst>
              <a:gd fmla="val 0" name="adj"/>
            </a:avLst>
          </a:prstGeom>
          <a:gradFill>
            <a:gsLst>
              <a:gs pos="0">
                <a:schemeClr val="lt1"/>
              </a:gs>
              <a:gs pos="100000">
                <a:srgbClr val="FFFFFF">
                  <a:alpha val="0"/>
                </a:srgbClr>
              </a:gs>
            </a:gsLst>
            <a:lin ang="8100019"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cxnSp>
        <p:nvCxnSpPr>
          <p:cNvPr id="350" name="Google Shape;350;p34"/>
          <p:cNvCxnSpPr/>
          <p:nvPr/>
        </p:nvCxnSpPr>
        <p:spPr>
          <a:xfrm>
            <a:off x="675918" y="1473397"/>
            <a:ext cx="0" cy="3662100"/>
          </a:xfrm>
          <a:prstGeom prst="straightConnector1">
            <a:avLst/>
          </a:prstGeom>
          <a:noFill/>
          <a:ln cap="flat" cmpd="sng" w="12700">
            <a:solidFill>
              <a:schemeClr val="accent1"/>
            </a:solidFill>
            <a:prstDash val="solid"/>
            <a:miter lim="800000"/>
            <a:headEnd len="sm" w="sm" type="none"/>
            <a:tailEnd len="sm" w="sm" type="none"/>
          </a:ln>
        </p:spPr>
      </p:cxnSp>
      <p:cxnSp>
        <p:nvCxnSpPr>
          <p:cNvPr id="351" name="Google Shape;351;p34"/>
          <p:cNvCxnSpPr/>
          <p:nvPr/>
        </p:nvCxnSpPr>
        <p:spPr>
          <a:xfrm>
            <a:off x="3477503" y="2561195"/>
            <a:ext cx="0" cy="2574300"/>
          </a:xfrm>
          <a:prstGeom prst="straightConnector1">
            <a:avLst/>
          </a:prstGeom>
          <a:noFill/>
          <a:ln cap="flat" cmpd="sng" w="12700">
            <a:solidFill>
              <a:schemeClr val="accent1"/>
            </a:solidFill>
            <a:prstDash val="solid"/>
            <a:miter lim="800000"/>
            <a:headEnd len="sm" w="sm" type="none"/>
            <a:tailEnd len="sm" w="sm" type="none"/>
          </a:ln>
        </p:spPr>
      </p:cxnSp>
      <p:cxnSp>
        <p:nvCxnSpPr>
          <p:cNvPr id="352" name="Google Shape;352;p34"/>
          <p:cNvCxnSpPr/>
          <p:nvPr/>
        </p:nvCxnSpPr>
        <p:spPr>
          <a:xfrm>
            <a:off x="6279088" y="2561195"/>
            <a:ext cx="0" cy="2574300"/>
          </a:xfrm>
          <a:prstGeom prst="straightConnector1">
            <a:avLst/>
          </a:prstGeom>
          <a:noFill/>
          <a:ln cap="flat" cmpd="sng" w="12700">
            <a:solidFill>
              <a:schemeClr val="accent1"/>
            </a:solidFill>
            <a:prstDash val="solid"/>
            <a:miter lim="800000"/>
            <a:headEnd len="sm" w="sm" type="none"/>
            <a:tailEnd len="sm" w="sm" type="none"/>
          </a:ln>
        </p:spPr>
      </p:cxnSp>
      <p:cxnSp>
        <p:nvCxnSpPr>
          <p:cNvPr id="353" name="Google Shape;353;p34"/>
          <p:cNvCxnSpPr/>
          <p:nvPr/>
        </p:nvCxnSpPr>
        <p:spPr>
          <a:xfrm>
            <a:off x="9080673" y="2561195"/>
            <a:ext cx="0" cy="2574300"/>
          </a:xfrm>
          <a:prstGeom prst="straightConnector1">
            <a:avLst/>
          </a:prstGeom>
          <a:noFill/>
          <a:ln cap="flat" cmpd="sng" w="12700">
            <a:solidFill>
              <a:schemeClr val="accent1"/>
            </a:solidFill>
            <a:prstDash val="solid"/>
            <a:miter lim="800000"/>
            <a:headEnd len="sm" w="sm" type="none"/>
            <a:tailEnd len="sm" w="sm" type="none"/>
          </a:ln>
        </p:spPr>
      </p:cxnSp>
      <p:sp>
        <p:nvSpPr>
          <p:cNvPr id="354" name="Google Shape;354;p34"/>
          <p:cNvSpPr txBox="1"/>
          <p:nvPr>
            <p:ph type="title"/>
          </p:nvPr>
        </p:nvSpPr>
        <p:spPr>
          <a:xfrm>
            <a:off x="593725" y="547688"/>
            <a:ext cx="11004600" cy="735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355" name="Google Shape;355;p34"/>
          <p:cNvCxnSpPr/>
          <p:nvPr/>
        </p:nvCxnSpPr>
        <p:spPr>
          <a:xfrm>
            <a:off x="0" y="2561195"/>
            <a:ext cx="12192000" cy="0"/>
          </a:xfrm>
          <a:prstGeom prst="straightConnector1">
            <a:avLst/>
          </a:prstGeom>
          <a:noFill/>
          <a:ln cap="flat" cmpd="sng" w="12700">
            <a:solidFill>
              <a:schemeClr val="accent1"/>
            </a:solidFill>
            <a:prstDash val="dash"/>
            <a:miter lim="800000"/>
            <a:headEnd len="sm" w="sm" type="none"/>
            <a:tailEnd len="sm" w="sm" type="none"/>
          </a:ln>
        </p:spPr>
      </p:cxnSp>
      <p:sp>
        <p:nvSpPr>
          <p:cNvPr id="356" name="Google Shape;356;p34"/>
          <p:cNvSpPr/>
          <p:nvPr/>
        </p:nvSpPr>
        <p:spPr>
          <a:xfrm rot="-2700000">
            <a:off x="617801" y="2503070"/>
            <a:ext cx="116248" cy="116248"/>
          </a:xfrm>
          <a:prstGeom prst="rect">
            <a:avLst/>
          </a:prstGeom>
          <a:gradFill>
            <a:gsLst>
              <a:gs pos="0">
                <a:schemeClr val="accent3"/>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57" name="Google Shape;357;p34"/>
          <p:cNvSpPr/>
          <p:nvPr/>
        </p:nvSpPr>
        <p:spPr>
          <a:xfrm rot="-2700000">
            <a:off x="3419386" y="2503072"/>
            <a:ext cx="116248" cy="116248"/>
          </a:xfrm>
          <a:prstGeom prst="rect">
            <a:avLst/>
          </a:prstGeom>
          <a:gradFill>
            <a:gsLst>
              <a:gs pos="0">
                <a:schemeClr val="accent3"/>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58" name="Google Shape;358;p34"/>
          <p:cNvSpPr/>
          <p:nvPr/>
        </p:nvSpPr>
        <p:spPr>
          <a:xfrm rot="-2700000">
            <a:off x="6220971" y="2503072"/>
            <a:ext cx="116248" cy="116248"/>
          </a:xfrm>
          <a:prstGeom prst="rect">
            <a:avLst/>
          </a:prstGeom>
          <a:gradFill>
            <a:gsLst>
              <a:gs pos="0">
                <a:schemeClr val="accent3"/>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59" name="Google Shape;359;p34"/>
          <p:cNvSpPr txBox="1"/>
          <p:nvPr>
            <p:ph idx="1" type="body"/>
          </p:nvPr>
        </p:nvSpPr>
        <p:spPr>
          <a:xfrm>
            <a:off x="758818" y="2808529"/>
            <a:ext cx="1561200" cy="677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0" name="Google Shape;360;p34"/>
          <p:cNvSpPr txBox="1"/>
          <p:nvPr>
            <p:ph idx="2" type="body"/>
          </p:nvPr>
        </p:nvSpPr>
        <p:spPr>
          <a:xfrm>
            <a:off x="758110" y="3895594"/>
            <a:ext cx="2435400" cy="1239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1" name="Google Shape;361;p34"/>
          <p:cNvSpPr txBox="1"/>
          <p:nvPr>
            <p:ph idx="3" type="body"/>
          </p:nvPr>
        </p:nvSpPr>
        <p:spPr>
          <a:xfrm>
            <a:off x="758110" y="3554071"/>
            <a:ext cx="2435400" cy="273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2" name="Google Shape;362;p34"/>
          <p:cNvSpPr txBox="1"/>
          <p:nvPr>
            <p:ph idx="4" type="body"/>
          </p:nvPr>
        </p:nvSpPr>
        <p:spPr>
          <a:xfrm>
            <a:off x="3560403" y="2808529"/>
            <a:ext cx="1561200" cy="677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3" name="Google Shape;363;p34"/>
          <p:cNvSpPr txBox="1"/>
          <p:nvPr>
            <p:ph idx="5" type="body"/>
          </p:nvPr>
        </p:nvSpPr>
        <p:spPr>
          <a:xfrm>
            <a:off x="3559695" y="3895594"/>
            <a:ext cx="2435400" cy="1239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4" name="Google Shape;364;p34"/>
          <p:cNvSpPr txBox="1"/>
          <p:nvPr>
            <p:ph idx="6" type="body"/>
          </p:nvPr>
        </p:nvSpPr>
        <p:spPr>
          <a:xfrm>
            <a:off x="3559695" y="3554071"/>
            <a:ext cx="2435400" cy="273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5" name="Google Shape;365;p34"/>
          <p:cNvSpPr txBox="1"/>
          <p:nvPr>
            <p:ph idx="7" type="body"/>
          </p:nvPr>
        </p:nvSpPr>
        <p:spPr>
          <a:xfrm>
            <a:off x="6361988" y="2808529"/>
            <a:ext cx="1561200" cy="677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6" name="Google Shape;366;p34"/>
          <p:cNvSpPr txBox="1"/>
          <p:nvPr>
            <p:ph idx="8" type="body"/>
          </p:nvPr>
        </p:nvSpPr>
        <p:spPr>
          <a:xfrm>
            <a:off x="6361280" y="3895594"/>
            <a:ext cx="2435400" cy="1239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7" name="Google Shape;367;p34"/>
          <p:cNvSpPr txBox="1"/>
          <p:nvPr>
            <p:ph idx="9" type="body"/>
          </p:nvPr>
        </p:nvSpPr>
        <p:spPr>
          <a:xfrm>
            <a:off x="6361280" y="3554071"/>
            <a:ext cx="2435400" cy="273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8" name="Google Shape;368;p34"/>
          <p:cNvSpPr txBox="1"/>
          <p:nvPr>
            <p:ph idx="13" type="body"/>
          </p:nvPr>
        </p:nvSpPr>
        <p:spPr>
          <a:xfrm>
            <a:off x="9163573" y="2808529"/>
            <a:ext cx="1561200" cy="6771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1"/>
              </a:buClr>
              <a:buSzPts val="4400"/>
              <a:buNone/>
              <a:defRPr b="1" sz="4400">
                <a:solidFill>
                  <a:schemeClr val="accent1"/>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9" name="Google Shape;369;p34"/>
          <p:cNvSpPr txBox="1"/>
          <p:nvPr>
            <p:ph idx="14" type="body"/>
          </p:nvPr>
        </p:nvSpPr>
        <p:spPr>
          <a:xfrm>
            <a:off x="9162865" y="3895594"/>
            <a:ext cx="2435400" cy="12399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0" name="Google Shape;370;p34"/>
          <p:cNvSpPr txBox="1"/>
          <p:nvPr>
            <p:ph idx="15" type="body"/>
          </p:nvPr>
        </p:nvSpPr>
        <p:spPr>
          <a:xfrm>
            <a:off x="9162865" y="3554071"/>
            <a:ext cx="2435400" cy="2730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1" name="Google Shape;371;p34"/>
          <p:cNvSpPr/>
          <p:nvPr/>
        </p:nvSpPr>
        <p:spPr>
          <a:xfrm rot="-2700000">
            <a:off x="9022557" y="2503070"/>
            <a:ext cx="116248" cy="116248"/>
          </a:xfrm>
          <a:prstGeom prst="rect">
            <a:avLst/>
          </a:prstGeom>
          <a:gradFill>
            <a:gsLst>
              <a:gs pos="0">
                <a:schemeClr val="accent3"/>
              </a:gs>
              <a:gs pos="100000">
                <a:schemeClr val="accent2"/>
              </a:gs>
            </a:gsLst>
            <a:lin ang="5400012"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72" name="Google Shape;372;p34"/>
          <p:cNvSpPr txBox="1"/>
          <p:nvPr>
            <p:ph idx="16" type="body"/>
          </p:nvPr>
        </p:nvSpPr>
        <p:spPr>
          <a:xfrm>
            <a:off x="758818" y="1473397"/>
            <a:ext cx="2205900" cy="8310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Clr>
                <a:schemeClr val="accent2"/>
              </a:buClr>
              <a:buSzPts val="5400"/>
              <a:buNone/>
              <a:defRPr b="1" sz="5400">
                <a:solidFill>
                  <a:schemeClr val="accent2"/>
                </a:solidFill>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and 3 points">
  <p:cSld name="Big text and 3 points">
    <p:spTree>
      <p:nvGrpSpPr>
        <p:cNvPr id="373" name="Shape 373"/>
        <p:cNvGrpSpPr/>
        <p:nvPr/>
      </p:nvGrpSpPr>
      <p:grpSpPr>
        <a:xfrm>
          <a:off x="0" y="0"/>
          <a:ext cx="0" cy="0"/>
          <a:chOff x="0" y="0"/>
          <a:chExt cx="0" cy="0"/>
        </a:xfrm>
      </p:grpSpPr>
      <p:sp>
        <p:nvSpPr>
          <p:cNvPr id="374" name="Google Shape;374;p35"/>
          <p:cNvSpPr/>
          <p:nvPr/>
        </p:nvSpPr>
        <p:spPr>
          <a:xfrm>
            <a:off x="506689" y="3939611"/>
            <a:ext cx="3611100" cy="2370600"/>
          </a:xfrm>
          <a:prstGeom prst="roundRect">
            <a:avLst>
              <a:gd fmla="val 5631" name="adj"/>
            </a:avLst>
          </a:prstGeom>
          <a:gradFill>
            <a:gsLst>
              <a:gs pos="0">
                <a:schemeClr val="lt1"/>
              </a:gs>
              <a:gs pos="21000">
                <a:schemeClr val="lt1"/>
              </a:gs>
              <a:gs pos="100000">
                <a:srgbClr val="FFFFFF">
                  <a:alpha val="0"/>
                </a:srgbClr>
              </a:gs>
            </a:gsLst>
            <a:lin ang="2700006"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75" name="Google Shape;375;p35"/>
          <p:cNvSpPr/>
          <p:nvPr/>
        </p:nvSpPr>
        <p:spPr>
          <a:xfrm>
            <a:off x="4284280" y="3939611"/>
            <a:ext cx="3611100" cy="2370600"/>
          </a:xfrm>
          <a:prstGeom prst="roundRect">
            <a:avLst>
              <a:gd fmla="val 5631" name="adj"/>
            </a:avLst>
          </a:prstGeom>
          <a:gradFill>
            <a:gsLst>
              <a:gs pos="0">
                <a:schemeClr val="lt1"/>
              </a:gs>
              <a:gs pos="21000">
                <a:schemeClr val="lt1"/>
              </a:gs>
              <a:gs pos="100000">
                <a:srgbClr val="FFFFFF">
                  <a:alpha val="0"/>
                </a:srgbClr>
              </a:gs>
            </a:gsLst>
            <a:lin ang="2700006"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76" name="Google Shape;376;p35"/>
          <p:cNvSpPr/>
          <p:nvPr/>
        </p:nvSpPr>
        <p:spPr>
          <a:xfrm>
            <a:off x="8074298" y="3939611"/>
            <a:ext cx="3611100" cy="2370600"/>
          </a:xfrm>
          <a:prstGeom prst="roundRect">
            <a:avLst>
              <a:gd fmla="val 5631" name="adj"/>
            </a:avLst>
          </a:prstGeom>
          <a:gradFill>
            <a:gsLst>
              <a:gs pos="0">
                <a:schemeClr val="lt1"/>
              </a:gs>
              <a:gs pos="21000">
                <a:schemeClr val="lt1"/>
              </a:gs>
              <a:gs pos="100000">
                <a:srgbClr val="FFFFFF">
                  <a:alpha val="0"/>
                </a:srgbClr>
              </a:gs>
            </a:gsLst>
            <a:lin ang="2700006" scaled="0"/>
          </a:gradFill>
          <a:ln>
            <a:noFill/>
          </a:ln>
          <a:effectLst>
            <a:outerShdw blurRad="1075824" sx="102000" rotWithShape="0" algn="ctr" sy="102000">
              <a:schemeClr val="dk1">
                <a:alpha val="7840"/>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77" name="Google Shape;377;p35"/>
          <p:cNvSpPr txBox="1"/>
          <p:nvPr>
            <p:ph type="title"/>
          </p:nvPr>
        </p:nvSpPr>
        <p:spPr>
          <a:xfrm>
            <a:off x="593725" y="547688"/>
            <a:ext cx="11004600" cy="31350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35"/>
          <p:cNvSpPr txBox="1"/>
          <p:nvPr>
            <p:ph idx="1" type="body"/>
          </p:nvPr>
        </p:nvSpPr>
        <p:spPr>
          <a:xfrm>
            <a:off x="593725" y="4879572"/>
            <a:ext cx="3444900" cy="1246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9" name="Google Shape;379;p35"/>
          <p:cNvSpPr txBox="1"/>
          <p:nvPr>
            <p:ph idx="2" type="body"/>
          </p:nvPr>
        </p:nvSpPr>
        <p:spPr>
          <a:xfrm>
            <a:off x="4376738" y="4879572"/>
            <a:ext cx="3436800" cy="1246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0" name="Google Shape;380;p35"/>
          <p:cNvSpPr txBox="1"/>
          <p:nvPr>
            <p:ph idx="3" type="body"/>
          </p:nvPr>
        </p:nvSpPr>
        <p:spPr>
          <a:xfrm>
            <a:off x="8161337" y="4879572"/>
            <a:ext cx="3436800" cy="124650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0"/>
              </a:spcBef>
              <a:spcAft>
                <a:spcPts val="0"/>
              </a:spcAft>
              <a:buClr>
                <a:schemeClr val="dk1"/>
              </a:buClr>
              <a:buSzPts val="1400"/>
              <a:buNone/>
              <a:defRPr sz="1400"/>
            </a:lvl1pPr>
            <a:lvl2pPr indent="-304800" lvl="1" marL="914400" algn="l">
              <a:lnSpc>
                <a:spcPct val="110000"/>
              </a:lnSpc>
              <a:spcBef>
                <a:spcPts val="600"/>
              </a:spcBef>
              <a:spcAft>
                <a:spcPts val="0"/>
              </a:spcAft>
              <a:buClr>
                <a:schemeClr val="dk1"/>
              </a:buClr>
              <a:buSzPts val="1200"/>
              <a:buChar char="•"/>
              <a:defRPr sz="1200"/>
            </a:lvl2pPr>
            <a:lvl3pPr indent="-298450" lvl="2" marL="1371600" algn="l">
              <a:lnSpc>
                <a:spcPct val="110000"/>
              </a:lnSpc>
              <a:spcBef>
                <a:spcPts val="600"/>
              </a:spcBef>
              <a:spcAft>
                <a:spcPts val="0"/>
              </a:spcAft>
              <a:buClr>
                <a:schemeClr val="dk1"/>
              </a:buClr>
              <a:buSzPts val="1100"/>
              <a:buChar char="•"/>
              <a:defRPr sz="1100"/>
            </a:lvl3pPr>
            <a:lvl4pPr indent="-295275" lvl="3" marL="1828800" algn="l">
              <a:lnSpc>
                <a:spcPct val="110000"/>
              </a:lnSpc>
              <a:spcBef>
                <a:spcPts val="600"/>
              </a:spcBef>
              <a:spcAft>
                <a:spcPts val="0"/>
              </a:spcAft>
              <a:buClr>
                <a:schemeClr val="dk1"/>
              </a:buClr>
              <a:buSzPts val="1050"/>
              <a:buChar char="•"/>
              <a:defRPr sz="1050"/>
            </a:lvl4pPr>
            <a:lvl5pPr indent="-295275" lvl="4" marL="2286000" algn="l">
              <a:lnSpc>
                <a:spcPct val="110000"/>
              </a:lnSpc>
              <a:spcBef>
                <a:spcPts val="600"/>
              </a:spcBef>
              <a:spcAft>
                <a:spcPts val="0"/>
              </a:spcAft>
              <a:buClr>
                <a:schemeClr val="dk1"/>
              </a:buClr>
              <a:buSzPts val="1050"/>
              <a:buChar char="•"/>
              <a:defRPr sz="105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1" name="Google Shape;381;p35"/>
          <p:cNvSpPr txBox="1"/>
          <p:nvPr>
            <p:ph idx="4" type="body"/>
          </p:nvPr>
        </p:nvSpPr>
        <p:spPr>
          <a:xfrm>
            <a:off x="593726" y="4031673"/>
            <a:ext cx="1069200" cy="7482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2" name="Google Shape;382;p35"/>
          <p:cNvSpPr txBox="1"/>
          <p:nvPr>
            <p:ph idx="5" type="body"/>
          </p:nvPr>
        </p:nvSpPr>
        <p:spPr>
          <a:xfrm>
            <a:off x="4376738" y="4031673"/>
            <a:ext cx="1032600" cy="7482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3" name="Google Shape;383;p35"/>
          <p:cNvSpPr txBox="1"/>
          <p:nvPr>
            <p:ph idx="6" type="body"/>
          </p:nvPr>
        </p:nvSpPr>
        <p:spPr>
          <a:xfrm>
            <a:off x="8161338" y="4031673"/>
            <a:ext cx="994500" cy="748200"/>
          </a:xfrm>
          <a:prstGeom prst="rect">
            <a:avLst/>
          </a:prstGeom>
          <a:noFill/>
          <a:ln>
            <a:noFill/>
          </a:ln>
        </p:spPr>
        <p:txBody>
          <a:bodyPr anchorCtr="0" anchor="b" bIns="0" lIns="0" spcFirstLastPara="1" rIns="0" wrap="square" tIns="0">
            <a:normAutofit/>
          </a:bodyPr>
          <a:lstStyle>
            <a:lvl1pPr indent="-228600" lvl="0" marL="457200" algn="l">
              <a:lnSpc>
                <a:spcPct val="100000"/>
              </a:lnSpc>
              <a:spcBef>
                <a:spcPts val="0"/>
              </a:spcBef>
              <a:spcAft>
                <a:spcPts val="0"/>
              </a:spcAft>
              <a:buClr>
                <a:schemeClr val="accent1"/>
              </a:buClr>
              <a:buSzPts val="6000"/>
              <a:buNone/>
              <a:defRPr b="1" sz="6000">
                <a:solidFill>
                  <a:schemeClr val="accent1"/>
                </a:solidFill>
                <a:latin typeface="Montserrat"/>
                <a:ea typeface="Montserrat"/>
                <a:cs typeface="Montserrat"/>
                <a:sym typeface="Montserrat"/>
              </a:defRPr>
            </a:lvl1pPr>
            <a:lvl2pPr indent="-342900" lvl="1" marL="914400" algn="l">
              <a:lnSpc>
                <a:spcPct val="110000"/>
              </a:lnSpc>
              <a:spcBef>
                <a:spcPts val="600"/>
              </a:spcBef>
              <a:spcAft>
                <a:spcPts val="0"/>
              </a:spcAft>
              <a:buClr>
                <a:schemeClr val="dk1"/>
              </a:buClr>
              <a:buSzPts val="1800"/>
              <a:buChar char="•"/>
              <a:defRPr/>
            </a:lvl2pPr>
            <a:lvl3pPr indent="-342900" lvl="2" marL="1371600" algn="l">
              <a:lnSpc>
                <a:spcPct val="110000"/>
              </a:lnSpc>
              <a:spcBef>
                <a:spcPts val="600"/>
              </a:spcBef>
              <a:spcAft>
                <a:spcPts val="0"/>
              </a:spcAft>
              <a:buClr>
                <a:schemeClr val="dk1"/>
              </a:buClr>
              <a:buSzPts val="1800"/>
              <a:buChar char="•"/>
              <a:defRPr/>
            </a:lvl3pPr>
            <a:lvl4pPr indent="-342900" lvl="3" marL="1828800" algn="l">
              <a:lnSpc>
                <a:spcPct val="110000"/>
              </a:lnSpc>
              <a:spcBef>
                <a:spcPts val="600"/>
              </a:spcBef>
              <a:spcAft>
                <a:spcPts val="0"/>
              </a:spcAft>
              <a:buClr>
                <a:schemeClr val="dk1"/>
              </a:buClr>
              <a:buSzPts val="1800"/>
              <a:buChar char="•"/>
              <a:defRPr/>
            </a:lvl4pPr>
            <a:lvl5pPr indent="-342900" lvl="4" marL="2286000" algn="l">
              <a:lnSpc>
                <a:spcPct val="110000"/>
              </a:lnSpc>
              <a:spcBef>
                <a:spcPts val="600"/>
              </a:spcBef>
              <a:spcAft>
                <a:spcPts val="0"/>
              </a:spcAft>
              <a:buClr>
                <a:schemeClr val="dk1"/>
              </a:buClr>
              <a:buSzPts val="1800"/>
              <a:buChar char="•"/>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4" name="Google Shape;384;p35"/>
          <p:cNvSpPr txBox="1"/>
          <p:nvPr>
            <p:ph idx="7" type="body"/>
          </p:nvPr>
        </p:nvSpPr>
        <p:spPr>
          <a:xfrm>
            <a:off x="1762299" y="4031672"/>
            <a:ext cx="2276400" cy="7482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5" name="Google Shape;385;p35"/>
          <p:cNvSpPr txBox="1"/>
          <p:nvPr>
            <p:ph idx="8" type="body"/>
          </p:nvPr>
        </p:nvSpPr>
        <p:spPr>
          <a:xfrm>
            <a:off x="5508798" y="4031672"/>
            <a:ext cx="2304900" cy="7482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6" name="Google Shape;386;p35"/>
          <p:cNvSpPr txBox="1"/>
          <p:nvPr>
            <p:ph idx="9" type="body"/>
          </p:nvPr>
        </p:nvSpPr>
        <p:spPr>
          <a:xfrm>
            <a:off x="9255298" y="4031672"/>
            <a:ext cx="2343000" cy="748200"/>
          </a:xfrm>
          <a:prstGeom prst="rect">
            <a:avLst/>
          </a:prstGeom>
          <a:noFill/>
          <a:ln>
            <a:noFill/>
          </a:ln>
        </p:spPr>
        <p:txBody>
          <a:bodyPr anchorCtr="0" anchor="ctr" bIns="0" lIns="0" spcFirstLastPara="1" rIns="0" wrap="square" tIns="0">
            <a:noAutofit/>
          </a:bodyPr>
          <a:lstStyle>
            <a:lvl1pPr indent="-228600" lvl="0" marL="457200" algn="l">
              <a:lnSpc>
                <a:spcPct val="11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Points">
  <p:cSld name="5 Points">
    <p:spTree>
      <p:nvGrpSpPr>
        <p:cNvPr id="387" name="Shape 387"/>
        <p:cNvGrpSpPr/>
        <p:nvPr/>
      </p:nvGrpSpPr>
      <p:grpSpPr>
        <a:xfrm>
          <a:off x="0" y="0"/>
          <a:ext cx="0" cy="0"/>
          <a:chOff x="0" y="0"/>
          <a:chExt cx="0" cy="0"/>
        </a:xfrm>
      </p:grpSpPr>
      <p:sp>
        <p:nvSpPr>
          <p:cNvPr id="388" name="Google Shape;388;p36"/>
          <p:cNvSpPr/>
          <p:nvPr/>
        </p:nvSpPr>
        <p:spPr>
          <a:xfrm>
            <a:off x="637195" y="547687"/>
            <a:ext cx="3783000" cy="5576700"/>
          </a:xfrm>
          <a:prstGeom prst="rect">
            <a:avLst/>
          </a:prstGeom>
          <a:noFill/>
          <a:ln cap="flat" cmpd="sng" w="762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sp>
        <p:nvSpPr>
          <p:cNvPr id="389" name="Google Shape;389;p36"/>
          <p:cNvSpPr txBox="1"/>
          <p:nvPr>
            <p:ph type="title"/>
          </p:nvPr>
        </p:nvSpPr>
        <p:spPr>
          <a:xfrm>
            <a:off x="762792" y="1030073"/>
            <a:ext cx="3444900" cy="44322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dk1"/>
              </a:buClr>
              <a:buSzPts val="2800"/>
              <a:buFont typeface="Montserrat"/>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0" name="Google Shape;390;p36"/>
          <p:cNvSpPr txBox="1"/>
          <p:nvPr>
            <p:ph idx="1" type="body"/>
          </p:nvPr>
        </p:nvSpPr>
        <p:spPr>
          <a:xfrm>
            <a:off x="5065712" y="900985"/>
            <a:ext cx="6531000" cy="533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1" name="Google Shape;391;p36"/>
          <p:cNvSpPr txBox="1"/>
          <p:nvPr>
            <p:ph idx="2" type="body"/>
          </p:nvPr>
        </p:nvSpPr>
        <p:spPr>
          <a:xfrm>
            <a:off x="5065499" y="547687"/>
            <a:ext cx="6531300" cy="2967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2" name="Google Shape;392;p36"/>
          <p:cNvSpPr txBox="1"/>
          <p:nvPr>
            <p:ph idx="3" type="body"/>
          </p:nvPr>
        </p:nvSpPr>
        <p:spPr>
          <a:xfrm>
            <a:off x="5065712" y="2073570"/>
            <a:ext cx="6531000" cy="533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3" name="Google Shape;393;p36"/>
          <p:cNvSpPr txBox="1"/>
          <p:nvPr>
            <p:ph idx="4" type="body"/>
          </p:nvPr>
        </p:nvSpPr>
        <p:spPr>
          <a:xfrm>
            <a:off x="5065499" y="1720272"/>
            <a:ext cx="6531300" cy="2967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4" name="Google Shape;394;p36"/>
          <p:cNvSpPr txBox="1"/>
          <p:nvPr>
            <p:ph idx="5" type="body"/>
          </p:nvPr>
        </p:nvSpPr>
        <p:spPr>
          <a:xfrm>
            <a:off x="5065712" y="3246155"/>
            <a:ext cx="6531000" cy="533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5" name="Google Shape;395;p36"/>
          <p:cNvSpPr txBox="1"/>
          <p:nvPr>
            <p:ph idx="6" type="body"/>
          </p:nvPr>
        </p:nvSpPr>
        <p:spPr>
          <a:xfrm>
            <a:off x="5065499" y="2892857"/>
            <a:ext cx="6531300" cy="2967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6" name="Google Shape;396;p36"/>
          <p:cNvSpPr txBox="1"/>
          <p:nvPr>
            <p:ph idx="7" type="body"/>
          </p:nvPr>
        </p:nvSpPr>
        <p:spPr>
          <a:xfrm>
            <a:off x="5065712" y="4418740"/>
            <a:ext cx="6531000" cy="533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7" name="Google Shape;397;p36"/>
          <p:cNvSpPr txBox="1"/>
          <p:nvPr>
            <p:ph idx="8" type="body"/>
          </p:nvPr>
        </p:nvSpPr>
        <p:spPr>
          <a:xfrm>
            <a:off x="5065499" y="4065442"/>
            <a:ext cx="6531300" cy="2967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8" name="Google Shape;398;p36"/>
          <p:cNvSpPr txBox="1"/>
          <p:nvPr>
            <p:ph idx="9" type="body"/>
          </p:nvPr>
        </p:nvSpPr>
        <p:spPr>
          <a:xfrm>
            <a:off x="5065712" y="5591327"/>
            <a:ext cx="6531000" cy="5331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dk1"/>
              </a:buClr>
              <a:buSzPts val="1400"/>
              <a:buNone/>
              <a:defRPr sz="1400"/>
            </a:lvl1pPr>
            <a:lvl2pPr indent="-228600" lvl="1" marL="914400" algn="l">
              <a:lnSpc>
                <a:spcPct val="110000"/>
              </a:lnSpc>
              <a:spcBef>
                <a:spcPts val="600"/>
              </a:spcBef>
              <a:spcAft>
                <a:spcPts val="0"/>
              </a:spcAft>
              <a:buClr>
                <a:schemeClr val="dk1"/>
              </a:buClr>
              <a:buSzPts val="1100"/>
              <a:buNone/>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9" name="Google Shape;399;p36"/>
          <p:cNvSpPr txBox="1"/>
          <p:nvPr>
            <p:ph idx="13" type="body"/>
          </p:nvPr>
        </p:nvSpPr>
        <p:spPr>
          <a:xfrm>
            <a:off x="5065499" y="5238029"/>
            <a:ext cx="6531300" cy="296700"/>
          </a:xfrm>
          <a:prstGeom prst="rect">
            <a:avLst/>
          </a:prstGeom>
          <a:noFill/>
          <a:ln>
            <a:noFill/>
          </a:ln>
        </p:spPr>
        <p:txBody>
          <a:bodyPr anchorCtr="0" anchor="ctr" bIns="0" lIns="0" spcFirstLastPara="1" rIns="0" wrap="square" tIns="0">
            <a:noAutofit/>
          </a:bodyPr>
          <a:lstStyle>
            <a:lvl1pPr indent="-228600" lvl="0" marL="457200" algn="l">
              <a:lnSpc>
                <a:spcPct val="100000"/>
              </a:lnSpc>
              <a:spcBef>
                <a:spcPts val="0"/>
              </a:spcBef>
              <a:spcAft>
                <a:spcPts val="0"/>
              </a:spcAft>
              <a:buClr>
                <a:schemeClr val="dk1"/>
              </a:buClr>
              <a:buSzPts val="1600"/>
              <a:buNone/>
              <a:defRPr b="1" sz="1600">
                <a:latin typeface="Montserrat"/>
                <a:ea typeface="Montserrat"/>
                <a:cs typeface="Montserrat"/>
                <a:sym typeface="Montserrat"/>
              </a:defRPr>
            </a:lvl1pPr>
            <a:lvl2pPr indent="-298450" lvl="1" marL="914400" algn="l">
              <a:lnSpc>
                <a:spcPct val="110000"/>
              </a:lnSpc>
              <a:spcBef>
                <a:spcPts val="600"/>
              </a:spcBef>
              <a:spcAft>
                <a:spcPts val="0"/>
              </a:spcAft>
              <a:buClr>
                <a:schemeClr val="dk1"/>
              </a:buClr>
              <a:buSzPts val="1100"/>
              <a:buChar char="•"/>
              <a:defRPr sz="1100"/>
            </a:lvl2pPr>
            <a:lvl3pPr indent="-295275" lvl="2" marL="1371600" algn="l">
              <a:lnSpc>
                <a:spcPct val="110000"/>
              </a:lnSpc>
              <a:spcBef>
                <a:spcPts val="600"/>
              </a:spcBef>
              <a:spcAft>
                <a:spcPts val="0"/>
              </a:spcAft>
              <a:buClr>
                <a:schemeClr val="dk1"/>
              </a:buClr>
              <a:buSzPts val="1050"/>
              <a:buChar char="•"/>
              <a:defRPr sz="1050"/>
            </a:lvl3pPr>
            <a:lvl4pPr indent="-292100" lvl="3" marL="1828800" algn="l">
              <a:lnSpc>
                <a:spcPct val="110000"/>
              </a:lnSpc>
              <a:spcBef>
                <a:spcPts val="600"/>
              </a:spcBef>
              <a:spcAft>
                <a:spcPts val="0"/>
              </a:spcAft>
              <a:buClr>
                <a:schemeClr val="dk1"/>
              </a:buClr>
              <a:buSzPts val="1000"/>
              <a:buChar char="•"/>
              <a:defRPr sz="1000"/>
            </a:lvl4pPr>
            <a:lvl5pPr indent="-292100" lvl="4" marL="2286000" algn="l">
              <a:lnSpc>
                <a:spcPct val="110000"/>
              </a:lnSpc>
              <a:spcBef>
                <a:spcPts val="600"/>
              </a:spcBef>
              <a:spcAft>
                <a:spcPts val="0"/>
              </a:spcAft>
              <a:buClr>
                <a:schemeClr val="dk1"/>
              </a:buClr>
              <a:buSzPts val="1000"/>
              <a:buChar char="•"/>
              <a:defRPr sz="1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400" name="Google Shape;400;p36"/>
          <p:cNvCxnSpPr/>
          <p:nvPr/>
        </p:nvCxnSpPr>
        <p:spPr>
          <a:xfrm>
            <a:off x="4975225" y="547687"/>
            <a:ext cx="0" cy="886500"/>
          </a:xfrm>
          <a:prstGeom prst="straightConnector1">
            <a:avLst/>
          </a:prstGeom>
          <a:noFill/>
          <a:ln cap="flat" cmpd="sng" w="19050">
            <a:solidFill>
              <a:schemeClr val="accent1"/>
            </a:solidFill>
            <a:prstDash val="solid"/>
            <a:miter lim="800000"/>
            <a:headEnd len="sm" w="sm" type="none"/>
            <a:tailEnd len="sm" w="sm" type="none"/>
          </a:ln>
        </p:spPr>
      </p:cxnSp>
      <p:cxnSp>
        <p:nvCxnSpPr>
          <p:cNvPr id="401" name="Google Shape;401;p36"/>
          <p:cNvCxnSpPr/>
          <p:nvPr/>
        </p:nvCxnSpPr>
        <p:spPr>
          <a:xfrm>
            <a:off x="4975225" y="1720273"/>
            <a:ext cx="0" cy="886500"/>
          </a:xfrm>
          <a:prstGeom prst="straightConnector1">
            <a:avLst/>
          </a:prstGeom>
          <a:noFill/>
          <a:ln cap="flat" cmpd="sng" w="19050">
            <a:solidFill>
              <a:schemeClr val="accent1"/>
            </a:solidFill>
            <a:prstDash val="solid"/>
            <a:miter lim="800000"/>
            <a:headEnd len="sm" w="sm" type="none"/>
            <a:tailEnd len="sm" w="sm" type="none"/>
          </a:ln>
        </p:spPr>
      </p:cxnSp>
      <p:cxnSp>
        <p:nvCxnSpPr>
          <p:cNvPr id="402" name="Google Shape;402;p36"/>
          <p:cNvCxnSpPr/>
          <p:nvPr/>
        </p:nvCxnSpPr>
        <p:spPr>
          <a:xfrm>
            <a:off x="4975225" y="2892858"/>
            <a:ext cx="0" cy="886500"/>
          </a:xfrm>
          <a:prstGeom prst="straightConnector1">
            <a:avLst/>
          </a:prstGeom>
          <a:noFill/>
          <a:ln cap="flat" cmpd="sng" w="19050">
            <a:solidFill>
              <a:schemeClr val="accent1"/>
            </a:solidFill>
            <a:prstDash val="solid"/>
            <a:miter lim="800000"/>
            <a:headEnd len="sm" w="sm" type="none"/>
            <a:tailEnd len="sm" w="sm" type="none"/>
          </a:ln>
        </p:spPr>
      </p:cxnSp>
      <p:cxnSp>
        <p:nvCxnSpPr>
          <p:cNvPr id="403" name="Google Shape;403;p36"/>
          <p:cNvCxnSpPr/>
          <p:nvPr/>
        </p:nvCxnSpPr>
        <p:spPr>
          <a:xfrm>
            <a:off x="4975225" y="4065443"/>
            <a:ext cx="0" cy="886500"/>
          </a:xfrm>
          <a:prstGeom prst="straightConnector1">
            <a:avLst/>
          </a:prstGeom>
          <a:noFill/>
          <a:ln cap="flat" cmpd="sng" w="19050">
            <a:solidFill>
              <a:schemeClr val="accent1"/>
            </a:solidFill>
            <a:prstDash val="solid"/>
            <a:miter lim="800000"/>
            <a:headEnd len="sm" w="sm" type="none"/>
            <a:tailEnd len="sm" w="sm" type="none"/>
          </a:ln>
        </p:spPr>
      </p:cxnSp>
      <p:cxnSp>
        <p:nvCxnSpPr>
          <p:cNvPr id="404" name="Google Shape;404;p36"/>
          <p:cNvCxnSpPr/>
          <p:nvPr/>
        </p:nvCxnSpPr>
        <p:spPr>
          <a:xfrm>
            <a:off x="4975225" y="5238029"/>
            <a:ext cx="0" cy="886500"/>
          </a:xfrm>
          <a:prstGeom prst="straightConnector1">
            <a:avLst/>
          </a:prstGeom>
          <a:noFill/>
          <a:ln cap="flat" cmpd="sng" w="19050">
            <a:solidFill>
              <a:schemeClr val="accent1"/>
            </a:solidFill>
            <a:prstDash val="solid"/>
            <a:miter lim="800000"/>
            <a:headEnd len="sm" w="sm" type="none"/>
            <a:tailEnd len="sm" w="sm"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Title only">
    <p:spTree>
      <p:nvGrpSpPr>
        <p:cNvPr id="405" name="Shape 405"/>
        <p:cNvGrpSpPr/>
        <p:nvPr/>
      </p:nvGrpSpPr>
      <p:grpSpPr>
        <a:xfrm>
          <a:off x="0" y="0"/>
          <a:ext cx="0" cy="0"/>
          <a:chOff x="0" y="0"/>
          <a:chExt cx="0" cy="0"/>
        </a:xfrm>
      </p:grpSpPr>
      <p:sp>
        <p:nvSpPr>
          <p:cNvPr id="406" name="Google Shape;406;p37"/>
          <p:cNvSpPr txBox="1"/>
          <p:nvPr>
            <p:ph type="title"/>
          </p:nvPr>
        </p:nvSpPr>
        <p:spPr>
          <a:xfrm>
            <a:off x="593725" y="547688"/>
            <a:ext cx="11003100" cy="3879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chemeClr val="dk1"/>
              </a:buClr>
              <a:buSzPts val="1800"/>
              <a:buFont typeface="Montserra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showMasterSp="0">
  <p:cSld name="Final slide">
    <p:bg>
      <p:bgPr>
        <a:solidFill>
          <a:schemeClr val="accent2"/>
        </a:solidFill>
      </p:bgPr>
    </p:bg>
    <p:spTree>
      <p:nvGrpSpPr>
        <p:cNvPr id="407" name="Shape 407"/>
        <p:cNvGrpSpPr/>
        <p:nvPr/>
      </p:nvGrpSpPr>
      <p:grpSpPr>
        <a:xfrm>
          <a:off x="0" y="0"/>
          <a:ext cx="0" cy="0"/>
          <a:chOff x="0" y="0"/>
          <a:chExt cx="0" cy="0"/>
        </a:xfrm>
      </p:grpSpPr>
      <p:pic>
        <p:nvPicPr>
          <p:cNvPr descr="A purple light in the dark&#10;&#10;Description automatically generated" id="408" name="Google Shape;408;p3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409" name="Google Shape;409;p38"/>
          <p:cNvSpPr txBox="1"/>
          <p:nvPr>
            <p:ph type="title"/>
          </p:nvPr>
        </p:nvSpPr>
        <p:spPr>
          <a:xfrm>
            <a:off x="593726" y="3429000"/>
            <a:ext cx="4381500" cy="1709700"/>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lt1"/>
              </a:buClr>
              <a:buSzPts val="4000"/>
              <a:buFont typeface="Montserrat"/>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0" name="Google Shape;410;p38"/>
          <p:cNvSpPr txBox="1"/>
          <p:nvPr>
            <p:ph idx="1" type="body"/>
          </p:nvPr>
        </p:nvSpPr>
        <p:spPr>
          <a:xfrm>
            <a:off x="593725" y="5486400"/>
            <a:ext cx="4381500" cy="63990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accent1"/>
              </a:buClr>
              <a:buSzPts val="1600"/>
              <a:buNone/>
              <a:defRPr b="1">
                <a:solidFill>
                  <a:schemeClr val="accent1"/>
                </a:solidFill>
              </a:defRPr>
            </a:lvl1pPr>
            <a:lvl2pPr indent="-317500" lvl="1" marL="914400" algn="l">
              <a:lnSpc>
                <a:spcPct val="110000"/>
              </a:lnSpc>
              <a:spcBef>
                <a:spcPts val="600"/>
              </a:spcBef>
              <a:spcAft>
                <a:spcPts val="0"/>
              </a:spcAft>
              <a:buClr>
                <a:schemeClr val="accent1"/>
              </a:buClr>
              <a:buSzPts val="1400"/>
              <a:buChar char="•"/>
              <a:defRPr b="1">
                <a:solidFill>
                  <a:schemeClr val="accent1"/>
                </a:solidFill>
              </a:defRPr>
            </a:lvl2pPr>
            <a:lvl3pPr indent="-304800" lvl="2" marL="1371600" algn="l">
              <a:lnSpc>
                <a:spcPct val="110000"/>
              </a:lnSpc>
              <a:spcBef>
                <a:spcPts val="600"/>
              </a:spcBef>
              <a:spcAft>
                <a:spcPts val="0"/>
              </a:spcAft>
              <a:buClr>
                <a:schemeClr val="accent1"/>
              </a:buClr>
              <a:buSzPts val="1200"/>
              <a:buChar char="•"/>
              <a:defRPr b="1">
                <a:solidFill>
                  <a:schemeClr val="accent1"/>
                </a:solidFill>
              </a:defRPr>
            </a:lvl3pPr>
            <a:lvl4pPr indent="-298450" lvl="3" marL="1828800" algn="l">
              <a:lnSpc>
                <a:spcPct val="110000"/>
              </a:lnSpc>
              <a:spcBef>
                <a:spcPts val="600"/>
              </a:spcBef>
              <a:spcAft>
                <a:spcPts val="0"/>
              </a:spcAft>
              <a:buClr>
                <a:schemeClr val="accent1"/>
              </a:buClr>
              <a:buSzPts val="1100"/>
              <a:buChar char="•"/>
              <a:defRPr b="1">
                <a:solidFill>
                  <a:schemeClr val="accent1"/>
                </a:solidFill>
              </a:defRPr>
            </a:lvl4pPr>
            <a:lvl5pPr indent="-298450" lvl="4" marL="2286000" algn="l">
              <a:lnSpc>
                <a:spcPct val="110000"/>
              </a:lnSpc>
              <a:spcBef>
                <a:spcPts val="600"/>
              </a:spcBef>
              <a:spcAft>
                <a:spcPts val="0"/>
              </a:spcAft>
              <a:buClr>
                <a:schemeClr val="accent1"/>
              </a:buClr>
              <a:buSzPts val="1100"/>
              <a:buChar char="•"/>
              <a:defRPr b="1">
                <a:solidFill>
                  <a:schemeClr val="accent1"/>
                </a:solidFill>
              </a:defRPr>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1" name="Google Shape;411;p38"/>
          <p:cNvSpPr/>
          <p:nvPr/>
        </p:nvSpPr>
        <p:spPr>
          <a:xfrm>
            <a:off x="6801170" y="0"/>
            <a:ext cx="5390831" cy="6858000"/>
          </a:xfrm>
          <a:custGeom>
            <a:rect b="b" l="l" r="r" t="t"/>
            <a:pathLst>
              <a:path extrusionOk="0" h="6858000" w="5390831">
                <a:moveTo>
                  <a:pt x="0" y="0"/>
                </a:moveTo>
                <a:lnTo>
                  <a:pt x="914908" y="0"/>
                </a:lnTo>
                <a:lnTo>
                  <a:pt x="2790081" y="2724370"/>
                </a:lnTo>
                <a:lnTo>
                  <a:pt x="4073977" y="859046"/>
                </a:lnTo>
                <a:lnTo>
                  <a:pt x="5109309" y="859046"/>
                </a:lnTo>
                <a:lnTo>
                  <a:pt x="3318553" y="3370641"/>
                </a:lnTo>
                <a:lnTo>
                  <a:pt x="5390831" y="6355291"/>
                </a:lnTo>
                <a:lnTo>
                  <a:pt x="5390831" y="6858000"/>
                </a:lnTo>
                <a:lnTo>
                  <a:pt x="4773012" y="6858000"/>
                </a:lnTo>
                <a:lnTo>
                  <a:pt x="2759821" y="4038526"/>
                </a:lnTo>
                <a:lnTo>
                  <a:pt x="1408923" y="5998953"/>
                </a:lnTo>
                <a:lnTo>
                  <a:pt x="373589" y="5998953"/>
                </a:lnTo>
                <a:lnTo>
                  <a:pt x="2231349" y="3384690"/>
                </a:lnTo>
                <a:close/>
              </a:path>
            </a:pathLst>
          </a:custGeom>
          <a:gradFill>
            <a:gsLst>
              <a:gs pos="0">
                <a:srgbClr val="FF00FF">
                  <a:alpha val="18823"/>
                </a:srgbClr>
              </a:gs>
              <a:gs pos="69000">
                <a:srgbClr val="FF00FF">
                  <a:alpha val="0"/>
                </a:srgbClr>
              </a:gs>
              <a:gs pos="100000">
                <a:srgbClr val="FF00FF">
                  <a:alpha val="32941"/>
                </a:srgbClr>
              </a:gs>
            </a:gsLst>
            <a:lin ang="2700006"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ontserrat"/>
              <a:ea typeface="Montserrat"/>
              <a:cs typeface="Montserrat"/>
              <a:sym typeface="Montserrat"/>
            </a:endParaRPr>
          </a:p>
        </p:txBody>
      </p:sp>
      <p:pic>
        <p:nvPicPr>
          <p:cNvPr id="412" name="Google Shape;412;p38"/>
          <p:cNvPicPr preferRelativeResize="0"/>
          <p:nvPr/>
        </p:nvPicPr>
        <p:blipFill rotWithShape="1">
          <a:blip r:embed="rId3">
            <a:alphaModFix/>
          </a:blip>
          <a:srcRect b="0" l="0" r="0" t="0"/>
          <a:stretch/>
        </p:blipFill>
        <p:spPr>
          <a:xfrm>
            <a:off x="593725" y="964483"/>
            <a:ext cx="2501298" cy="52510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3" Type="http://schemas.openxmlformats.org/officeDocument/2006/relationships/slideLayout" Target="../slideLayouts/slideLayout30.xml"/><Relationship Id="rId12" Type="http://schemas.openxmlformats.org/officeDocument/2006/relationships/slideLayout" Target="../slideLayouts/slideLayout29.xml"/><Relationship Id="rId1" Type="http://schemas.openxmlformats.org/officeDocument/2006/relationships/image" Target="../media/image7.png"/><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5" Type="http://schemas.openxmlformats.org/officeDocument/2006/relationships/slideLayout" Target="../slideLayouts/slideLayout32.xml"/><Relationship Id="rId14" Type="http://schemas.openxmlformats.org/officeDocument/2006/relationships/slideLayout" Target="../slideLayouts/slideLayout31.xml"/><Relationship Id="rId17" Type="http://schemas.openxmlformats.org/officeDocument/2006/relationships/slideLayout" Target="../slideLayouts/slideLayout34.xml"/><Relationship Id="rId16" Type="http://schemas.openxmlformats.org/officeDocument/2006/relationships/slideLayout" Target="../slideLayouts/slideLayout33.xml"/><Relationship Id="rId5" Type="http://schemas.openxmlformats.org/officeDocument/2006/relationships/slideLayout" Target="../slideLayouts/slideLayout22.xml"/><Relationship Id="rId19" Type="http://schemas.openxmlformats.org/officeDocument/2006/relationships/slideLayout" Target="../slideLayouts/slideLayout36.xml"/><Relationship Id="rId6" Type="http://schemas.openxmlformats.org/officeDocument/2006/relationships/slideLayout" Target="../slideLayouts/slideLayout23.xml"/><Relationship Id="rId18" Type="http://schemas.openxmlformats.org/officeDocument/2006/relationships/slideLayout" Target="../slideLayouts/slideLayout35.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93725" y="547688"/>
            <a:ext cx="11002963" cy="336549"/>
          </a:xfrm>
          <a:prstGeom prst="rect">
            <a:avLst/>
          </a:prstGeom>
          <a:noFill/>
          <a:ln>
            <a:noFill/>
          </a:ln>
        </p:spPr>
        <p:txBody>
          <a:bodyPr anchorCtr="0" anchor="t" bIns="0" lIns="0" spcFirstLastPara="1" rIns="0" wrap="square" tIns="0">
            <a:noAutofit/>
          </a:bodyPr>
          <a:lstStyle>
            <a:lvl1pPr lvl="0" marR="0" rtl="0" algn="l">
              <a:lnSpc>
                <a:spcPct val="9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593725" y="1535113"/>
            <a:ext cx="11002963" cy="4641850"/>
          </a:xfrm>
          <a:prstGeom prst="rect">
            <a:avLst/>
          </a:prstGeom>
          <a:noFill/>
          <a:ln>
            <a:noFill/>
          </a:ln>
        </p:spPr>
        <p:txBody>
          <a:bodyPr anchorCtr="0" anchor="t" bIns="0" lIns="0" spcFirstLastPara="1" rIns="0" wrap="square" tIns="0">
            <a:normAutofit/>
          </a:bodyPr>
          <a:lstStyle>
            <a:lvl1pPr indent="-228600" lvl="0" marL="457200" marR="0" rtl="0" algn="l">
              <a:lnSpc>
                <a:spcPct val="110000"/>
              </a:lnSpc>
              <a:spcBef>
                <a:spcPts val="0"/>
              </a:spcBef>
              <a:spcAft>
                <a:spcPts val="0"/>
              </a:spcAft>
              <a:buClr>
                <a:schemeClr val="dk1"/>
              </a:buClr>
              <a:buSzPts val="1600"/>
              <a:buFont typeface="Arial"/>
              <a:buNone/>
              <a:defRPr b="0" i="0" sz="1600" u="none" cap="none" strike="noStrike">
                <a:solidFill>
                  <a:schemeClr val="dk1"/>
                </a:solidFill>
                <a:latin typeface="Montserrat"/>
                <a:ea typeface="Montserrat"/>
                <a:cs typeface="Montserrat"/>
                <a:sym typeface="Montserrat"/>
              </a:defRPr>
            </a:lvl1pPr>
            <a:lvl2pPr indent="-317500" lvl="1" marL="914400" marR="0" rtl="0" algn="l">
              <a:lnSpc>
                <a:spcPct val="110000"/>
              </a:lnSpc>
              <a:spcBef>
                <a:spcPts val="6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2pPr>
            <a:lvl3pPr indent="-304800" lvl="2" marL="1371600" marR="0" rtl="0" algn="l">
              <a:lnSpc>
                <a:spcPct val="110000"/>
              </a:lnSpc>
              <a:spcBef>
                <a:spcPts val="600"/>
              </a:spcBef>
              <a:spcAft>
                <a:spcPts val="0"/>
              </a:spcAft>
              <a:buClr>
                <a:schemeClr val="dk1"/>
              </a:buClr>
              <a:buSzPts val="1200"/>
              <a:buFont typeface="Arial"/>
              <a:buChar char="•"/>
              <a:defRPr b="0" i="0" sz="1200" u="none" cap="none" strike="noStrike">
                <a:solidFill>
                  <a:schemeClr val="dk1"/>
                </a:solidFill>
                <a:latin typeface="Montserrat"/>
                <a:ea typeface="Montserrat"/>
                <a:cs typeface="Montserrat"/>
                <a:sym typeface="Montserrat"/>
              </a:defRPr>
            </a:lvl3pPr>
            <a:lvl4pPr indent="-298450" lvl="3" marL="1828800" marR="0" rtl="0" algn="l">
              <a:lnSpc>
                <a:spcPct val="110000"/>
              </a:lnSpc>
              <a:spcBef>
                <a:spcPts val="600"/>
              </a:spcBef>
              <a:spcAft>
                <a:spcPts val="0"/>
              </a:spcAft>
              <a:buClr>
                <a:schemeClr val="dk1"/>
              </a:buClr>
              <a:buSzPts val="1100"/>
              <a:buFont typeface="Arial"/>
              <a:buChar char="•"/>
              <a:defRPr b="0" i="0" sz="1100" u="none" cap="none" strike="noStrike">
                <a:solidFill>
                  <a:schemeClr val="dk1"/>
                </a:solidFill>
                <a:latin typeface="Montserrat"/>
                <a:ea typeface="Montserrat"/>
                <a:cs typeface="Montserrat"/>
                <a:sym typeface="Montserrat"/>
              </a:defRPr>
            </a:lvl4pPr>
            <a:lvl5pPr indent="-298450" lvl="4" marL="2286000" marR="0" rtl="0" algn="l">
              <a:lnSpc>
                <a:spcPct val="110000"/>
              </a:lnSpc>
              <a:spcBef>
                <a:spcPts val="600"/>
              </a:spcBef>
              <a:spcAft>
                <a:spcPts val="0"/>
              </a:spcAft>
              <a:buClr>
                <a:schemeClr val="dk1"/>
              </a:buClr>
              <a:buSzPts val="1100"/>
              <a:buFont typeface="Arial"/>
              <a:buChar char="•"/>
              <a:defRPr b="0" i="0" sz="1100" u="none" cap="none" strike="noStrike">
                <a:solidFill>
                  <a:schemeClr val="dk1"/>
                </a:solidFill>
                <a:latin typeface="Montserrat"/>
                <a:ea typeface="Montserrat"/>
                <a:cs typeface="Montserrat"/>
                <a:sym typeface="Montserrat"/>
              </a:defRPr>
            </a:lvl5pPr>
            <a:lvl6pPr indent="-342900" lvl="5" marL="2743200" marR="0" rtl="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9pPr>
          </a:lstStyle>
          <a:p/>
        </p:txBody>
      </p:sp>
      <p:pic>
        <p:nvPicPr>
          <p:cNvPr id="12" name="Google Shape;12;p1"/>
          <p:cNvPicPr preferRelativeResize="0"/>
          <p:nvPr/>
        </p:nvPicPr>
        <p:blipFill rotWithShape="1">
          <a:blip r:embed="rId1">
            <a:alphaModFix/>
          </a:blip>
          <a:srcRect b="0" l="0" r="0" t="0"/>
          <a:stretch/>
        </p:blipFill>
        <p:spPr>
          <a:xfrm>
            <a:off x="593725" y="6353610"/>
            <a:ext cx="1337003" cy="2806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C1CAD7"/>
          </p15:clr>
        </p15:guide>
        <p15:guide id="2" pos="7680">
          <p15:clr>
            <a:srgbClr val="C1CAD7"/>
          </p15:clr>
        </p15:guide>
        <p15:guide id="3" pos="374">
          <p15:clr>
            <a:srgbClr val="C1CAD7"/>
          </p15:clr>
        </p15:guide>
        <p15:guide id="4" pos="751">
          <p15:clr>
            <a:srgbClr val="C1CAD7"/>
          </p15:clr>
        </p15:guide>
        <p15:guide id="5" pos="970">
          <p15:clr>
            <a:srgbClr val="C1CAD7"/>
          </p15:clr>
        </p15:guide>
        <p15:guide id="6" pos="1347">
          <p15:clr>
            <a:srgbClr val="C1CAD7"/>
          </p15:clr>
        </p15:guide>
        <p15:guide id="7" pos="1566">
          <p15:clr>
            <a:srgbClr val="C1CAD7"/>
          </p15:clr>
        </p15:guide>
        <p15:guide id="8" pos="1943">
          <p15:clr>
            <a:srgbClr val="C1CAD7"/>
          </p15:clr>
        </p15:guide>
        <p15:guide id="9" pos="2161">
          <p15:clr>
            <a:srgbClr val="C1CAD7"/>
          </p15:clr>
        </p15:guide>
        <p15:guide id="10" pos="2538">
          <p15:clr>
            <a:srgbClr val="C1CAD7"/>
          </p15:clr>
        </p15:guide>
        <p15:guide id="11" pos="2757">
          <p15:clr>
            <a:srgbClr val="C1CAD7"/>
          </p15:clr>
        </p15:guide>
        <p15:guide id="12" pos="3134">
          <p15:clr>
            <a:srgbClr val="C1CAD7"/>
          </p15:clr>
        </p15:guide>
        <p15:guide id="13" pos="3353">
          <p15:clr>
            <a:srgbClr val="C1CAD7"/>
          </p15:clr>
        </p15:guide>
        <p15:guide id="14" pos="3730">
          <p15:clr>
            <a:srgbClr val="C1CAD7"/>
          </p15:clr>
        </p15:guide>
        <p15:guide id="15" pos="3949">
          <p15:clr>
            <a:srgbClr val="C1CAD7"/>
          </p15:clr>
        </p15:guide>
        <p15:guide id="16" pos="4326">
          <p15:clr>
            <a:srgbClr val="C1CAD7"/>
          </p15:clr>
        </p15:guide>
        <p15:guide id="17" pos="4545">
          <p15:clr>
            <a:srgbClr val="C1CAD7"/>
          </p15:clr>
        </p15:guide>
        <p15:guide id="18" pos="4922">
          <p15:clr>
            <a:srgbClr val="C1CAD7"/>
          </p15:clr>
        </p15:guide>
        <p15:guide id="19" pos="5141">
          <p15:clr>
            <a:srgbClr val="C1CAD7"/>
          </p15:clr>
        </p15:guide>
        <p15:guide id="20" pos="5518">
          <p15:clr>
            <a:srgbClr val="C1CAD7"/>
          </p15:clr>
        </p15:guide>
        <p15:guide id="21" pos="5736">
          <p15:clr>
            <a:srgbClr val="C1CAD7"/>
          </p15:clr>
        </p15:guide>
        <p15:guide id="22" pos="6113">
          <p15:clr>
            <a:srgbClr val="C1CAD7"/>
          </p15:clr>
        </p15:guide>
        <p15:guide id="23" pos="6332">
          <p15:clr>
            <a:srgbClr val="C1CAD7"/>
          </p15:clr>
        </p15:guide>
        <p15:guide id="24" pos="6709">
          <p15:clr>
            <a:srgbClr val="C1CAD7"/>
          </p15:clr>
        </p15:guide>
        <p15:guide id="25" pos="6928">
          <p15:clr>
            <a:srgbClr val="C1CAD7"/>
          </p15:clr>
        </p15:guide>
        <p15:guide id="26" pos="7305">
          <p15:clr>
            <a:srgbClr val="C1CAD7"/>
          </p15:clr>
        </p15:guide>
        <p15:guide id="27" orient="horz">
          <p15:clr>
            <a:srgbClr val="C1CAD7"/>
          </p15:clr>
        </p15:guide>
        <p15:guide id="28" orient="horz" pos="4320">
          <p15:clr>
            <a:srgbClr val="C1CAD7"/>
          </p15:clr>
        </p15:guide>
        <p15:guide id="29" orient="horz" pos="345">
          <p15:clr>
            <a:srgbClr val="C1CAD7"/>
          </p15:clr>
        </p15:guide>
        <p15:guide id="30" orient="horz" pos="748">
          <p15:clr>
            <a:srgbClr val="C1CAD7"/>
          </p15:clr>
        </p15:guide>
        <p15:guide id="31" orient="horz" pos="967">
          <p15:clr>
            <a:srgbClr val="C1CAD7"/>
          </p15:clr>
        </p15:guide>
        <p15:guide id="32" orient="horz" pos="1370">
          <p15:clr>
            <a:srgbClr val="C1CAD7"/>
          </p15:clr>
        </p15:guide>
        <p15:guide id="33" orient="horz" pos="1589">
          <p15:clr>
            <a:srgbClr val="C1CAD7"/>
          </p15:clr>
        </p15:guide>
        <p15:guide id="34" orient="horz" pos="1992">
          <p15:clr>
            <a:srgbClr val="C1CAD7"/>
          </p15:clr>
        </p15:guide>
        <p15:guide id="35" orient="horz" pos="2211">
          <p15:clr>
            <a:srgbClr val="C1CAD7"/>
          </p15:clr>
        </p15:guide>
        <p15:guide id="36" orient="horz" pos="2615">
          <p15:clr>
            <a:srgbClr val="C1CAD7"/>
          </p15:clr>
        </p15:guide>
        <p15:guide id="37" orient="horz" pos="2833">
          <p15:clr>
            <a:srgbClr val="C1CAD7"/>
          </p15:clr>
        </p15:guide>
        <p15:guide id="38" orient="horz" pos="3237">
          <p15:clr>
            <a:srgbClr val="C1CAD7"/>
          </p15:clr>
        </p15:guide>
        <p15:guide id="39" orient="horz" pos="3456">
          <p15:clr>
            <a:srgbClr val="C1CAD7"/>
          </p15:clr>
        </p15:guide>
        <p15:guide id="40" orient="horz" pos="3859">
          <p15:clr>
            <a:srgbClr val="C1CAD7"/>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sp>
        <p:nvSpPr>
          <p:cNvPr id="212" name="Google Shape;212;p20"/>
          <p:cNvSpPr txBox="1"/>
          <p:nvPr>
            <p:ph type="title"/>
          </p:nvPr>
        </p:nvSpPr>
        <p:spPr>
          <a:xfrm>
            <a:off x="593725" y="547688"/>
            <a:ext cx="11003100" cy="336600"/>
          </a:xfrm>
          <a:prstGeom prst="rect">
            <a:avLst/>
          </a:prstGeom>
          <a:noFill/>
          <a:ln>
            <a:noFill/>
          </a:ln>
        </p:spPr>
        <p:txBody>
          <a:bodyPr anchorCtr="0" anchor="t" bIns="0" lIns="0" spcFirstLastPara="1" rIns="0" wrap="square" tIns="0">
            <a:noAutofit/>
          </a:bodyPr>
          <a:lstStyle>
            <a:lvl1pPr lvl="0" marR="0" algn="l">
              <a:lnSpc>
                <a:spcPct val="90000"/>
              </a:lnSpc>
              <a:spcBef>
                <a:spcPts val="0"/>
              </a:spcBef>
              <a:spcAft>
                <a:spcPts val="0"/>
              </a:spcAft>
              <a:buClr>
                <a:schemeClr val="dk1"/>
              </a:buClr>
              <a:buSzPts val="2800"/>
              <a:buFont typeface="Montserrat"/>
              <a:buNone/>
              <a:defRPr b="1" i="0" sz="2800" u="none" cap="none" strike="noStrike">
                <a:solidFill>
                  <a:schemeClr val="dk1"/>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3" name="Google Shape;213;p20"/>
          <p:cNvSpPr txBox="1"/>
          <p:nvPr>
            <p:ph idx="1" type="body"/>
          </p:nvPr>
        </p:nvSpPr>
        <p:spPr>
          <a:xfrm>
            <a:off x="593725" y="1535113"/>
            <a:ext cx="11003100" cy="4641900"/>
          </a:xfrm>
          <a:prstGeom prst="rect">
            <a:avLst/>
          </a:prstGeom>
          <a:noFill/>
          <a:ln>
            <a:noFill/>
          </a:ln>
        </p:spPr>
        <p:txBody>
          <a:bodyPr anchorCtr="0" anchor="t" bIns="0" lIns="0" spcFirstLastPara="1" rIns="0" wrap="square" tIns="0">
            <a:normAutofit/>
          </a:bodyPr>
          <a:lstStyle>
            <a:lvl1pPr indent="-228600" lvl="0" marL="457200" marR="0" algn="l">
              <a:lnSpc>
                <a:spcPct val="110000"/>
              </a:lnSpc>
              <a:spcBef>
                <a:spcPts val="0"/>
              </a:spcBef>
              <a:spcAft>
                <a:spcPts val="0"/>
              </a:spcAft>
              <a:buClr>
                <a:schemeClr val="dk1"/>
              </a:buClr>
              <a:buSzPts val="1600"/>
              <a:buFont typeface="Arial"/>
              <a:buNone/>
              <a:defRPr b="0" i="0" sz="1600" u="none" cap="none" strike="noStrike">
                <a:solidFill>
                  <a:schemeClr val="dk1"/>
                </a:solidFill>
                <a:latin typeface="Montserrat"/>
                <a:ea typeface="Montserrat"/>
                <a:cs typeface="Montserrat"/>
                <a:sym typeface="Montserrat"/>
              </a:defRPr>
            </a:lvl1pPr>
            <a:lvl2pPr indent="-317500" lvl="1" marL="914400" marR="0" algn="l">
              <a:lnSpc>
                <a:spcPct val="110000"/>
              </a:lnSpc>
              <a:spcBef>
                <a:spcPts val="600"/>
              </a:spcBef>
              <a:spcAft>
                <a:spcPts val="0"/>
              </a:spcAft>
              <a:buClr>
                <a:schemeClr val="dk1"/>
              </a:buClr>
              <a:buSzPts val="1400"/>
              <a:buFont typeface="Arial"/>
              <a:buChar char="•"/>
              <a:defRPr b="0" i="0" sz="1400" u="none" cap="none" strike="noStrike">
                <a:solidFill>
                  <a:schemeClr val="dk1"/>
                </a:solidFill>
                <a:latin typeface="Montserrat"/>
                <a:ea typeface="Montserrat"/>
                <a:cs typeface="Montserrat"/>
                <a:sym typeface="Montserrat"/>
              </a:defRPr>
            </a:lvl2pPr>
            <a:lvl3pPr indent="-304800" lvl="2" marL="1371600" marR="0" algn="l">
              <a:lnSpc>
                <a:spcPct val="110000"/>
              </a:lnSpc>
              <a:spcBef>
                <a:spcPts val="600"/>
              </a:spcBef>
              <a:spcAft>
                <a:spcPts val="0"/>
              </a:spcAft>
              <a:buClr>
                <a:schemeClr val="dk1"/>
              </a:buClr>
              <a:buSzPts val="1200"/>
              <a:buFont typeface="Arial"/>
              <a:buChar char="•"/>
              <a:defRPr b="0" i="0" sz="1200" u="none" cap="none" strike="noStrike">
                <a:solidFill>
                  <a:schemeClr val="dk1"/>
                </a:solidFill>
                <a:latin typeface="Montserrat"/>
                <a:ea typeface="Montserrat"/>
                <a:cs typeface="Montserrat"/>
                <a:sym typeface="Montserrat"/>
              </a:defRPr>
            </a:lvl3pPr>
            <a:lvl4pPr indent="-298450" lvl="3" marL="1828800" marR="0" algn="l">
              <a:lnSpc>
                <a:spcPct val="110000"/>
              </a:lnSpc>
              <a:spcBef>
                <a:spcPts val="600"/>
              </a:spcBef>
              <a:spcAft>
                <a:spcPts val="0"/>
              </a:spcAft>
              <a:buClr>
                <a:schemeClr val="dk1"/>
              </a:buClr>
              <a:buSzPts val="1100"/>
              <a:buFont typeface="Arial"/>
              <a:buChar char="•"/>
              <a:defRPr b="0" i="0" sz="1100" u="none" cap="none" strike="noStrike">
                <a:solidFill>
                  <a:schemeClr val="dk1"/>
                </a:solidFill>
                <a:latin typeface="Montserrat"/>
                <a:ea typeface="Montserrat"/>
                <a:cs typeface="Montserrat"/>
                <a:sym typeface="Montserrat"/>
              </a:defRPr>
            </a:lvl4pPr>
            <a:lvl5pPr indent="-298450" lvl="4" marL="2286000" marR="0" algn="l">
              <a:lnSpc>
                <a:spcPct val="110000"/>
              </a:lnSpc>
              <a:spcBef>
                <a:spcPts val="600"/>
              </a:spcBef>
              <a:spcAft>
                <a:spcPts val="0"/>
              </a:spcAft>
              <a:buClr>
                <a:schemeClr val="dk1"/>
              </a:buClr>
              <a:buSzPts val="1100"/>
              <a:buFont typeface="Arial"/>
              <a:buChar char="•"/>
              <a:defRPr b="0" i="0" sz="1100" u="none" cap="none" strike="noStrike">
                <a:solidFill>
                  <a:schemeClr val="dk1"/>
                </a:solidFill>
                <a:latin typeface="Montserrat"/>
                <a:ea typeface="Montserrat"/>
                <a:cs typeface="Montserrat"/>
                <a:sym typeface="Montserrat"/>
              </a:defRPr>
            </a:lvl5pPr>
            <a:lvl6pPr indent="-342900" lvl="5" marL="2743200" marR="0" algn="l">
              <a:lnSpc>
                <a:spcPct val="90000"/>
              </a:lnSpc>
              <a:spcBef>
                <a:spcPts val="6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ontserrat"/>
                <a:ea typeface="Montserrat"/>
                <a:cs typeface="Montserrat"/>
                <a:sym typeface="Montserrat"/>
              </a:defRPr>
            </a:lvl9pPr>
          </a:lstStyle>
          <a:p/>
        </p:txBody>
      </p:sp>
      <p:pic>
        <p:nvPicPr>
          <p:cNvPr id="214" name="Google Shape;214;p20"/>
          <p:cNvPicPr preferRelativeResize="0"/>
          <p:nvPr/>
        </p:nvPicPr>
        <p:blipFill rotWithShape="1">
          <a:blip r:embed="rId1">
            <a:alphaModFix/>
          </a:blip>
          <a:srcRect b="0" l="0" r="0" t="0"/>
          <a:stretch/>
        </p:blipFill>
        <p:spPr>
          <a:xfrm>
            <a:off x="593725" y="6353610"/>
            <a:ext cx="1337005" cy="28068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15:clr>
            <a:srgbClr val="C1CAD7"/>
          </p15:clr>
        </p15:guide>
        <p15:guide id="2" pos="7680">
          <p15:clr>
            <a:srgbClr val="C1CAD7"/>
          </p15:clr>
        </p15:guide>
        <p15:guide id="3" pos="374">
          <p15:clr>
            <a:srgbClr val="C1CAD7"/>
          </p15:clr>
        </p15:guide>
        <p15:guide id="4" pos="751">
          <p15:clr>
            <a:srgbClr val="C1CAD7"/>
          </p15:clr>
        </p15:guide>
        <p15:guide id="5" pos="970">
          <p15:clr>
            <a:srgbClr val="C1CAD7"/>
          </p15:clr>
        </p15:guide>
        <p15:guide id="6" pos="1347">
          <p15:clr>
            <a:srgbClr val="C1CAD7"/>
          </p15:clr>
        </p15:guide>
        <p15:guide id="7" pos="1566">
          <p15:clr>
            <a:srgbClr val="C1CAD7"/>
          </p15:clr>
        </p15:guide>
        <p15:guide id="8" pos="1943">
          <p15:clr>
            <a:srgbClr val="C1CAD7"/>
          </p15:clr>
        </p15:guide>
        <p15:guide id="9" pos="2161">
          <p15:clr>
            <a:srgbClr val="C1CAD7"/>
          </p15:clr>
        </p15:guide>
        <p15:guide id="10" pos="2538">
          <p15:clr>
            <a:srgbClr val="C1CAD7"/>
          </p15:clr>
        </p15:guide>
        <p15:guide id="11" pos="2757">
          <p15:clr>
            <a:srgbClr val="C1CAD7"/>
          </p15:clr>
        </p15:guide>
        <p15:guide id="12" pos="3134">
          <p15:clr>
            <a:srgbClr val="C1CAD7"/>
          </p15:clr>
        </p15:guide>
        <p15:guide id="13" pos="3353">
          <p15:clr>
            <a:srgbClr val="C1CAD7"/>
          </p15:clr>
        </p15:guide>
        <p15:guide id="14" pos="3730">
          <p15:clr>
            <a:srgbClr val="C1CAD7"/>
          </p15:clr>
        </p15:guide>
        <p15:guide id="15" pos="3949">
          <p15:clr>
            <a:srgbClr val="C1CAD7"/>
          </p15:clr>
        </p15:guide>
        <p15:guide id="16" pos="4326">
          <p15:clr>
            <a:srgbClr val="C1CAD7"/>
          </p15:clr>
        </p15:guide>
        <p15:guide id="17" pos="4545">
          <p15:clr>
            <a:srgbClr val="C1CAD7"/>
          </p15:clr>
        </p15:guide>
        <p15:guide id="18" pos="4922">
          <p15:clr>
            <a:srgbClr val="C1CAD7"/>
          </p15:clr>
        </p15:guide>
        <p15:guide id="19" pos="5141">
          <p15:clr>
            <a:srgbClr val="C1CAD7"/>
          </p15:clr>
        </p15:guide>
        <p15:guide id="20" pos="5518">
          <p15:clr>
            <a:srgbClr val="C1CAD7"/>
          </p15:clr>
        </p15:guide>
        <p15:guide id="21" pos="5736">
          <p15:clr>
            <a:srgbClr val="C1CAD7"/>
          </p15:clr>
        </p15:guide>
        <p15:guide id="22" pos="6113">
          <p15:clr>
            <a:srgbClr val="C1CAD7"/>
          </p15:clr>
        </p15:guide>
        <p15:guide id="23" pos="6332">
          <p15:clr>
            <a:srgbClr val="C1CAD7"/>
          </p15:clr>
        </p15:guide>
        <p15:guide id="24" pos="6709">
          <p15:clr>
            <a:srgbClr val="C1CAD7"/>
          </p15:clr>
        </p15:guide>
        <p15:guide id="25" pos="6928">
          <p15:clr>
            <a:srgbClr val="C1CAD7"/>
          </p15:clr>
        </p15:guide>
        <p15:guide id="26" pos="7305">
          <p15:clr>
            <a:srgbClr val="C1CAD7"/>
          </p15:clr>
        </p15:guide>
        <p15:guide id="27" orient="horz">
          <p15:clr>
            <a:srgbClr val="C1CAD7"/>
          </p15:clr>
        </p15:guide>
        <p15:guide id="28" orient="horz" pos="4320">
          <p15:clr>
            <a:srgbClr val="C1CAD7"/>
          </p15:clr>
        </p15:guide>
        <p15:guide id="29" orient="horz" pos="345">
          <p15:clr>
            <a:srgbClr val="C1CAD7"/>
          </p15:clr>
        </p15:guide>
        <p15:guide id="30" orient="horz" pos="748">
          <p15:clr>
            <a:srgbClr val="C1CAD7"/>
          </p15:clr>
        </p15:guide>
        <p15:guide id="31" orient="horz" pos="967">
          <p15:clr>
            <a:srgbClr val="C1CAD7"/>
          </p15:clr>
        </p15:guide>
        <p15:guide id="32" orient="horz" pos="1370">
          <p15:clr>
            <a:srgbClr val="C1CAD7"/>
          </p15:clr>
        </p15:guide>
        <p15:guide id="33" orient="horz" pos="1589">
          <p15:clr>
            <a:srgbClr val="C1CAD7"/>
          </p15:clr>
        </p15:guide>
        <p15:guide id="34" orient="horz" pos="1992">
          <p15:clr>
            <a:srgbClr val="C1CAD7"/>
          </p15:clr>
        </p15:guide>
        <p15:guide id="35" orient="horz" pos="2211">
          <p15:clr>
            <a:srgbClr val="C1CAD7"/>
          </p15:clr>
        </p15:guide>
        <p15:guide id="36" orient="horz" pos="2615">
          <p15:clr>
            <a:srgbClr val="C1CAD7"/>
          </p15:clr>
        </p15:guide>
        <p15:guide id="37" orient="horz" pos="2833">
          <p15:clr>
            <a:srgbClr val="C1CAD7"/>
          </p15:clr>
        </p15:guide>
        <p15:guide id="38" orient="horz" pos="3237">
          <p15:clr>
            <a:srgbClr val="C1CAD7"/>
          </p15:clr>
        </p15:guide>
        <p15:guide id="39" orient="horz" pos="3456">
          <p15:clr>
            <a:srgbClr val="C1CAD7"/>
          </p15:clr>
        </p15:guide>
        <p15:guide id="40" orient="horz" pos="3859">
          <p15:clr>
            <a:srgbClr val="C1CAD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34.png"/><Relationship Id="rId4" Type="http://schemas.openxmlformats.org/officeDocument/2006/relationships/image" Target="../media/image3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45.png"/><Relationship Id="rId4" Type="http://schemas.openxmlformats.org/officeDocument/2006/relationships/image" Target="../media/image43.png"/><Relationship Id="rId5" Type="http://schemas.openxmlformats.org/officeDocument/2006/relationships/image" Target="../media/image4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8.png"/><Relationship Id="rId6" Type="http://schemas.openxmlformats.org/officeDocument/2006/relationships/image" Target="../media/image33.png"/><Relationship Id="rId7" Type="http://schemas.openxmlformats.org/officeDocument/2006/relationships/image" Target="../media/image39.png"/><Relationship Id="rId8" Type="http://schemas.openxmlformats.org/officeDocument/2006/relationships/image" Target="../media/image37.png"/></Relationships>
</file>

<file path=ppt/slides/_rels/slide6.xml.rels><?xml version="1.0" encoding="UTF-8" standalone="yes"?><Relationships xmlns="http://schemas.openxmlformats.org/package/2006/relationships"><Relationship Id="rId11" Type="http://schemas.openxmlformats.org/officeDocument/2006/relationships/image" Target="../media/image53.png"/><Relationship Id="rId10" Type="http://schemas.openxmlformats.org/officeDocument/2006/relationships/image" Target="../media/image51.png"/><Relationship Id="rId13" Type="http://schemas.openxmlformats.org/officeDocument/2006/relationships/image" Target="../media/image50.png"/><Relationship Id="rId12" Type="http://schemas.openxmlformats.org/officeDocument/2006/relationships/image" Target="../media/image52.png"/><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34.png"/><Relationship Id="rId4" Type="http://schemas.openxmlformats.org/officeDocument/2006/relationships/image" Target="../media/image44.png"/><Relationship Id="rId9" Type="http://schemas.openxmlformats.org/officeDocument/2006/relationships/image" Target="../media/image49.png"/><Relationship Id="rId15" Type="http://schemas.openxmlformats.org/officeDocument/2006/relationships/image" Target="../media/image60.png"/><Relationship Id="rId14" Type="http://schemas.openxmlformats.org/officeDocument/2006/relationships/image" Target="../media/image57.png"/><Relationship Id="rId16" Type="http://schemas.openxmlformats.org/officeDocument/2006/relationships/image" Target="../media/image59.png"/><Relationship Id="rId5" Type="http://schemas.openxmlformats.org/officeDocument/2006/relationships/image" Target="../media/image47.png"/><Relationship Id="rId6" Type="http://schemas.openxmlformats.org/officeDocument/2006/relationships/image" Target="../media/image42.png"/><Relationship Id="rId7" Type="http://schemas.openxmlformats.org/officeDocument/2006/relationships/image" Target="../media/image46.png"/><Relationship Id="rId8" Type="http://schemas.openxmlformats.org/officeDocument/2006/relationships/image" Target="../media/image4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5.png"/><Relationship Id="rId4" Type="http://schemas.openxmlformats.org/officeDocument/2006/relationships/image" Target="../media/image58.png"/><Relationship Id="rId5" Type="http://schemas.openxmlformats.org/officeDocument/2006/relationships/image" Target="../media/image54.png"/><Relationship Id="rId6" Type="http://schemas.openxmlformats.org/officeDocument/2006/relationships/image" Target="../media/image56.png"/><Relationship Id="rId7" Type="http://schemas.openxmlformats.org/officeDocument/2006/relationships/image" Target="../media/image64.png"/></Relationships>
</file>

<file path=ppt/slides/_rels/slide8.xml.rels><?xml version="1.0" encoding="UTF-8" standalone="yes"?><Relationships xmlns="http://schemas.openxmlformats.org/package/2006/relationships"><Relationship Id="rId11" Type="http://schemas.openxmlformats.org/officeDocument/2006/relationships/image" Target="../media/image69.png"/><Relationship Id="rId10" Type="http://schemas.openxmlformats.org/officeDocument/2006/relationships/image" Target="../media/image67.png"/><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comments" Target="../comments/comment1.xml"/><Relationship Id="rId4" Type="http://schemas.openxmlformats.org/officeDocument/2006/relationships/image" Target="../media/image61.png"/><Relationship Id="rId9" Type="http://schemas.openxmlformats.org/officeDocument/2006/relationships/image" Target="../media/image63.png"/><Relationship Id="rId5" Type="http://schemas.openxmlformats.org/officeDocument/2006/relationships/image" Target="../media/image60.png"/><Relationship Id="rId6" Type="http://schemas.openxmlformats.org/officeDocument/2006/relationships/image" Target="../media/image34.png"/><Relationship Id="rId7" Type="http://schemas.openxmlformats.org/officeDocument/2006/relationships/image" Target="../media/image44.png"/><Relationship Id="rId8" Type="http://schemas.openxmlformats.org/officeDocument/2006/relationships/image" Target="../media/image6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4.png"/><Relationship Id="rId4" Type="http://schemas.openxmlformats.org/officeDocument/2006/relationships/image" Target="../media/image66.png"/><Relationship Id="rId5" Type="http://schemas.openxmlformats.org/officeDocument/2006/relationships/image" Target="../media/image68.png"/></Relationships>
</file>

<file path=ppt/slides/_rels/slide10.xml.rels><?xml version="1.0" encoding="UTF-8" standalone="yes"?><Relationships xmlns="http://schemas.openxmlformats.org/package/2006/relationships"><Relationship Id="rId20" Type="http://schemas.openxmlformats.org/officeDocument/2006/relationships/image" Target="../media/image34.png"/><Relationship Id="rId11" Type="http://schemas.openxmlformats.org/officeDocument/2006/relationships/image" Target="../media/image76.png"/><Relationship Id="rId22" Type="http://schemas.openxmlformats.org/officeDocument/2006/relationships/image" Target="../media/image91.png"/><Relationship Id="rId10" Type="http://schemas.openxmlformats.org/officeDocument/2006/relationships/image" Target="../media/image78.png"/><Relationship Id="rId21" Type="http://schemas.openxmlformats.org/officeDocument/2006/relationships/image" Target="../media/image87.png"/><Relationship Id="rId13" Type="http://schemas.openxmlformats.org/officeDocument/2006/relationships/image" Target="../media/image80.png"/><Relationship Id="rId24" Type="http://schemas.openxmlformats.org/officeDocument/2006/relationships/image" Target="../media/image89.png"/><Relationship Id="rId12" Type="http://schemas.openxmlformats.org/officeDocument/2006/relationships/image" Target="../media/image77.png"/><Relationship Id="rId23" Type="http://schemas.openxmlformats.org/officeDocument/2006/relationships/image" Target="../media/image88.png"/><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5.png"/><Relationship Id="rId4" Type="http://schemas.openxmlformats.org/officeDocument/2006/relationships/image" Target="../media/image72.png"/><Relationship Id="rId9" Type="http://schemas.openxmlformats.org/officeDocument/2006/relationships/image" Target="../media/image84.png"/><Relationship Id="rId15" Type="http://schemas.openxmlformats.org/officeDocument/2006/relationships/image" Target="../media/image82.png"/><Relationship Id="rId14" Type="http://schemas.openxmlformats.org/officeDocument/2006/relationships/image" Target="../media/image81.png"/><Relationship Id="rId17" Type="http://schemas.openxmlformats.org/officeDocument/2006/relationships/image" Target="../media/image85.png"/><Relationship Id="rId16" Type="http://schemas.openxmlformats.org/officeDocument/2006/relationships/image" Target="../media/image83.png"/><Relationship Id="rId5" Type="http://schemas.openxmlformats.org/officeDocument/2006/relationships/image" Target="../media/image71.png"/><Relationship Id="rId19" Type="http://schemas.openxmlformats.org/officeDocument/2006/relationships/image" Target="../media/image50.png"/><Relationship Id="rId6" Type="http://schemas.openxmlformats.org/officeDocument/2006/relationships/image" Target="../media/image73.png"/><Relationship Id="rId18" Type="http://schemas.openxmlformats.org/officeDocument/2006/relationships/image" Target="../media/image86.png"/><Relationship Id="rId7" Type="http://schemas.openxmlformats.org/officeDocument/2006/relationships/image" Target="../media/image79.png"/><Relationship Id="rId8" Type="http://schemas.openxmlformats.org/officeDocument/2006/relationships/image" Target="../media/image59.png"/></Relationships>
</file>

<file path=ppt/slides/_rels/slide11.xml.rels><?xml version="1.0" encoding="UTF-8" standalone="yes"?><Relationships xmlns="http://schemas.openxmlformats.org/package/2006/relationships"><Relationship Id="rId20" Type="http://schemas.openxmlformats.org/officeDocument/2006/relationships/image" Target="../media/image97.png"/><Relationship Id="rId11" Type="http://schemas.openxmlformats.org/officeDocument/2006/relationships/image" Target="../media/image69.png"/><Relationship Id="rId10" Type="http://schemas.openxmlformats.org/officeDocument/2006/relationships/image" Target="../media/image67.png"/><Relationship Id="rId13" Type="http://schemas.openxmlformats.org/officeDocument/2006/relationships/image" Target="../media/image93.png"/><Relationship Id="rId12" Type="http://schemas.openxmlformats.org/officeDocument/2006/relationships/image" Target="../media/image90.png"/><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77.png"/><Relationship Id="rId9" Type="http://schemas.openxmlformats.org/officeDocument/2006/relationships/image" Target="../media/image63.png"/><Relationship Id="rId15" Type="http://schemas.openxmlformats.org/officeDocument/2006/relationships/image" Target="../media/image71.png"/><Relationship Id="rId14" Type="http://schemas.openxmlformats.org/officeDocument/2006/relationships/image" Target="../media/image50.png"/><Relationship Id="rId17" Type="http://schemas.openxmlformats.org/officeDocument/2006/relationships/image" Target="../media/image92.png"/><Relationship Id="rId16" Type="http://schemas.openxmlformats.org/officeDocument/2006/relationships/image" Target="../media/image94.png"/><Relationship Id="rId5" Type="http://schemas.openxmlformats.org/officeDocument/2006/relationships/image" Target="../media/image61.png"/><Relationship Id="rId19" Type="http://schemas.openxmlformats.org/officeDocument/2006/relationships/image" Target="../media/image96.png"/><Relationship Id="rId6" Type="http://schemas.openxmlformats.org/officeDocument/2006/relationships/image" Target="../media/image60.png"/><Relationship Id="rId18" Type="http://schemas.openxmlformats.org/officeDocument/2006/relationships/image" Target="../media/image95.png"/><Relationship Id="rId7" Type="http://schemas.openxmlformats.org/officeDocument/2006/relationships/image" Target="../media/image44.png"/><Relationship Id="rId8" Type="http://schemas.openxmlformats.org/officeDocument/2006/relationships/image" Target="../media/image6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4.png"/><Relationship Id="rId4" Type="http://schemas.openxmlformats.org/officeDocument/2006/relationships/image" Target="../media/image9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hyperlink" Target="https://docs.google.com/document/d/1iIoSamiwzn_0tbamsiGixKL-S8OU8hgy/edit" TargetMode="External"/><Relationship Id="rId4" Type="http://schemas.openxmlformats.org/officeDocument/2006/relationships/image" Target="../media/image34.png"/><Relationship Id="rId5" Type="http://schemas.openxmlformats.org/officeDocument/2006/relationships/hyperlink" Target="https://app.orcanos.com/deciphex/web/5/QPackItems/View?Item=DMS&amp;ItemId=8069" TargetMode="External"/><Relationship Id="rId6" Type="http://schemas.openxmlformats.org/officeDocument/2006/relationships/hyperlink" Target="https://app.orcanos.com/deciphex/web/5/QPackItems/View?Item=DMS&amp;ItemId=8338" TargetMode="External"/><Relationship Id="rId7" Type="http://schemas.openxmlformats.org/officeDocument/2006/relationships/image" Target="../media/image103.png"/><Relationship Id="rId8" Type="http://schemas.openxmlformats.org/officeDocument/2006/relationships/image" Target="../media/image101.png"/></Relationships>
</file>

<file path=ppt/slides/_rels/slide16.xml.rels><?xml version="1.0" encoding="UTF-8" standalone="yes"?><Relationships xmlns="http://schemas.openxmlformats.org/package/2006/relationships"><Relationship Id="rId20" Type="http://schemas.openxmlformats.org/officeDocument/2006/relationships/image" Target="../media/image100.png"/><Relationship Id="rId11" Type="http://schemas.openxmlformats.org/officeDocument/2006/relationships/hyperlink" Target="https://app.orcanos.com/deciphex/web/5/QPackItems/View?Item=DMS&amp;ItemId=8069" TargetMode="External"/><Relationship Id="rId10" Type="http://schemas.openxmlformats.org/officeDocument/2006/relationships/image" Target="../media/image83.png"/><Relationship Id="rId13" Type="http://schemas.openxmlformats.org/officeDocument/2006/relationships/image" Target="../media/image85.png"/><Relationship Id="rId12" Type="http://schemas.openxmlformats.org/officeDocument/2006/relationships/hyperlink" Target="https://app.orcanos.com/deciphex/web/5/QPackItems/View?Item=DMS&amp;ItemId=8338" TargetMode="External"/><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docs.google.com/document/d/1iIoSamiwzn_0tbamsiGixKL-S8OU8hgy/edit" TargetMode="External"/><Relationship Id="rId4" Type="http://schemas.openxmlformats.org/officeDocument/2006/relationships/image" Target="../media/image75.png"/><Relationship Id="rId9" Type="http://schemas.openxmlformats.org/officeDocument/2006/relationships/image" Target="../media/image50.png"/><Relationship Id="rId15" Type="http://schemas.openxmlformats.org/officeDocument/2006/relationships/image" Target="../media/image99.png"/><Relationship Id="rId14" Type="http://schemas.openxmlformats.org/officeDocument/2006/relationships/image" Target="../media/image102.png"/><Relationship Id="rId17" Type="http://schemas.openxmlformats.org/officeDocument/2006/relationships/image" Target="../media/image77.png"/><Relationship Id="rId16" Type="http://schemas.openxmlformats.org/officeDocument/2006/relationships/hyperlink" Target="https://docs.google.com/document/d/1iIoSamiwzn_0tbamsiGixKL-S8OU8hgy/edit" TargetMode="External"/><Relationship Id="rId5" Type="http://schemas.openxmlformats.org/officeDocument/2006/relationships/image" Target="../media/image73.png"/><Relationship Id="rId19" Type="http://schemas.openxmlformats.org/officeDocument/2006/relationships/image" Target="../media/image71.png"/><Relationship Id="rId6" Type="http://schemas.openxmlformats.org/officeDocument/2006/relationships/image" Target="../media/image82.png"/><Relationship Id="rId18" Type="http://schemas.openxmlformats.org/officeDocument/2006/relationships/image" Target="../media/image80.png"/><Relationship Id="rId7" Type="http://schemas.openxmlformats.org/officeDocument/2006/relationships/image" Target="../media/image78.png"/><Relationship Id="rId8" Type="http://schemas.openxmlformats.org/officeDocument/2006/relationships/image" Target="../media/image7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hyperlink" Target="https://docs.google.com/document/d/1TEWFY5w32kGPEQ3gNDYUXDbdDzNi4L2gO07Yk8jkfTc/edit?tab=t.0" TargetMode="External"/><Relationship Id="rId5" Type="http://schemas.openxmlformats.org/officeDocument/2006/relationships/hyperlink" Target="https://docs.google.com/document/d/15JzngqL5HoSXgPjlHZJcuFZRGfyxQoHD/edit" TargetMode="External"/><Relationship Id="rId6" Type="http://schemas.openxmlformats.org/officeDocument/2006/relationships/image" Target="../media/image7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hyperlink" Target="https://docs.google.com/document/d/1TEWFY5w32kGPEQ3gNDYUXDbdDzNi4L2gO07Yk8jkfTc/edit?tab=t.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hyperlink" Target="https://docs.google.com/document/d/1TEWFY5w32kGPEQ3gNDYUXDbdDzNi4L2gO07Yk8jkfTc/edit?tab=t.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1.xml"/><Relationship Id="rId3" Type="http://schemas.openxmlformats.org/officeDocument/2006/relationships/comments" Target="../comments/comment2.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9"/>
          <p:cNvSpPr txBox="1"/>
          <p:nvPr>
            <p:ph type="title"/>
          </p:nvPr>
        </p:nvSpPr>
        <p:spPr>
          <a:xfrm>
            <a:off x="610244" y="3509963"/>
            <a:ext cx="10986300" cy="261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Validation Kickoff Diagnexia</a:t>
            </a:r>
            <a:endParaRPr/>
          </a:p>
        </p:txBody>
      </p:sp>
      <p:sp>
        <p:nvSpPr>
          <p:cNvPr id="419" name="Google Shape;419;p39"/>
          <p:cNvSpPr txBox="1"/>
          <p:nvPr>
            <p:ph idx="4294967295" type="body"/>
          </p:nvPr>
        </p:nvSpPr>
        <p:spPr>
          <a:xfrm>
            <a:off x="533175" y="5138750"/>
            <a:ext cx="5327700" cy="1160400"/>
          </a:xfrm>
          <a:prstGeom prst="rect">
            <a:avLst/>
          </a:prstGeom>
        </p:spPr>
        <p:txBody>
          <a:bodyPr anchorCtr="0" anchor="t" bIns="0" lIns="0" spcFirstLastPara="1" rIns="0" wrap="square" tIns="0">
            <a:normAutofit fontScale="70000" lnSpcReduction="20000"/>
          </a:bodyPr>
          <a:lstStyle/>
          <a:p>
            <a:pPr indent="0" lvl="0" marL="0" rtl="0" algn="l">
              <a:spcBef>
                <a:spcPts val="0"/>
              </a:spcBef>
              <a:spcAft>
                <a:spcPts val="0"/>
              </a:spcAft>
              <a:buNone/>
            </a:pPr>
            <a:r>
              <a:rPr lang="en-US" sz="2426">
                <a:solidFill>
                  <a:schemeClr val="lt1"/>
                </a:solidFill>
              </a:rPr>
              <a:t>Internal - </a:t>
            </a:r>
            <a:r>
              <a:rPr i="1" lang="en-US" sz="2426">
                <a:solidFill>
                  <a:srgbClr val="FF00FF"/>
                </a:solidFill>
              </a:rPr>
              <a:t>2025 Dec 15</a:t>
            </a:r>
            <a:endParaRPr i="1" sz="2426">
              <a:solidFill>
                <a:srgbClr val="FF00FF"/>
              </a:solidFill>
            </a:endParaRPr>
          </a:p>
          <a:p>
            <a:pPr indent="0" lvl="0" marL="0" rtl="0" algn="l">
              <a:spcBef>
                <a:spcPts val="600"/>
              </a:spcBef>
              <a:spcAft>
                <a:spcPts val="0"/>
              </a:spcAft>
              <a:buNone/>
            </a:pPr>
            <a:r>
              <a:rPr lang="en-US" sz="2426">
                <a:solidFill>
                  <a:schemeClr val="lt1"/>
                </a:solidFill>
              </a:rPr>
              <a:t>Armaan </a:t>
            </a:r>
            <a:r>
              <a:rPr lang="en-US" sz="2426">
                <a:solidFill>
                  <a:schemeClr val="lt1"/>
                </a:solidFill>
              </a:rPr>
              <a:t>Singh</a:t>
            </a:r>
            <a:r>
              <a:rPr lang="en-US" sz="2426">
                <a:solidFill>
                  <a:schemeClr val="lt1"/>
                </a:solidFill>
              </a:rPr>
              <a:t> &amp; Jamie Nowacek</a:t>
            </a:r>
            <a:endParaRPr sz="2426">
              <a:solidFill>
                <a:schemeClr val="lt1"/>
              </a:solidFill>
            </a:endParaRPr>
          </a:p>
          <a:p>
            <a:pPr indent="0" lvl="0" marL="0" rtl="0" algn="l">
              <a:spcBef>
                <a:spcPts val="600"/>
              </a:spcBef>
              <a:spcAft>
                <a:spcPts val="0"/>
              </a:spcAft>
              <a:buNone/>
            </a:pPr>
            <a:r>
              <a:rPr lang="en-US" sz="2426">
                <a:solidFill>
                  <a:schemeClr val="lt1"/>
                </a:solidFill>
              </a:rPr>
              <a:t>QA / RA</a:t>
            </a:r>
            <a:endParaRPr sz="2426">
              <a:solidFill>
                <a:schemeClr val="lt1"/>
              </a:solidFill>
            </a:endParaRPr>
          </a:p>
          <a:p>
            <a:pPr indent="0" lvl="0" marL="0" rtl="0" algn="l">
              <a:spcBef>
                <a:spcPts val="600"/>
              </a:spcBef>
              <a:spcAft>
                <a:spcPts val="600"/>
              </a:spcAft>
              <a:buNone/>
            </a:pPr>
            <a:r>
              <a:rPr lang="en-US"/>
              <a:t>Armaan Singh &amp; (Jamie Nowacek)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424" name="Shape 424"/>
        <p:cNvGrpSpPr/>
        <p:nvPr/>
      </p:nvGrpSpPr>
      <p:grpSpPr>
        <a:xfrm>
          <a:off x="0" y="0"/>
          <a:ext cx="0" cy="0"/>
          <a:chOff x="0" y="0"/>
          <a:chExt cx="0" cy="0"/>
        </a:xfrm>
      </p:grpSpPr>
      <p:sp>
        <p:nvSpPr>
          <p:cNvPr id="425" name="Google Shape;425;p40"/>
          <p:cNvSpPr txBox="1"/>
          <p:nvPr>
            <p:ph type="title"/>
          </p:nvPr>
        </p:nvSpPr>
        <p:spPr>
          <a:xfrm>
            <a:off x="936175" y="547688"/>
            <a:ext cx="56754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AGENDA</a:t>
            </a:r>
            <a:endParaRPr/>
          </a:p>
        </p:txBody>
      </p:sp>
      <p:sp>
        <p:nvSpPr>
          <p:cNvPr id="426" name="Google Shape;426;p40"/>
          <p:cNvSpPr txBox="1"/>
          <p:nvPr>
            <p:ph idx="1" type="body"/>
          </p:nvPr>
        </p:nvSpPr>
        <p:spPr>
          <a:xfrm>
            <a:off x="732075" y="1413820"/>
            <a:ext cx="5676000" cy="4747500"/>
          </a:xfrm>
          <a:prstGeom prst="rect">
            <a:avLst/>
          </a:prstGeom>
        </p:spPr>
        <p:txBody>
          <a:bodyPr anchorCtr="0" anchor="t" bIns="0" lIns="0" spcFirstLastPara="1" rIns="0" wrap="square" tIns="0">
            <a:normAutofit/>
          </a:bodyPr>
          <a:lstStyle/>
          <a:p>
            <a:pPr indent="-355600" lvl="0" marL="457200" rtl="0" algn="l">
              <a:lnSpc>
                <a:spcPct val="200000"/>
              </a:lnSpc>
              <a:spcBef>
                <a:spcPts val="0"/>
              </a:spcBef>
              <a:spcAft>
                <a:spcPts val="0"/>
              </a:spcAft>
              <a:buSzPts val="2000"/>
              <a:buChar char="●"/>
            </a:pPr>
            <a:r>
              <a:rPr lang="en-US" sz="1800"/>
              <a:t>Risk approach planning</a:t>
            </a:r>
            <a:endParaRPr sz="1800"/>
          </a:p>
          <a:p>
            <a:pPr indent="-355600" lvl="0" marL="457200" rtl="0" algn="l">
              <a:lnSpc>
                <a:spcPct val="200000"/>
              </a:lnSpc>
              <a:spcBef>
                <a:spcPts val="0"/>
              </a:spcBef>
              <a:spcAft>
                <a:spcPts val="0"/>
              </a:spcAft>
              <a:buSzPts val="2000"/>
              <a:buChar char="●"/>
            </a:pPr>
            <a:r>
              <a:rPr lang="en-US" sz="1800"/>
              <a:t>Validation framework</a:t>
            </a:r>
            <a:endParaRPr sz="1800"/>
          </a:p>
          <a:p>
            <a:pPr indent="-355600" lvl="0" marL="457200" marR="0" rtl="0" algn="l">
              <a:lnSpc>
                <a:spcPct val="200000"/>
              </a:lnSpc>
              <a:spcBef>
                <a:spcPts val="0"/>
              </a:spcBef>
              <a:spcAft>
                <a:spcPts val="0"/>
              </a:spcAft>
              <a:buSzPts val="2000"/>
              <a:buChar char="●"/>
            </a:pPr>
            <a:r>
              <a:rPr lang="en-US" sz="1800"/>
              <a:t>Preventative Quality Focus</a:t>
            </a:r>
            <a:endParaRPr sz="1800"/>
          </a:p>
          <a:p>
            <a:pPr indent="-355600" lvl="0" marL="457200" rtl="0" algn="l">
              <a:lnSpc>
                <a:spcPct val="200000"/>
              </a:lnSpc>
              <a:spcBef>
                <a:spcPts val="0"/>
              </a:spcBef>
              <a:spcAft>
                <a:spcPts val="0"/>
              </a:spcAft>
              <a:buSzPts val="2000"/>
              <a:buChar char="●"/>
            </a:pPr>
            <a:r>
              <a:rPr lang="en-US" sz="1800"/>
              <a:t>Benefits </a:t>
            </a:r>
            <a:endParaRPr sz="1800"/>
          </a:p>
          <a:p>
            <a:pPr indent="-355600" lvl="0" marL="457200" rtl="0" algn="l">
              <a:lnSpc>
                <a:spcPct val="200000"/>
              </a:lnSpc>
              <a:spcBef>
                <a:spcPts val="0"/>
              </a:spcBef>
              <a:spcAft>
                <a:spcPts val="0"/>
              </a:spcAft>
              <a:buSzPts val="2000"/>
              <a:buChar char="●"/>
            </a:pPr>
            <a:r>
              <a:rPr i="1" lang="en-US" sz="1800"/>
              <a:t>Audit finding:</a:t>
            </a:r>
            <a:r>
              <a:rPr lang="en-US" sz="1800"/>
              <a:t> record retention location(s)</a:t>
            </a:r>
            <a:endParaRPr sz="1800"/>
          </a:p>
          <a:p>
            <a:pPr indent="-355600" lvl="0" marL="457200" rtl="0" algn="l">
              <a:lnSpc>
                <a:spcPct val="200000"/>
              </a:lnSpc>
              <a:spcBef>
                <a:spcPts val="0"/>
              </a:spcBef>
              <a:spcAft>
                <a:spcPts val="0"/>
              </a:spcAft>
              <a:buSzPts val="2000"/>
              <a:buChar char="●"/>
            </a:pPr>
            <a:r>
              <a:rPr lang="en-US" sz="1800"/>
              <a:t>Divide CAPA into phases - </a:t>
            </a:r>
            <a:r>
              <a:rPr i="1" lang="en-US" sz="1800"/>
              <a:t>next steps</a:t>
            </a:r>
            <a:endParaRPr i="1" sz="1800"/>
          </a:p>
          <a:p>
            <a:pPr indent="-342900" lvl="0" marL="457200" rtl="0" algn="l">
              <a:lnSpc>
                <a:spcPct val="200000"/>
              </a:lnSpc>
              <a:spcBef>
                <a:spcPts val="0"/>
              </a:spcBef>
              <a:spcAft>
                <a:spcPts val="0"/>
              </a:spcAft>
              <a:buSzPts val="1800"/>
              <a:buChar char="●"/>
            </a:pPr>
            <a:r>
              <a:rPr lang="en-US" sz="1800"/>
              <a:t>Quiz! </a:t>
            </a:r>
            <a:endParaRPr sz="1800"/>
          </a:p>
        </p:txBody>
      </p:sp>
      <p:pic>
        <p:nvPicPr>
          <p:cNvPr id="427" name="Google Shape;427;p40"/>
          <p:cNvPicPr preferRelativeResize="0"/>
          <p:nvPr/>
        </p:nvPicPr>
        <p:blipFill>
          <a:blip r:embed="rId3">
            <a:alphaModFix/>
          </a:blip>
          <a:stretch>
            <a:fillRect/>
          </a:stretch>
        </p:blipFill>
        <p:spPr>
          <a:xfrm>
            <a:off x="11457850" y="171800"/>
            <a:ext cx="428625" cy="457200"/>
          </a:xfrm>
          <a:prstGeom prst="rect">
            <a:avLst/>
          </a:prstGeom>
          <a:noFill/>
          <a:ln>
            <a:noFill/>
          </a:ln>
        </p:spPr>
      </p:pic>
      <p:grpSp>
        <p:nvGrpSpPr>
          <p:cNvPr id="428" name="Google Shape;428;p40"/>
          <p:cNvGrpSpPr/>
          <p:nvPr/>
        </p:nvGrpSpPr>
        <p:grpSpPr>
          <a:xfrm>
            <a:off x="6697510" y="1558761"/>
            <a:ext cx="4816793" cy="3207073"/>
            <a:chOff x="7432175" y="1620613"/>
            <a:chExt cx="3885450" cy="2586975"/>
          </a:xfrm>
        </p:grpSpPr>
        <p:pic>
          <p:nvPicPr>
            <p:cNvPr descr="hand holding Questions Mark ( ? ) on cube block on table. FAQ( frequency asked questions), Answer, Q and A, Information, Communication and interrogation Concepts (provided by Getty Images)" id="429" name="Google Shape;429;p40"/>
            <p:cNvPicPr preferRelativeResize="0"/>
            <p:nvPr/>
          </p:nvPicPr>
          <p:blipFill rotWithShape="1">
            <a:blip r:embed="rId4">
              <a:alphaModFix/>
            </a:blip>
            <a:srcRect b="49" l="0" r="0" t="49"/>
            <a:stretch/>
          </p:blipFill>
          <p:spPr>
            <a:xfrm>
              <a:off x="7432175" y="1620613"/>
              <a:ext cx="3885450" cy="2586975"/>
            </a:xfrm>
            <a:prstGeom prst="rect">
              <a:avLst/>
            </a:prstGeom>
            <a:noFill/>
            <a:ln cap="flat" cmpd="sng" w="35425">
              <a:solidFill>
                <a:srgbClr val="0000FF"/>
              </a:solidFill>
              <a:prstDash val="solid"/>
              <a:round/>
              <a:headEnd len="sm" w="sm" type="none"/>
              <a:tailEnd len="sm" w="sm" type="none"/>
            </a:ln>
          </p:spPr>
        </p:pic>
        <p:sp>
          <p:nvSpPr>
            <p:cNvPr id="430" name="Google Shape;430;p40"/>
            <p:cNvSpPr txBox="1"/>
            <p:nvPr/>
          </p:nvSpPr>
          <p:spPr>
            <a:xfrm>
              <a:off x="7491725" y="2565675"/>
              <a:ext cx="2536200" cy="523200"/>
            </a:xfrm>
            <a:prstGeom prst="rect">
              <a:avLst/>
            </a:prstGeom>
            <a:noFill/>
            <a:ln>
              <a:noFill/>
            </a:ln>
          </p:spPr>
          <p:txBody>
            <a:bodyPr anchorCtr="0" anchor="ctr" bIns="113325" lIns="113325" spcFirstLastPara="1" rIns="113325" wrap="square" tIns="113325">
              <a:noAutofit/>
            </a:bodyPr>
            <a:lstStyle/>
            <a:p>
              <a:pPr indent="0" lvl="0" marL="0" rtl="0" algn="ctr">
                <a:spcBef>
                  <a:spcPts val="0"/>
                </a:spcBef>
                <a:spcAft>
                  <a:spcPts val="0"/>
                </a:spcAft>
                <a:buNone/>
              </a:pPr>
              <a:r>
                <a:rPr b="1" lang="en-US" sz="1487">
                  <a:solidFill>
                    <a:schemeClr val="dk1"/>
                  </a:solidFill>
                  <a:latin typeface="Montserrat"/>
                  <a:ea typeface="Montserrat"/>
                  <a:cs typeface="Montserrat"/>
                  <a:sym typeface="Montserrat"/>
                </a:rPr>
                <a:t>For time, save Questions </a:t>
              </a:r>
              <a:endParaRPr b="1" sz="1487">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US" sz="1487">
                  <a:solidFill>
                    <a:schemeClr val="dk1"/>
                  </a:solidFill>
                  <a:latin typeface="Montserrat"/>
                  <a:ea typeface="Montserrat"/>
                  <a:cs typeface="Montserrat"/>
                  <a:sym typeface="Montserrat"/>
                </a:rPr>
                <a:t>for the end.</a:t>
              </a:r>
              <a:endParaRPr b="1" sz="1487">
                <a:solidFill>
                  <a:schemeClr val="dk1"/>
                </a:solidFill>
                <a:latin typeface="Montserrat"/>
                <a:ea typeface="Montserrat"/>
                <a:cs typeface="Montserrat"/>
                <a:sym typeface="Montserrat"/>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5" name="Shape 435"/>
        <p:cNvGrpSpPr/>
        <p:nvPr/>
      </p:nvGrpSpPr>
      <p:grpSpPr>
        <a:xfrm>
          <a:off x="0" y="0"/>
          <a:ext cx="0" cy="0"/>
          <a:chOff x="0" y="0"/>
          <a:chExt cx="0" cy="0"/>
        </a:xfrm>
      </p:grpSpPr>
      <p:sp>
        <p:nvSpPr>
          <p:cNvPr id="436" name="Google Shape;436;p41"/>
          <p:cNvSpPr txBox="1"/>
          <p:nvPr>
            <p:ph type="title"/>
          </p:nvPr>
        </p:nvSpPr>
        <p:spPr>
          <a:xfrm>
            <a:off x="593725" y="547700"/>
            <a:ext cx="8378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2200"/>
              <a:t>Why is this topic important to Deciphex?</a:t>
            </a:r>
            <a:endParaRPr sz="2200"/>
          </a:p>
        </p:txBody>
      </p:sp>
      <p:pic>
        <p:nvPicPr>
          <p:cNvPr id="437" name="Google Shape;437;p41"/>
          <p:cNvPicPr preferRelativeResize="0"/>
          <p:nvPr/>
        </p:nvPicPr>
        <p:blipFill>
          <a:blip r:embed="rId3">
            <a:alphaModFix/>
          </a:blip>
          <a:stretch>
            <a:fillRect/>
          </a:stretch>
        </p:blipFill>
        <p:spPr>
          <a:xfrm>
            <a:off x="11307823" y="249050"/>
            <a:ext cx="450950" cy="441875"/>
          </a:xfrm>
          <a:prstGeom prst="rect">
            <a:avLst/>
          </a:prstGeom>
          <a:noFill/>
          <a:ln>
            <a:noFill/>
          </a:ln>
        </p:spPr>
      </p:pic>
      <p:sp>
        <p:nvSpPr>
          <p:cNvPr id="438" name="Google Shape;438;p41"/>
          <p:cNvSpPr txBox="1"/>
          <p:nvPr>
            <p:ph idx="1" type="body"/>
          </p:nvPr>
        </p:nvSpPr>
        <p:spPr>
          <a:xfrm>
            <a:off x="592600" y="1411945"/>
            <a:ext cx="5676000" cy="47475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&lt;Armaan can use this space to draw out the Deciphex </a:t>
            </a:r>
            <a:r>
              <a:rPr lang="en-US"/>
              <a:t>connection</a:t>
            </a:r>
            <a:r>
              <a:rPr lang="en-US"/>
              <a:t> to the pictures on the right&gt;</a:t>
            </a:r>
            <a:endParaRPr/>
          </a:p>
          <a:p>
            <a:pPr indent="0" lvl="0" marL="0" rtl="0" algn="l">
              <a:spcBef>
                <a:spcPts val="600"/>
              </a:spcBef>
              <a:spcAft>
                <a:spcPts val="0"/>
              </a:spcAft>
              <a:buNone/>
            </a:pPr>
            <a:r>
              <a:t/>
            </a:r>
            <a:endParaRPr/>
          </a:p>
          <a:p>
            <a:pPr indent="-342900" lvl="0" marL="457200" rtl="0" algn="l">
              <a:spcBef>
                <a:spcPts val="600"/>
              </a:spcBef>
              <a:spcAft>
                <a:spcPts val="0"/>
              </a:spcAft>
              <a:buClr>
                <a:srgbClr val="858585"/>
              </a:buClr>
              <a:buSzPts val="1800"/>
              <a:buChar char="-"/>
            </a:pPr>
            <a:r>
              <a:rPr i="1" lang="en-US">
                <a:solidFill>
                  <a:srgbClr val="858585"/>
                </a:solidFill>
              </a:rPr>
              <a:t>how does this tie back to Deciphex? - Armaan</a:t>
            </a:r>
            <a:endParaRPr i="1">
              <a:solidFill>
                <a:srgbClr val="858585"/>
              </a:solidFill>
            </a:endParaRPr>
          </a:p>
          <a:p>
            <a:pPr indent="-342900" lvl="1" marL="914400" rtl="0" algn="l">
              <a:spcBef>
                <a:spcPts val="0"/>
              </a:spcBef>
              <a:spcAft>
                <a:spcPts val="0"/>
              </a:spcAft>
              <a:buClr>
                <a:srgbClr val="858585"/>
              </a:buClr>
              <a:buSzPts val="1800"/>
              <a:buChar char="-"/>
            </a:pPr>
            <a:r>
              <a:rPr i="1" lang="en-US">
                <a:solidFill>
                  <a:srgbClr val="858585"/>
                </a:solidFill>
              </a:rPr>
              <a:t>test methods are how our patients receive their DX and care from our pathologists</a:t>
            </a:r>
            <a:endParaRPr i="1">
              <a:solidFill>
                <a:srgbClr val="858585"/>
              </a:solidFill>
            </a:endParaRPr>
          </a:p>
          <a:p>
            <a:pPr indent="-342900" lvl="1" marL="914400" rtl="0" algn="l">
              <a:spcBef>
                <a:spcPts val="0"/>
              </a:spcBef>
              <a:spcAft>
                <a:spcPts val="0"/>
              </a:spcAft>
              <a:buClr>
                <a:srgbClr val="858585"/>
              </a:buClr>
              <a:buSzPts val="1800"/>
              <a:buChar char="-"/>
            </a:pPr>
            <a:r>
              <a:rPr i="1" lang="en-US">
                <a:solidFill>
                  <a:srgbClr val="858585"/>
                </a:solidFill>
              </a:rPr>
              <a:t>Validating intended use → method is key to supporting strong patient care in the market</a:t>
            </a:r>
            <a:endParaRPr i="1">
              <a:solidFill>
                <a:srgbClr val="858585"/>
              </a:solidFill>
            </a:endParaRPr>
          </a:p>
          <a:p>
            <a:pPr indent="-342900" lvl="1" marL="914400" rtl="0" algn="l">
              <a:spcBef>
                <a:spcPts val="0"/>
              </a:spcBef>
              <a:spcAft>
                <a:spcPts val="0"/>
              </a:spcAft>
              <a:buClr>
                <a:srgbClr val="858585"/>
              </a:buClr>
              <a:buSzPts val="1800"/>
              <a:buChar char="-"/>
            </a:pPr>
            <a:r>
              <a:rPr i="1" lang="en-US">
                <a:solidFill>
                  <a:srgbClr val="858585"/>
                </a:solidFill>
              </a:rPr>
              <a:t>Preventive quality focus → records to support Audits → prevents failed license or permits</a:t>
            </a:r>
            <a:endParaRPr i="1">
              <a:solidFill>
                <a:srgbClr val="858585"/>
              </a:solidFill>
            </a:endParaRPr>
          </a:p>
        </p:txBody>
      </p:sp>
      <p:pic>
        <p:nvPicPr>
          <p:cNvPr id="439" name="Google Shape;439;p41"/>
          <p:cNvPicPr preferRelativeResize="0"/>
          <p:nvPr/>
        </p:nvPicPr>
        <p:blipFill>
          <a:blip r:embed="rId4">
            <a:alphaModFix/>
          </a:blip>
          <a:stretch>
            <a:fillRect/>
          </a:stretch>
        </p:blipFill>
        <p:spPr>
          <a:xfrm>
            <a:off x="7450375" y="1032797"/>
            <a:ext cx="3153150" cy="2227776"/>
          </a:xfrm>
          <a:prstGeom prst="rect">
            <a:avLst/>
          </a:prstGeom>
          <a:noFill/>
          <a:ln cap="flat" cmpd="sng" w="19050">
            <a:solidFill>
              <a:srgbClr val="FF9900"/>
            </a:solidFill>
            <a:prstDash val="solid"/>
            <a:round/>
            <a:headEnd len="sm" w="sm" type="none"/>
            <a:tailEnd len="sm" w="sm" type="none"/>
          </a:ln>
        </p:spPr>
      </p:pic>
      <p:pic>
        <p:nvPicPr>
          <p:cNvPr id="440" name="Google Shape;440;p41"/>
          <p:cNvPicPr preferRelativeResize="0"/>
          <p:nvPr/>
        </p:nvPicPr>
        <p:blipFill>
          <a:blip r:embed="rId5">
            <a:alphaModFix/>
          </a:blip>
          <a:stretch>
            <a:fillRect/>
          </a:stretch>
        </p:blipFill>
        <p:spPr>
          <a:xfrm>
            <a:off x="7722475" y="3839741"/>
            <a:ext cx="2683776" cy="2201659"/>
          </a:xfrm>
          <a:prstGeom prst="rect">
            <a:avLst/>
          </a:prstGeom>
          <a:noFill/>
          <a:ln cap="flat" cmpd="sng" w="19050">
            <a:solidFill>
              <a:srgbClr val="FF9900"/>
            </a:solidFill>
            <a:prstDash val="solid"/>
            <a:round/>
            <a:headEnd len="sm" w="sm" type="none"/>
            <a:tailEnd len="sm" w="sm" type="none"/>
          </a:ln>
        </p:spPr>
      </p:pic>
      <p:sp>
        <p:nvSpPr>
          <p:cNvPr id="441" name="Google Shape;441;p41"/>
          <p:cNvSpPr txBox="1"/>
          <p:nvPr/>
        </p:nvSpPr>
        <p:spPr>
          <a:xfrm>
            <a:off x="6476625" y="3307950"/>
            <a:ext cx="5393700" cy="336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1000">
                <a:solidFill>
                  <a:schemeClr val="dk1"/>
                </a:solidFill>
                <a:latin typeface="Montserrat"/>
                <a:ea typeface="Montserrat"/>
                <a:cs typeface="Montserrat"/>
                <a:sym typeface="Montserrat"/>
              </a:rPr>
              <a:t>Patient safety: Testing was unreliable but she went to market anyways</a:t>
            </a:r>
            <a:endParaRPr b="1" i="1" sz="1000">
              <a:solidFill>
                <a:schemeClr val="dk1"/>
              </a:solidFill>
              <a:latin typeface="Montserrat"/>
              <a:ea typeface="Montserrat"/>
              <a:cs typeface="Montserrat"/>
              <a:sym typeface="Montserrat"/>
            </a:endParaRPr>
          </a:p>
        </p:txBody>
      </p:sp>
      <p:sp>
        <p:nvSpPr>
          <p:cNvPr id="442" name="Google Shape;442;p41"/>
          <p:cNvSpPr txBox="1"/>
          <p:nvPr/>
        </p:nvSpPr>
        <p:spPr>
          <a:xfrm>
            <a:off x="6721575" y="6126175"/>
            <a:ext cx="4903800" cy="336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US" sz="1000">
                <a:solidFill>
                  <a:schemeClr val="dk1"/>
                </a:solidFill>
                <a:latin typeface="Montserrat"/>
                <a:ea typeface="Montserrat"/>
                <a:cs typeface="Montserrat"/>
                <a:sym typeface="Montserrat"/>
              </a:rPr>
              <a:t>Patient fraud: He hiked prices &amp; then committed security fraud</a:t>
            </a:r>
            <a:endParaRPr b="1" i="1" sz="1000">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7" name="Shape 447"/>
        <p:cNvGrpSpPr/>
        <p:nvPr/>
      </p:nvGrpSpPr>
      <p:grpSpPr>
        <a:xfrm>
          <a:off x="0" y="0"/>
          <a:ext cx="0" cy="0"/>
          <a:chOff x="0" y="0"/>
          <a:chExt cx="0" cy="0"/>
        </a:xfrm>
      </p:grpSpPr>
      <p:sp>
        <p:nvSpPr>
          <p:cNvPr id="448" name="Google Shape;448;p42"/>
          <p:cNvSpPr txBox="1"/>
          <p:nvPr>
            <p:ph type="title"/>
          </p:nvPr>
        </p:nvSpPr>
        <p:spPr>
          <a:xfrm>
            <a:off x="593725" y="5476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Topic - introduction</a:t>
            </a:r>
            <a:endParaRPr/>
          </a:p>
        </p:txBody>
      </p:sp>
      <p:sp>
        <p:nvSpPr>
          <p:cNvPr id="449" name="Google Shape;449;p42"/>
          <p:cNvSpPr txBox="1"/>
          <p:nvPr>
            <p:ph idx="1" type="body"/>
          </p:nvPr>
        </p:nvSpPr>
        <p:spPr>
          <a:xfrm>
            <a:off x="420675" y="1708175"/>
            <a:ext cx="5327700" cy="4725300"/>
          </a:xfrm>
          <a:prstGeom prst="rect">
            <a:avLst/>
          </a:prstGeom>
        </p:spPr>
        <p:txBody>
          <a:bodyPr anchorCtr="0" anchor="t" bIns="0" lIns="0" spcFirstLastPara="1" rIns="0" wrap="square" tIns="0">
            <a:normAutofit lnSpcReduction="20000"/>
          </a:bodyPr>
          <a:lstStyle/>
          <a:p>
            <a:pPr indent="-342900" lvl="0" marL="457200" rtl="0" algn="l">
              <a:spcBef>
                <a:spcPts val="0"/>
              </a:spcBef>
              <a:spcAft>
                <a:spcPts val="0"/>
              </a:spcAft>
              <a:buSzPts val="1800"/>
              <a:buChar char="●"/>
            </a:pPr>
            <a:r>
              <a:rPr lang="en-US"/>
              <a:t>Risk plan</a:t>
            </a:r>
            <a:endParaRPr/>
          </a:p>
          <a:p>
            <a:pPr indent="-342900" lvl="1" marL="914400" rtl="0" algn="l">
              <a:spcBef>
                <a:spcPts val="0"/>
              </a:spcBef>
              <a:spcAft>
                <a:spcPts val="0"/>
              </a:spcAft>
              <a:buSzPts val="1800"/>
              <a:buChar char="○"/>
            </a:pPr>
            <a:r>
              <a:rPr lang="en-US"/>
              <a:t>Implement risk-based validation</a:t>
            </a:r>
            <a:endParaRPr/>
          </a:p>
          <a:p>
            <a:pPr indent="-342900" lvl="1" marL="914400" rtl="0" algn="l">
              <a:spcBef>
                <a:spcPts val="0"/>
              </a:spcBef>
              <a:spcAft>
                <a:spcPts val="0"/>
              </a:spcAft>
              <a:buSzPts val="1800"/>
              <a:buChar char="○"/>
            </a:pPr>
            <a:r>
              <a:rPr lang="en-US"/>
              <a:t>Define when testing is required vs. when justification is sufficient</a:t>
            </a:r>
            <a:endParaRPr/>
          </a:p>
          <a:p>
            <a:pPr indent="-342900" lvl="1" marL="914400" rtl="0" algn="l">
              <a:spcBef>
                <a:spcPts val="0"/>
              </a:spcBef>
              <a:spcAft>
                <a:spcPts val="0"/>
              </a:spcAft>
              <a:buSzPts val="1800"/>
              <a:buChar char="○"/>
            </a:pPr>
            <a:r>
              <a:rPr lang="en-US"/>
              <a:t>Apply consistent risk approach using DMS-105073</a:t>
            </a:r>
            <a:br>
              <a:rPr lang="en-US"/>
            </a:br>
            <a:endParaRPr/>
          </a:p>
          <a:p>
            <a:pPr indent="-342900" lvl="0" marL="457200" rtl="0" algn="l">
              <a:spcBef>
                <a:spcPts val="0"/>
              </a:spcBef>
              <a:spcAft>
                <a:spcPts val="0"/>
              </a:spcAft>
              <a:buSzPts val="1800"/>
              <a:buChar char="●"/>
            </a:pPr>
            <a:r>
              <a:rPr lang="en-US"/>
              <a:t>Validation Framework</a:t>
            </a:r>
            <a:endParaRPr/>
          </a:p>
          <a:p>
            <a:pPr indent="-342900" lvl="1" marL="914400" rtl="0" algn="l">
              <a:spcBef>
                <a:spcPts val="0"/>
              </a:spcBef>
              <a:spcAft>
                <a:spcPts val="0"/>
              </a:spcAft>
              <a:buSzPts val="1800"/>
              <a:buChar char="○"/>
            </a:pPr>
            <a:r>
              <a:rPr lang="en-US"/>
              <a:t>Unified expectations for documentation, templates, and evidence</a:t>
            </a:r>
            <a:endParaRPr/>
          </a:p>
          <a:p>
            <a:pPr indent="-342900" lvl="1" marL="914400" rtl="0" algn="l">
              <a:spcBef>
                <a:spcPts val="0"/>
              </a:spcBef>
              <a:spcAft>
                <a:spcPts val="0"/>
              </a:spcAft>
              <a:buSzPts val="1800"/>
              <a:buChar char="○"/>
            </a:pPr>
            <a:r>
              <a:rPr lang="en-US"/>
              <a:t>Global-to-regional structure (Validation Policy → U.S. Validation Plan)</a:t>
            </a:r>
            <a:endParaRPr/>
          </a:p>
          <a:p>
            <a:pPr indent="-342900" lvl="1" marL="914400" rtl="0" algn="l">
              <a:spcBef>
                <a:spcPts val="0"/>
              </a:spcBef>
              <a:spcAft>
                <a:spcPts val="0"/>
              </a:spcAft>
              <a:buSzPts val="1800"/>
              <a:buChar char="○"/>
            </a:pPr>
            <a:r>
              <a:rPr lang="en-US"/>
              <a:t>Centralize validation records in Orcanos</a:t>
            </a:r>
            <a:br>
              <a:rPr lang="en-US"/>
            </a:br>
            <a:endParaRPr/>
          </a:p>
          <a:p>
            <a:pPr indent="-342900" lvl="0" marL="457200" marR="0" rtl="0" algn="l">
              <a:lnSpc>
                <a:spcPct val="110000"/>
              </a:lnSpc>
              <a:spcBef>
                <a:spcPts val="0"/>
              </a:spcBef>
              <a:spcAft>
                <a:spcPts val="0"/>
              </a:spcAft>
              <a:buSzPts val="1800"/>
              <a:buChar char="●"/>
            </a:pPr>
            <a:r>
              <a:rPr lang="en-US"/>
              <a:t>Preventative Quality Focus</a:t>
            </a:r>
            <a:endParaRPr/>
          </a:p>
          <a:p>
            <a:pPr indent="-342900" lvl="1" marL="914400" rtl="0" algn="l">
              <a:spcBef>
                <a:spcPts val="0"/>
              </a:spcBef>
              <a:spcAft>
                <a:spcPts val="0"/>
              </a:spcAft>
              <a:buSzPts val="1800"/>
              <a:buChar char="○"/>
            </a:pPr>
            <a:r>
              <a:rPr lang="en-US"/>
              <a:t>Use validation as a preventive QMS control</a:t>
            </a:r>
            <a:endParaRPr/>
          </a:p>
          <a:p>
            <a:pPr indent="-342900" lvl="1" marL="914400" rtl="0" algn="l">
              <a:spcBef>
                <a:spcPts val="0"/>
              </a:spcBef>
              <a:spcAft>
                <a:spcPts val="0"/>
              </a:spcAft>
              <a:buSzPts val="1800"/>
              <a:buChar char="○"/>
            </a:pPr>
            <a:r>
              <a:rPr lang="en-US"/>
              <a:t>Reduce variance, signatures, and validation cycle time</a:t>
            </a:r>
            <a:endParaRPr/>
          </a:p>
          <a:p>
            <a:pPr indent="-342900" lvl="1" marL="914400" rtl="0" algn="l">
              <a:spcBef>
                <a:spcPts val="0"/>
              </a:spcBef>
              <a:spcAft>
                <a:spcPts val="0"/>
              </a:spcAft>
              <a:buSzPts val="1800"/>
              <a:buChar char="○"/>
            </a:pPr>
            <a:r>
              <a:rPr lang="en-US"/>
              <a:t>Strengthen alignment to intended use and risk</a:t>
            </a:r>
            <a:endParaRPr/>
          </a:p>
        </p:txBody>
      </p:sp>
      <p:sp>
        <p:nvSpPr>
          <p:cNvPr id="450" name="Google Shape;450;p42"/>
          <p:cNvSpPr txBox="1"/>
          <p:nvPr>
            <p:ph idx="2" type="body"/>
          </p:nvPr>
        </p:nvSpPr>
        <p:spPr>
          <a:xfrm>
            <a:off x="6095977" y="1882812"/>
            <a:ext cx="5327700" cy="36036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b="1" lang="en-US" u="sng"/>
              <a:t>Benefits </a:t>
            </a:r>
            <a:endParaRPr b="1" u="sng"/>
          </a:p>
          <a:p>
            <a:pPr indent="-342900" lvl="1" marL="914400" rtl="0" algn="l">
              <a:spcBef>
                <a:spcPts val="0"/>
              </a:spcBef>
              <a:spcAft>
                <a:spcPts val="0"/>
              </a:spcAft>
              <a:buSzPts val="1800"/>
              <a:buChar char="○"/>
            </a:pPr>
            <a:r>
              <a:rPr lang="en-US"/>
              <a:t>FDA: least burdensome approach in testing</a:t>
            </a:r>
            <a:endParaRPr/>
          </a:p>
          <a:p>
            <a:pPr indent="-342900" lvl="1" marL="914400" rtl="0" algn="l">
              <a:spcBef>
                <a:spcPts val="0"/>
              </a:spcBef>
              <a:spcAft>
                <a:spcPts val="0"/>
              </a:spcAft>
              <a:buSzPts val="1800"/>
              <a:buChar char="○"/>
            </a:pPr>
            <a:r>
              <a:rPr lang="en-US"/>
              <a:t>Focused testing on intended use</a:t>
            </a:r>
            <a:endParaRPr/>
          </a:p>
          <a:p>
            <a:pPr indent="-342900" lvl="1" marL="914400" rtl="0" algn="l">
              <a:spcBef>
                <a:spcPts val="0"/>
              </a:spcBef>
              <a:spcAft>
                <a:spcPts val="0"/>
              </a:spcAft>
              <a:buSzPts val="1800"/>
              <a:buChar char="○"/>
            </a:pPr>
            <a:r>
              <a:rPr lang="en-US"/>
              <a:t>Reduce medical director signatory </a:t>
            </a:r>
            <a:endParaRPr/>
          </a:p>
          <a:p>
            <a:pPr indent="-342900" lvl="0" marL="457200" rtl="0" algn="l">
              <a:spcBef>
                <a:spcPts val="0"/>
              </a:spcBef>
              <a:spcAft>
                <a:spcPts val="0"/>
              </a:spcAft>
              <a:buSzPts val="1800"/>
              <a:buChar char="●"/>
            </a:pPr>
            <a:r>
              <a:rPr i="1" lang="en-US"/>
              <a:t>Audit finding:</a:t>
            </a:r>
            <a:r>
              <a:rPr lang="en-US"/>
              <a:t> record retention location</a:t>
            </a:r>
            <a:endParaRPr/>
          </a:p>
          <a:p>
            <a:pPr indent="-342900" lvl="1" marL="914400" rtl="0" algn="l">
              <a:spcBef>
                <a:spcPts val="0"/>
              </a:spcBef>
              <a:spcAft>
                <a:spcPts val="0"/>
              </a:spcAft>
              <a:buSzPts val="1800"/>
              <a:buChar char="○"/>
            </a:pPr>
            <a:r>
              <a:rPr lang="en-US"/>
              <a:t>omission of testing = risk justification</a:t>
            </a:r>
            <a:endParaRPr/>
          </a:p>
          <a:p>
            <a:pPr indent="-342900" lvl="1" marL="914400" rtl="0" algn="l">
              <a:spcBef>
                <a:spcPts val="0"/>
              </a:spcBef>
              <a:spcAft>
                <a:spcPts val="0"/>
              </a:spcAft>
              <a:buSzPts val="1800"/>
              <a:buChar char="○"/>
            </a:pPr>
            <a:r>
              <a:rPr lang="en-US"/>
              <a:t>Preventative RA focus</a:t>
            </a:r>
            <a:endParaRPr/>
          </a:p>
          <a:p>
            <a:pPr indent="-342900" lvl="0" marL="457200" rtl="0" algn="l">
              <a:spcBef>
                <a:spcPts val="0"/>
              </a:spcBef>
              <a:spcAft>
                <a:spcPts val="0"/>
              </a:spcAft>
              <a:buSzPts val="1800"/>
              <a:buChar char="●"/>
            </a:pPr>
            <a:r>
              <a:rPr lang="en-US"/>
              <a:t>Divide CAPA into (2) phases:</a:t>
            </a:r>
            <a:endParaRPr/>
          </a:p>
          <a:p>
            <a:pPr indent="-342900" lvl="1" marL="914400" rtl="0" algn="l">
              <a:spcBef>
                <a:spcPts val="0"/>
              </a:spcBef>
              <a:spcAft>
                <a:spcPts val="0"/>
              </a:spcAft>
              <a:buSzPts val="1800"/>
              <a:buChar char="○"/>
            </a:pPr>
            <a:r>
              <a:rPr lang="en-US"/>
              <a:t>Focus on Preventative with Quality </a:t>
            </a:r>
            <a:endParaRPr/>
          </a:p>
          <a:p>
            <a:pPr indent="-342900" lvl="1" marL="914400" rtl="0" algn="l">
              <a:spcBef>
                <a:spcPts val="0"/>
              </a:spcBef>
              <a:spcAft>
                <a:spcPts val="0"/>
              </a:spcAft>
              <a:buSzPts val="1800"/>
              <a:buChar char="○"/>
            </a:pPr>
            <a:r>
              <a:rPr lang="en-US"/>
              <a:t>Focus on Record retention with Regulatory</a:t>
            </a:r>
            <a:endParaRPr/>
          </a:p>
          <a:p>
            <a:pPr indent="-342900" lvl="1" marL="914400" rtl="0" algn="l">
              <a:spcBef>
                <a:spcPts val="0"/>
              </a:spcBef>
              <a:spcAft>
                <a:spcPts val="0"/>
              </a:spcAft>
              <a:buSzPts val="1800"/>
              <a:buChar char="○"/>
            </a:pPr>
            <a:r>
              <a:rPr lang="en-US"/>
              <a:t>Next steps…. (Schedule / Milestones)</a:t>
            </a:r>
            <a:endParaRPr/>
          </a:p>
        </p:txBody>
      </p:sp>
      <p:sp>
        <p:nvSpPr>
          <p:cNvPr id="451" name="Google Shape;451;p42"/>
          <p:cNvSpPr txBox="1"/>
          <p:nvPr>
            <p:ph idx="3" type="body"/>
          </p:nvPr>
        </p:nvSpPr>
        <p:spPr>
          <a:xfrm>
            <a:off x="420675" y="1296926"/>
            <a:ext cx="53277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solidFill>
                  <a:schemeClr val="dk1"/>
                </a:solidFill>
              </a:rPr>
              <a:t>Quality</a:t>
            </a:r>
            <a:endParaRPr>
              <a:solidFill>
                <a:schemeClr val="dk1"/>
              </a:solidFill>
            </a:endParaRPr>
          </a:p>
        </p:txBody>
      </p:sp>
      <p:sp>
        <p:nvSpPr>
          <p:cNvPr id="452" name="Google Shape;452;p42"/>
          <p:cNvSpPr txBox="1"/>
          <p:nvPr>
            <p:ph idx="4" type="body"/>
          </p:nvPr>
        </p:nvSpPr>
        <p:spPr>
          <a:xfrm>
            <a:off x="6095977" y="1296926"/>
            <a:ext cx="53277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solidFill>
                  <a:schemeClr val="dk1"/>
                </a:solidFill>
              </a:rPr>
              <a:t>Regulatory</a:t>
            </a:r>
            <a:endParaRPr>
              <a:solidFill>
                <a:schemeClr val="dk1"/>
              </a:solidFill>
            </a:endParaRPr>
          </a:p>
        </p:txBody>
      </p:sp>
      <p:pic>
        <p:nvPicPr>
          <p:cNvPr id="453" name="Google Shape;453;p42"/>
          <p:cNvPicPr preferRelativeResize="0"/>
          <p:nvPr/>
        </p:nvPicPr>
        <p:blipFill>
          <a:blip r:embed="rId3">
            <a:alphaModFix/>
          </a:blip>
          <a:stretch>
            <a:fillRect/>
          </a:stretch>
        </p:blipFill>
        <p:spPr>
          <a:xfrm>
            <a:off x="11457850" y="171800"/>
            <a:ext cx="428625"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3"/>
          <p:cNvSpPr txBox="1"/>
          <p:nvPr>
            <p:ph type="title"/>
          </p:nvPr>
        </p:nvSpPr>
        <p:spPr>
          <a:xfrm>
            <a:off x="763567" y="1054198"/>
            <a:ext cx="3444900" cy="443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solidFill>
                  <a:srgbClr val="3D3D3D"/>
                </a:solidFill>
              </a:rPr>
              <a:t>Current Validation Gaps QA Must Address</a:t>
            </a:r>
            <a:endParaRPr>
              <a:solidFill>
                <a:srgbClr val="3D3D3D"/>
              </a:solidFill>
            </a:endParaRPr>
          </a:p>
        </p:txBody>
      </p:sp>
      <p:sp>
        <p:nvSpPr>
          <p:cNvPr id="460" name="Google Shape;460;p43"/>
          <p:cNvSpPr txBox="1"/>
          <p:nvPr>
            <p:ph idx="2" type="body"/>
          </p:nvPr>
        </p:nvSpPr>
        <p:spPr>
          <a:xfrm>
            <a:off x="5578400" y="679363"/>
            <a:ext cx="6241500" cy="717600"/>
          </a:xfrm>
          <a:prstGeom prst="rect">
            <a:avLst/>
          </a:prstGeom>
        </p:spPr>
        <p:txBody>
          <a:bodyPr anchorCtr="0" anchor="t" bIns="87375" lIns="87375" spcFirstLastPara="1" rIns="87375" wrap="square" tIns="87375">
            <a:noAutofit/>
          </a:bodyPr>
          <a:lstStyle/>
          <a:p>
            <a:pPr indent="0" lvl="0" marL="0" rtl="0" algn="l">
              <a:lnSpc>
                <a:spcPct val="100000"/>
              </a:lnSpc>
              <a:spcBef>
                <a:spcPts val="0"/>
              </a:spcBef>
              <a:spcAft>
                <a:spcPts val="0"/>
              </a:spcAft>
              <a:buNone/>
            </a:pPr>
            <a:r>
              <a:t/>
            </a:r>
            <a:endParaRPr b="0" sz="1529">
              <a:latin typeface="Arial"/>
              <a:ea typeface="Arial"/>
              <a:cs typeface="Arial"/>
              <a:sym typeface="Arial"/>
            </a:endParaRPr>
          </a:p>
          <a:p>
            <a:pPr indent="0" lvl="0" marL="0" rtl="0" algn="l">
              <a:lnSpc>
                <a:spcPct val="100000"/>
              </a:lnSpc>
              <a:spcBef>
                <a:spcPts val="0"/>
              </a:spcBef>
              <a:spcAft>
                <a:spcPts val="0"/>
              </a:spcAft>
              <a:buNone/>
            </a:pPr>
            <a:r>
              <a:rPr b="0" lang="en-US" sz="1911">
                <a:latin typeface="Arial"/>
                <a:ea typeface="Arial"/>
                <a:cs typeface="Arial"/>
                <a:sym typeface="Arial"/>
              </a:rPr>
              <a:t>Inconsistent and outdated validation practices</a:t>
            </a:r>
            <a:endParaRPr sz="1911"/>
          </a:p>
        </p:txBody>
      </p:sp>
      <p:sp>
        <p:nvSpPr>
          <p:cNvPr id="461" name="Google Shape;461;p43"/>
          <p:cNvSpPr txBox="1"/>
          <p:nvPr>
            <p:ph idx="2" type="body"/>
          </p:nvPr>
        </p:nvSpPr>
        <p:spPr>
          <a:xfrm>
            <a:off x="5578400" y="1816070"/>
            <a:ext cx="6241500" cy="717600"/>
          </a:xfrm>
          <a:prstGeom prst="rect">
            <a:avLst/>
          </a:prstGeom>
        </p:spPr>
        <p:txBody>
          <a:bodyPr anchorCtr="0" anchor="t" bIns="87375" lIns="87375" spcFirstLastPara="1" rIns="87375" wrap="square" tIns="87375">
            <a:noAutofit/>
          </a:bodyPr>
          <a:lstStyle/>
          <a:p>
            <a:pPr indent="0" lvl="0" marL="0" rtl="0" algn="l">
              <a:lnSpc>
                <a:spcPct val="100000"/>
              </a:lnSpc>
              <a:spcBef>
                <a:spcPts val="0"/>
              </a:spcBef>
              <a:spcAft>
                <a:spcPts val="0"/>
              </a:spcAft>
              <a:buNone/>
            </a:pPr>
            <a:r>
              <a:t/>
            </a:r>
            <a:endParaRPr b="0" sz="1529">
              <a:latin typeface="Arial"/>
              <a:ea typeface="Arial"/>
              <a:cs typeface="Arial"/>
              <a:sym typeface="Arial"/>
            </a:endParaRPr>
          </a:p>
          <a:p>
            <a:pPr indent="0" lvl="0" marL="0" rtl="0" algn="l">
              <a:lnSpc>
                <a:spcPct val="100000"/>
              </a:lnSpc>
              <a:spcBef>
                <a:spcPts val="0"/>
              </a:spcBef>
              <a:spcAft>
                <a:spcPts val="0"/>
              </a:spcAft>
              <a:buNone/>
            </a:pPr>
            <a:r>
              <a:rPr b="0" lang="en-US" sz="1911">
                <a:latin typeface="Arial"/>
                <a:ea typeface="Arial"/>
                <a:cs typeface="Arial"/>
                <a:sym typeface="Arial"/>
              </a:rPr>
              <a:t>Missing or dispersed validation records</a:t>
            </a:r>
            <a:endParaRPr b="0" sz="1911">
              <a:latin typeface="Arial"/>
              <a:ea typeface="Arial"/>
              <a:cs typeface="Arial"/>
              <a:sym typeface="Arial"/>
            </a:endParaRPr>
          </a:p>
          <a:p>
            <a:pPr indent="0" lvl="0" marL="0" rtl="0" algn="l">
              <a:lnSpc>
                <a:spcPct val="100000"/>
              </a:lnSpc>
              <a:spcBef>
                <a:spcPts val="0"/>
              </a:spcBef>
              <a:spcAft>
                <a:spcPts val="0"/>
              </a:spcAft>
              <a:buNone/>
            </a:pPr>
            <a:r>
              <a:t/>
            </a:r>
            <a:endParaRPr b="0" sz="1911">
              <a:latin typeface="Arial"/>
              <a:ea typeface="Arial"/>
              <a:cs typeface="Arial"/>
              <a:sym typeface="Arial"/>
            </a:endParaRPr>
          </a:p>
        </p:txBody>
      </p:sp>
      <p:sp>
        <p:nvSpPr>
          <p:cNvPr id="462" name="Google Shape;462;p43"/>
          <p:cNvSpPr txBox="1"/>
          <p:nvPr>
            <p:ph idx="2" type="body"/>
          </p:nvPr>
        </p:nvSpPr>
        <p:spPr>
          <a:xfrm>
            <a:off x="5578400" y="3070194"/>
            <a:ext cx="6241500" cy="717600"/>
          </a:xfrm>
          <a:prstGeom prst="rect">
            <a:avLst/>
          </a:prstGeom>
        </p:spPr>
        <p:txBody>
          <a:bodyPr anchorCtr="0" anchor="t" bIns="87375" lIns="87375" spcFirstLastPara="1" rIns="87375" wrap="square" tIns="87375">
            <a:noAutofit/>
          </a:bodyPr>
          <a:lstStyle/>
          <a:p>
            <a:pPr indent="0" lvl="0" marL="0" rtl="0" algn="l">
              <a:lnSpc>
                <a:spcPct val="100000"/>
              </a:lnSpc>
              <a:spcBef>
                <a:spcPts val="0"/>
              </a:spcBef>
              <a:spcAft>
                <a:spcPts val="0"/>
              </a:spcAft>
              <a:buNone/>
            </a:pPr>
            <a:r>
              <a:t/>
            </a:r>
            <a:endParaRPr b="0" sz="1529">
              <a:latin typeface="Arial"/>
              <a:ea typeface="Arial"/>
              <a:cs typeface="Arial"/>
              <a:sym typeface="Arial"/>
            </a:endParaRPr>
          </a:p>
          <a:p>
            <a:pPr indent="0" lvl="0" marL="0" rtl="0" algn="l">
              <a:lnSpc>
                <a:spcPct val="100000"/>
              </a:lnSpc>
              <a:spcBef>
                <a:spcPts val="0"/>
              </a:spcBef>
              <a:spcAft>
                <a:spcPts val="0"/>
              </a:spcAft>
              <a:buNone/>
            </a:pPr>
            <a:r>
              <a:rPr b="0" lang="en-US" sz="1911">
                <a:latin typeface="Arial"/>
                <a:ea typeface="Arial"/>
                <a:cs typeface="Arial"/>
                <a:sym typeface="Arial"/>
              </a:rPr>
              <a:t>SOPs and OPQs misaligned with current operations</a:t>
            </a:r>
            <a:endParaRPr sz="1911"/>
          </a:p>
        </p:txBody>
      </p:sp>
      <p:sp>
        <p:nvSpPr>
          <p:cNvPr id="463" name="Google Shape;463;p43"/>
          <p:cNvSpPr txBox="1"/>
          <p:nvPr>
            <p:ph idx="2" type="body"/>
          </p:nvPr>
        </p:nvSpPr>
        <p:spPr>
          <a:xfrm>
            <a:off x="5578400" y="4138602"/>
            <a:ext cx="6241500" cy="717600"/>
          </a:xfrm>
          <a:prstGeom prst="rect">
            <a:avLst/>
          </a:prstGeom>
        </p:spPr>
        <p:txBody>
          <a:bodyPr anchorCtr="0" anchor="t" bIns="87375" lIns="87375" spcFirstLastPara="1" rIns="87375" wrap="square" tIns="87375">
            <a:noAutofit/>
          </a:bodyPr>
          <a:lstStyle/>
          <a:p>
            <a:pPr indent="0" lvl="0" marL="0" rtl="0" algn="l">
              <a:lnSpc>
                <a:spcPct val="100000"/>
              </a:lnSpc>
              <a:spcBef>
                <a:spcPts val="0"/>
              </a:spcBef>
              <a:spcAft>
                <a:spcPts val="0"/>
              </a:spcAft>
              <a:buNone/>
            </a:pPr>
            <a:r>
              <a:t/>
            </a:r>
            <a:endParaRPr b="0" sz="1529">
              <a:latin typeface="Arial"/>
              <a:ea typeface="Arial"/>
              <a:cs typeface="Arial"/>
              <a:sym typeface="Arial"/>
            </a:endParaRPr>
          </a:p>
          <a:p>
            <a:pPr indent="0" lvl="0" marL="0" rtl="0" algn="l">
              <a:lnSpc>
                <a:spcPct val="100000"/>
              </a:lnSpc>
              <a:spcBef>
                <a:spcPts val="0"/>
              </a:spcBef>
              <a:spcAft>
                <a:spcPts val="0"/>
              </a:spcAft>
              <a:buNone/>
            </a:pPr>
            <a:r>
              <a:rPr b="0" lang="en-US" sz="1911">
                <a:latin typeface="Arial"/>
                <a:ea typeface="Arial"/>
                <a:cs typeface="Arial"/>
                <a:sym typeface="Arial"/>
              </a:rPr>
              <a:t>Lack of standardized risk assessment for testing decisions</a:t>
            </a:r>
            <a:endParaRPr b="0" sz="1911">
              <a:latin typeface="Arial"/>
              <a:ea typeface="Arial"/>
              <a:cs typeface="Arial"/>
              <a:sym typeface="Arial"/>
            </a:endParaRPr>
          </a:p>
          <a:p>
            <a:pPr indent="0" lvl="0" marL="0" rtl="0" algn="l">
              <a:lnSpc>
                <a:spcPct val="100000"/>
              </a:lnSpc>
              <a:spcBef>
                <a:spcPts val="0"/>
              </a:spcBef>
              <a:spcAft>
                <a:spcPts val="0"/>
              </a:spcAft>
              <a:buNone/>
            </a:pPr>
            <a:r>
              <a:t/>
            </a:r>
            <a:endParaRPr b="0" sz="1911">
              <a:latin typeface="Arial"/>
              <a:ea typeface="Arial"/>
              <a:cs typeface="Arial"/>
              <a:sym typeface="Arial"/>
            </a:endParaRPr>
          </a:p>
        </p:txBody>
      </p:sp>
      <p:sp>
        <p:nvSpPr>
          <p:cNvPr id="464" name="Google Shape;464;p43"/>
          <p:cNvSpPr txBox="1"/>
          <p:nvPr>
            <p:ph idx="2" type="body"/>
          </p:nvPr>
        </p:nvSpPr>
        <p:spPr>
          <a:xfrm>
            <a:off x="5578400" y="5297959"/>
            <a:ext cx="6241500" cy="717600"/>
          </a:xfrm>
          <a:prstGeom prst="rect">
            <a:avLst/>
          </a:prstGeom>
        </p:spPr>
        <p:txBody>
          <a:bodyPr anchorCtr="0" anchor="t" bIns="87375" lIns="87375" spcFirstLastPara="1" rIns="87375" wrap="square" tIns="87375">
            <a:noAutofit/>
          </a:bodyPr>
          <a:lstStyle/>
          <a:p>
            <a:pPr indent="0" lvl="0" marL="0" rtl="0" algn="l">
              <a:lnSpc>
                <a:spcPct val="100000"/>
              </a:lnSpc>
              <a:spcBef>
                <a:spcPts val="0"/>
              </a:spcBef>
              <a:spcAft>
                <a:spcPts val="0"/>
              </a:spcAft>
              <a:buNone/>
            </a:pPr>
            <a:r>
              <a:t/>
            </a:r>
            <a:endParaRPr b="0" sz="1529">
              <a:latin typeface="Arial"/>
              <a:ea typeface="Arial"/>
              <a:cs typeface="Arial"/>
              <a:sym typeface="Arial"/>
            </a:endParaRPr>
          </a:p>
          <a:p>
            <a:pPr indent="0" lvl="0" marL="0" rtl="0" algn="l">
              <a:lnSpc>
                <a:spcPct val="100000"/>
              </a:lnSpc>
              <a:spcBef>
                <a:spcPts val="0"/>
              </a:spcBef>
              <a:spcAft>
                <a:spcPts val="0"/>
              </a:spcAft>
              <a:buNone/>
            </a:pPr>
            <a:r>
              <a:rPr b="0" lang="en-US" sz="1911">
                <a:latin typeface="Arial"/>
                <a:ea typeface="Arial"/>
                <a:cs typeface="Arial"/>
                <a:sym typeface="Arial"/>
              </a:rPr>
              <a:t>Excessive signatures and long validation cycle times</a:t>
            </a:r>
            <a:endParaRPr b="0" sz="1911">
              <a:latin typeface="Arial"/>
              <a:ea typeface="Arial"/>
              <a:cs typeface="Arial"/>
              <a:sym typeface="Arial"/>
            </a:endParaRPr>
          </a:p>
          <a:p>
            <a:pPr indent="0" lvl="0" marL="0" rtl="0" algn="l">
              <a:lnSpc>
                <a:spcPct val="100000"/>
              </a:lnSpc>
              <a:spcBef>
                <a:spcPts val="0"/>
              </a:spcBef>
              <a:spcAft>
                <a:spcPts val="0"/>
              </a:spcAft>
              <a:buNone/>
            </a:pPr>
            <a:r>
              <a:t/>
            </a:r>
            <a:endParaRPr b="0" sz="1911">
              <a:latin typeface="Arial"/>
              <a:ea typeface="Arial"/>
              <a:cs typeface="Arial"/>
              <a:sym typeface="Arial"/>
            </a:endParaRPr>
          </a:p>
        </p:txBody>
      </p:sp>
      <p:pic>
        <p:nvPicPr>
          <p:cNvPr id="465" name="Google Shape;465;p43"/>
          <p:cNvPicPr preferRelativeResize="0"/>
          <p:nvPr/>
        </p:nvPicPr>
        <p:blipFill>
          <a:blip r:embed="rId3">
            <a:alphaModFix/>
          </a:blip>
          <a:stretch>
            <a:fillRect/>
          </a:stretch>
        </p:blipFill>
        <p:spPr>
          <a:xfrm>
            <a:off x="5009300" y="1980099"/>
            <a:ext cx="627246" cy="537650"/>
          </a:xfrm>
          <a:prstGeom prst="rect">
            <a:avLst/>
          </a:prstGeom>
          <a:noFill/>
          <a:ln>
            <a:noFill/>
          </a:ln>
        </p:spPr>
      </p:pic>
      <p:pic>
        <p:nvPicPr>
          <p:cNvPr id="466" name="Google Shape;466;p43"/>
          <p:cNvPicPr preferRelativeResize="0"/>
          <p:nvPr/>
        </p:nvPicPr>
        <p:blipFill>
          <a:blip r:embed="rId4">
            <a:alphaModFix/>
          </a:blip>
          <a:stretch>
            <a:fillRect/>
          </a:stretch>
        </p:blipFill>
        <p:spPr>
          <a:xfrm>
            <a:off x="5078850" y="874684"/>
            <a:ext cx="506015" cy="537641"/>
          </a:xfrm>
          <a:prstGeom prst="rect">
            <a:avLst/>
          </a:prstGeom>
          <a:noFill/>
          <a:ln>
            <a:noFill/>
          </a:ln>
        </p:spPr>
      </p:pic>
      <p:pic>
        <p:nvPicPr>
          <p:cNvPr id="467" name="Google Shape;467;p43"/>
          <p:cNvPicPr preferRelativeResize="0"/>
          <p:nvPr/>
        </p:nvPicPr>
        <p:blipFill>
          <a:blip r:embed="rId5">
            <a:alphaModFix/>
          </a:blip>
          <a:stretch>
            <a:fillRect/>
          </a:stretch>
        </p:blipFill>
        <p:spPr>
          <a:xfrm>
            <a:off x="5047675" y="4368284"/>
            <a:ext cx="568363" cy="537641"/>
          </a:xfrm>
          <a:prstGeom prst="rect">
            <a:avLst/>
          </a:prstGeom>
          <a:noFill/>
          <a:ln>
            <a:noFill/>
          </a:ln>
        </p:spPr>
      </p:pic>
      <p:pic>
        <p:nvPicPr>
          <p:cNvPr id="468" name="Google Shape;468;p43"/>
          <p:cNvPicPr preferRelativeResize="0"/>
          <p:nvPr/>
        </p:nvPicPr>
        <p:blipFill>
          <a:blip r:embed="rId6">
            <a:alphaModFix/>
          </a:blip>
          <a:stretch>
            <a:fillRect/>
          </a:stretch>
        </p:blipFill>
        <p:spPr>
          <a:xfrm>
            <a:off x="5063038" y="5486409"/>
            <a:ext cx="537641" cy="537641"/>
          </a:xfrm>
          <a:prstGeom prst="rect">
            <a:avLst/>
          </a:prstGeom>
          <a:noFill/>
          <a:ln>
            <a:noFill/>
          </a:ln>
        </p:spPr>
      </p:pic>
      <p:pic>
        <p:nvPicPr>
          <p:cNvPr id="469" name="Google Shape;469;p43"/>
          <p:cNvPicPr preferRelativeResize="0"/>
          <p:nvPr/>
        </p:nvPicPr>
        <p:blipFill>
          <a:blip r:embed="rId7">
            <a:alphaModFix/>
          </a:blip>
          <a:stretch>
            <a:fillRect/>
          </a:stretch>
        </p:blipFill>
        <p:spPr>
          <a:xfrm>
            <a:off x="5078850" y="3213305"/>
            <a:ext cx="506025" cy="475347"/>
          </a:xfrm>
          <a:prstGeom prst="rect">
            <a:avLst/>
          </a:prstGeom>
          <a:noFill/>
          <a:ln>
            <a:noFill/>
          </a:ln>
        </p:spPr>
      </p:pic>
      <p:pic>
        <p:nvPicPr>
          <p:cNvPr id="470" name="Google Shape;470;p43"/>
          <p:cNvPicPr preferRelativeResize="0"/>
          <p:nvPr/>
        </p:nvPicPr>
        <p:blipFill>
          <a:blip r:embed="rId8">
            <a:alphaModFix/>
          </a:blip>
          <a:stretch>
            <a:fillRect/>
          </a:stretch>
        </p:blipFill>
        <p:spPr>
          <a:xfrm>
            <a:off x="1098825" y="2617775"/>
            <a:ext cx="2774400" cy="2520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44"/>
          <p:cNvSpPr txBox="1"/>
          <p:nvPr>
            <p:ph type="title"/>
          </p:nvPr>
        </p:nvSpPr>
        <p:spPr>
          <a:xfrm>
            <a:off x="593725" y="5476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Current Process Gaps QA Must Address</a:t>
            </a:r>
            <a:r>
              <a:rPr lang="en-US"/>
              <a:t> </a:t>
            </a:r>
            <a:endParaRPr/>
          </a:p>
        </p:txBody>
      </p:sp>
      <p:sp>
        <p:nvSpPr>
          <p:cNvPr id="477" name="Google Shape;477;p44"/>
          <p:cNvSpPr txBox="1"/>
          <p:nvPr>
            <p:ph idx="2" type="body"/>
          </p:nvPr>
        </p:nvSpPr>
        <p:spPr>
          <a:xfrm>
            <a:off x="513081" y="1535125"/>
            <a:ext cx="3438000" cy="238200"/>
          </a:xfrm>
          <a:prstGeom prst="rect">
            <a:avLst/>
          </a:prstGeom>
        </p:spPr>
        <p:txBody>
          <a:bodyPr anchorCtr="0" anchor="t" bIns="0" lIns="0" spcFirstLastPara="1" rIns="0" wrap="square" tIns="0">
            <a:noAutofit/>
          </a:bodyPr>
          <a:lstStyle/>
          <a:p>
            <a:pPr indent="0" lvl="0" marL="0" rtl="0" algn="ctr">
              <a:spcBef>
                <a:spcPts val="0"/>
              </a:spcBef>
              <a:spcAft>
                <a:spcPts val="600"/>
              </a:spcAft>
              <a:buNone/>
            </a:pPr>
            <a:r>
              <a:rPr lang="en-US">
                <a:solidFill>
                  <a:schemeClr val="dk1"/>
                </a:solidFill>
              </a:rPr>
              <a:t>Med Lab Director authorized</a:t>
            </a:r>
            <a:endParaRPr>
              <a:solidFill>
                <a:schemeClr val="dk1"/>
              </a:solidFill>
            </a:endParaRPr>
          </a:p>
        </p:txBody>
      </p:sp>
      <p:sp>
        <p:nvSpPr>
          <p:cNvPr id="478" name="Google Shape;478;p44"/>
          <p:cNvSpPr txBox="1"/>
          <p:nvPr>
            <p:ph idx="4" type="body"/>
          </p:nvPr>
        </p:nvSpPr>
        <p:spPr>
          <a:xfrm>
            <a:off x="4297681" y="1535125"/>
            <a:ext cx="3438000" cy="238200"/>
          </a:xfrm>
          <a:prstGeom prst="rect">
            <a:avLst/>
          </a:prstGeom>
        </p:spPr>
        <p:txBody>
          <a:bodyPr anchorCtr="0" anchor="t" bIns="0" lIns="0" spcFirstLastPara="1" rIns="0" wrap="square" tIns="0">
            <a:noAutofit/>
          </a:bodyPr>
          <a:lstStyle/>
          <a:p>
            <a:pPr indent="0" lvl="0" marL="0" rtl="0" algn="ctr">
              <a:spcBef>
                <a:spcPts val="0"/>
              </a:spcBef>
              <a:spcAft>
                <a:spcPts val="600"/>
              </a:spcAft>
              <a:buNone/>
            </a:pPr>
            <a:r>
              <a:rPr lang="en-US">
                <a:solidFill>
                  <a:schemeClr val="dk1"/>
                </a:solidFill>
              </a:rPr>
              <a:t>Reduce Testing cycle time</a:t>
            </a:r>
            <a:endParaRPr>
              <a:solidFill>
                <a:schemeClr val="dk1"/>
              </a:solidFill>
            </a:endParaRPr>
          </a:p>
        </p:txBody>
      </p:sp>
      <p:sp>
        <p:nvSpPr>
          <p:cNvPr id="479" name="Google Shape;479;p44"/>
          <p:cNvSpPr txBox="1"/>
          <p:nvPr>
            <p:ph idx="6" type="body"/>
          </p:nvPr>
        </p:nvSpPr>
        <p:spPr>
          <a:xfrm>
            <a:off x="8083488" y="1535125"/>
            <a:ext cx="3438000" cy="238200"/>
          </a:xfrm>
          <a:prstGeom prst="rect">
            <a:avLst/>
          </a:prstGeom>
        </p:spPr>
        <p:txBody>
          <a:bodyPr anchorCtr="0" anchor="t" bIns="0" lIns="0" spcFirstLastPara="1" rIns="0" wrap="square" tIns="0">
            <a:noAutofit/>
          </a:bodyPr>
          <a:lstStyle/>
          <a:p>
            <a:pPr indent="0" lvl="0" marL="0" rtl="0" algn="ctr">
              <a:spcBef>
                <a:spcPts val="0"/>
              </a:spcBef>
              <a:spcAft>
                <a:spcPts val="600"/>
              </a:spcAft>
              <a:buNone/>
            </a:pPr>
            <a:r>
              <a:rPr lang="en-US">
                <a:solidFill>
                  <a:schemeClr val="dk1"/>
                </a:solidFill>
              </a:rPr>
              <a:t>Centralize record retention</a:t>
            </a:r>
            <a:endParaRPr>
              <a:solidFill>
                <a:schemeClr val="dk1"/>
              </a:solidFill>
            </a:endParaRPr>
          </a:p>
        </p:txBody>
      </p:sp>
      <p:sp>
        <p:nvSpPr>
          <p:cNvPr id="480" name="Google Shape;480;p44"/>
          <p:cNvSpPr/>
          <p:nvPr/>
        </p:nvSpPr>
        <p:spPr>
          <a:xfrm rot="10800000">
            <a:off x="4339400" y="2450550"/>
            <a:ext cx="2482500" cy="674700"/>
          </a:xfrm>
          <a:prstGeom prst="bentUpArrow">
            <a:avLst>
              <a:gd fmla="val 25000" name="adj1"/>
              <a:gd fmla="val 25000" name="adj2"/>
              <a:gd fmla="val 25000" name="adj3"/>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81" name="Google Shape;481;p44"/>
          <p:cNvSpPr/>
          <p:nvPr/>
        </p:nvSpPr>
        <p:spPr>
          <a:xfrm flipH="1" rot="10800000">
            <a:off x="6821900" y="2450550"/>
            <a:ext cx="1014000" cy="674700"/>
          </a:xfrm>
          <a:prstGeom prst="bentUpArrow">
            <a:avLst>
              <a:gd fmla="val 25000" name="adj1"/>
              <a:gd fmla="val 25000" name="adj2"/>
              <a:gd fmla="val 25000" name="adj3"/>
            </a:avLst>
          </a:prstGeom>
          <a:solidFill>
            <a:srgbClr val="AAAAA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82" name="Google Shape;482;p44"/>
          <p:cNvSpPr txBox="1"/>
          <p:nvPr/>
        </p:nvSpPr>
        <p:spPr>
          <a:xfrm>
            <a:off x="4230100" y="3169175"/>
            <a:ext cx="924900" cy="33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chemeClr val="accent4"/>
                </a:solidFill>
                <a:latin typeface="Montserrat"/>
                <a:ea typeface="Montserrat"/>
                <a:cs typeface="Montserrat"/>
                <a:sym typeface="Montserrat"/>
              </a:rPr>
              <a:t>Protocol</a:t>
            </a:r>
            <a:endParaRPr sz="1100">
              <a:solidFill>
                <a:schemeClr val="accent4"/>
              </a:solidFill>
              <a:latin typeface="Montserrat"/>
              <a:ea typeface="Montserrat"/>
              <a:cs typeface="Montserrat"/>
              <a:sym typeface="Montserrat"/>
            </a:endParaRPr>
          </a:p>
          <a:p>
            <a:pPr indent="0" lvl="0" marL="0" rtl="0" algn="l">
              <a:spcBef>
                <a:spcPts val="0"/>
              </a:spcBef>
              <a:spcAft>
                <a:spcPts val="0"/>
              </a:spcAft>
              <a:buNone/>
            </a:pPr>
            <a:r>
              <a:rPr lang="en-US" sz="1100">
                <a:solidFill>
                  <a:schemeClr val="accent4"/>
                </a:solidFill>
                <a:latin typeface="Montserrat"/>
                <a:ea typeface="Montserrat"/>
                <a:cs typeface="Montserrat"/>
                <a:sym typeface="Montserrat"/>
              </a:rPr>
              <a:t>ID created</a:t>
            </a:r>
            <a:endParaRPr sz="1100">
              <a:solidFill>
                <a:schemeClr val="accent4"/>
              </a:solidFill>
              <a:latin typeface="Montserrat"/>
              <a:ea typeface="Montserrat"/>
              <a:cs typeface="Montserrat"/>
              <a:sym typeface="Montserrat"/>
            </a:endParaRPr>
          </a:p>
        </p:txBody>
      </p:sp>
      <p:sp>
        <p:nvSpPr>
          <p:cNvPr id="483" name="Google Shape;483;p44"/>
          <p:cNvSpPr txBox="1"/>
          <p:nvPr/>
        </p:nvSpPr>
        <p:spPr>
          <a:xfrm>
            <a:off x="6767875" y="3169175"/>
            <a:ext cx="1194000" cy="336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US" sz="1100">
                <a:solidFill>
                  <a:schemeClr val="accent4"/>
                </a:solidFill>
                <a:latin typeface="Montserrat"/>
                <a:ea typeface="Montserrat"/>
                <a:cs typeface="Montserrat"/>
                <a:sym typeface="Montserrat"/>
              </a:rPr>
              <a:t>Report approval</a:t>
            </a:r>
            <a:endParaRPr sz="1100">
              <a:solidFill>
                <a:schemeClr val="accent4"/>
              </a:solidFill>
              <a:latin typeface="Montserrat"/>
              <a:ea typeface="Montserrat"/>
              <a:cs typeface="Montserrat"/>
              <a:sym typeface="Montserrat"/>
            </a:endParaRPr>
          </a:p>
        </p:txBody>
      </p:sp>
      <p:sp>
        <p:nvSpPr>
          <p:cNvPr id="484" name="Google Shape;484;p44"/>
          <p:cNvSpPr txBox="1"/>
          <p:nvPr/>
        </p:nvSpPr>
        <p:spPr>
          <a:xfrm>
            <a:off x="5126275" y="2216425"/>
            <a:ext cx="17808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1"/>
                </a:solidFill>
                <a:latin typeface="Montserrat"/>
                <a:ea typeface="Montserrat"/>
                <a:cs typeface="Montserrat"/>
                <a:sym typeface="Montserrat"/>
              </a:rPr>
              <a:t>(6) OPQs</a:t>
            </a:r>
            <a:endParaRPr b="1" sz="1000">
              <a:solidFill>
                <a:schemeClr val="dk1"/>
              </a:solidFill>
              <a:latin typeface="Montserrat"/>
              <a:ea typeface="Montserrat"/>
              <a:cs typeface="Montserrat"/>
              <a:sym typeface="Montserrat"/>
            </a:endParaRPr>
          </a:p>
        </p:txBody>
      </p:sp>
      <p:pic>
        <p:nvPicPr>
          <p:cNvPr id="485" name="Google Shape;485;p44"/>
          <p:cNvPicPr preferRelativeResize="0"/>
          <p:nvPr/>
        </p:nvPicPr>
        <p:blipFill>
          <a:blip r:embed="rId3">
            <a:alphaModFix/>
          </a:blip>
          <a:stretch>
            <a:fillRect/>
          </a:stretch>
        </p:blipFill>
        <p:spPr>
          <a:xfrm>
            <a:off x="11457850" y="171800"/>
            <a:ext cx="428625" cy="457200"/>
          </a:xfrm>
          <a:prstGeom prst="rect">
            <a:avLst/>
          </a:prstGeom>
          <a:noFill/>
          <a:ln>
            <a:noFill/>
          </a:ln>
        </p:spPr>
      </p:pic>
      <p:sp>
        <p:nvSpPr>
          <p:cNvPr id="486" name="Google Shape;486;p44"/>
          <p:cNvSpPr txBox="1"/>
          <p:nvPr/>
        </p:nvSpPr>
        <p:spPr>
          <a:xfrm>
            <a:off x="4613249" y="2450550"/>
            <a:ext cx="22086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rgbClr val="980000"/>
                </a:solidFill>
                <a:latin typeface="Montserrat"/>
                <a:ea typeface="Montserrat"/>
                <a:cs typeface="Montserrat"/>
                <a:sym typeface="Montserrat"/>
              </a:rPr>
              <a:t>Plan took ~ 6 months</a:t>
            </a:r>
            <a:endParaRPr sz="1000">
              <a:solidFill>
                <a:srgbClr val="980000"/>
              </a:solidFill>
              <a:latin typeface="Montserrat"/>
              <a:ea typeface="Montserrat"/>
              <a:cs typeface="Montserrat"/>
              <a:sym typeface="Montserrat"/>
            </a:endParaRPr>
          </a:p>
        </p:txBody>
      </p:sp>
      <p:sp>
        <p:nvSpPr>
          <p:cNvPr id="487" name="Google Shape;487;p44"/>
          <p:cNvSpPr txBox="1"/>
          <p:nvPr/>
        </p:nvSpPr>
        <p:spPr>
          <a:xfrm>
            <a:off x="6695457" y="2450538"/>
            <a:ext cx="10395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 20 days</a:t>
            </a:r>
            <a:endParaRPr sz="1000">
              <a:solidFill>
                <a:schemeClr val="dk1"/>
              </a:solidFill>
              <a:latin typeface="Montserrat"/>
              <a:ea typeface="Montserrat"/>
              <a:cs typeface="Montserrat"/>
              <a:sym typeface="Montserrat"/>
            </a:endParaRPr>
          </a:p>
        </p:txBody>
      </p:sp>
      <p:sp>
        <p:nvSpPr>
          <p:cNvPr id="488" name="Google Shape;488;p44"/>
          <p:cNvSpPr txBox="1"/>
          <p:nvPr/>
        </p:nvSpPr>
        <p:spPr>
          <a:xfrm>
            <a:off x="4763325" y="2615300"/>
            <a:ext cx="2104200" cy="414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US" sz="900">
                <a:solidFill>
                  <a:srgbClr val="980000"/>
                </a:solidFill>
                <a:latin typeface="Montserrat"/>
                <a:ea typeface="Montserrat"/>
                <a:cs typeface="Montserrat"/>
                <a:sym typeface="Montserrat"/>
              </a:rPr>
              <a:t>Replace this time burden with </a:t>
            </a:r>
            <a:endParaRPr i="1" sz="900">
              <a:solidFill>
                <a:srgbClr val="980000"/>
              </a:solidFill>
              <a:latin typeface="Montserrat"/>
              <a:ea typeface="Montserrat"/>
              <a:cs typeface="Montserrat"/>
              <a:sym typeface="Montserrat"/>
            </a:endParaRPr>
          </a:p>
          <a:p>
            <a:pPr indent="0" lvl="0" marL="0" rtl="0" algn="l">
              <a:spcBef>
                <a:spcPts val="0"/>
              </a:spcBef>
              <a:spcAft>
                <a:spcPts val="0"/>
              </a:spcAft>
              <a:buNone/>
            </a:pPr>
            <a:r>
              <a:rPr i="1" lang="en-US" sz="900">
                <a:solidFill>
                  <a:srgbClr val="980000"/>
                </a:solidFill>
                <a:latin typeface="Montserrat"/>
                <a:ea typeface="Montserrat"/>
                <a:cs typeface="Montserrat"/>
                <a:sym typeface="Montserrat"/>
              </a:rPr>
              <a:t>(1) Plan to fit all future testing</a:t>
            </a:r>
            <a:endParaRPr i="1" sz="900">
              <a:solidFill>
                <a:srgbClr val="980000"/>
              </a:solidFill>
              <a:latin typeface="Montserrat"/>
              <a:ea typeface="Montserrat"/>
              <a:cs typeface="Montserrat"/>
              <a:sym typeface="Montserrat"/>
            </a:endParaRPr>
          </a:p>
        </p:txBody>
      </p:sp>
      <p:sp>
        <p:nvSpPr>
          <p:cNvPr id="489" name="Google Shape;489;p44"/>
          <p:cNvSpPr/>
          <p:nvPr/>
        </p:nvSpPr>
        <p:spPr>
          <a:xfrm>
            <a:off x="6170425" y="3644750"/>
            <a:ext cx="1643400" cy="573300"/>
          </a:xfrm>
          <a:prstGeom prst="rightArrow">
            <a:avLst>
              <a:gd fmla="val 50000" name="adj1"/>
              <a:gd fmla="val 50000" name="adj2"/>
            </a:avLst>
          </a:prstGeom>
          <a:solidFill>
            <a:schemeClr val="lt2"/>
          </a:solidFill>
          <a:ln>
            <a:noFill/>
          </a:ln>
        </p:spPr>
        <p:txBody>
          <a:bodyPr anchorCtr="0" anchor="ctr" bIns="155750" lIns="155750" spcFirstLastPara="1" rIns="155750" wrap="square" tIns="155750">
            <a:noAutofit/>
          </a:bodyPr>
          <a:lstStyle/>
          <a:p>
            <a:pPr indent="0" lvl="0" marL="0" rtl="0" algn="ctr">
              <a:spcBef>
                <a:spcPts val="0"/>
              </a:spcBef>
              <a:spcAft>
                <a:spcPts val="0"/>
              </a:spcAft>
              <a:buNone/>
            </a:pPr>
            <a:r>
              <a:t/>
            </a:r>
            <a:endParaRPr sz="2384">
              <a:latin typeface="Montserrat"/>
              <a:ea typeface="Montserrat"/>
              <a:cs typeface="Montserrat"/>
              <a:sym typeface="Montserrat"/>
            </a:endParaRPr>
          </a:p>
        </p:txBody>
      </p:sp>
      <p:sp>
        <p:nvSpPr>
          <p:cNvPr id="490" name="Google Shape;490;p44"/>
          <p:cNvSpPr/>
          <p:nvPr/>
        </p:nvSpPr>
        <p:spPr>
          <a:xfrm rot="10800000">
            <a:off x="4418425" y="3644875"/>
            <a:ext cx="1752000" cy="573300"/>
          </a:xfrm>
          <a:prstGeom prst="rightArrow">
            <a:avLst>
              <a:gd fmla="val 50000" name="adj1"/>
              <a:gd fmla="val 50000" name="adj2"/>
            </a:avLst>
          </a:prstGeom>
          <a:solidFill>
            <a:schemeClr val="lt2"/>
          </a:solidFill>
          <a:ln>
            <a:noFill/>
          </a:ln>
        </p:spPr>
        <p:txBody>
          <a:bodyPr anchorCtr="0" anchor="ctr" bIns="155750" lIns="155750" spcFirstLastPara="1" rIns="155750" wrap="square" tIns="155750">
            <a:noAutofit/>
          </a:bodyPr>
          <a:lstStyle/>
          <a:p>
            <a:pPr indent="0" lvl="0" marL="0" rtl="0" algn="ctr">
              <a:spcBef>
                <a:spcPts val="0"/>
              </a:spcBef>
              <a:spcAft>
                <a:spcPts val="0"/>
              </a:spcAft>
              <a:buNone/>
            </a:pPr>
            <a:r>
              <a:t/>
            </a:r>
            <a:endParaRPr sz="2384">
              <a:latin typeface="Montserrat"/>
              <a:ea typeface="Montserrat"/>
              <a:cs typeface="Montserrat"/>
              <a:sym typeface="Montserrat"/>
            </a:endParaRPr>
          </a:p>
        </p:txBody>
      </p:sp>
      <p:sp>
        <p:nvSpPr>
          <p:cNvPr id="491" name="Google Shape;491;p44"/>
          <p:cNvSpPr txBox="1"/>
          <p:nvPr/>
        </p:nvSpPr>
        <p:spPr>
          <a:xfrm>
            <a:off x="5114212" y="3872175"/>
            <a:ext cx="23097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Average: 140d = ~ 7 months</a:t>
            </a:r>
            <a:endParaRPr sz="1200">
              <a:solidFill>
                <a:schemeClr val="dk1"/>
              </a:solidFill>
              <a:latin typeface="Montserrat"/>
              <a:ea typeface="Montserrat"/>
              <a:cs typeface="Montserrat"/>
              <a:sym typeface="Montserrat"/>
            </a:endParaRPr>
          </a:p>
        </p:txBody>
      </p:sp>
      <p:pic>
        <p:nvPicPr>
          <p:cNvPr id="492" name="Google Shape;492;p44"/>
          <p:cNvPicPr preferRelativeResize="0"/>
          <p:nvPr/>
        </p:nvPicPr>
        <p:blipFill>
          <a:blip r:embed="rId4">
            <a:alphaModFix/>
          </a:blip>
          <a:stretch>
            <a:fillRect/>
          </a:stretch>
        </p:blipFill>
        <p:spPr>
          <a:xfrm>
            <a:off x="1191775" y="4704400"/>
            <a:ext cx="858007" cy="640200"/>
          </a:xfrm>
          <a:prstGeom prst="rect">
            <a:avLst/>
          </a:prstGeom>
          <a:noFill/>
          <a:ln>
            <a:noFill/>
          </a:ln>
        </p:spPr>
      </p:pic>
      <p:pic>
        <p:nvPicPr>
          <p:cNvPr id="493" name="Google Shape;493;p44"/>
          <p:cNvPicPr preferRelativeResize="0"/>
          <p:nvPr/>
        </p:nvPicPr>
        <p:blipFill>
          <a:blip r:embed="rId5">
            <a:alphaModFix/>
          </a:blip>
          <a:stretch>
            <a:fillRect/>
          </a:stretch>
        </p:blipFill>
        <p:spPr>
          <a:xfrm>
            <a:off x="2688050" y="3307988"/>
            <a:ext cx="1472375" cy="1472375"/>
          </a:xfrm>
          <a:prstGeom prst="rect">
            <a:avLst/>
          </a:prstGeom>
          <a:noFill/>
          <a:ln>
            <a:noFill/>
          </a:ln>
        </p:spPr>
      </p:pic>
      <p:pic>
        <p:nvPicPr>
          <p:cNvPr id="494" name="Google Shape;494;p44"/>
          <p:cNvPicPr preferRelativeResize="0"/>
          <p:nvPr/>
        </p:nvPicPr>
        <p:blipFill>
          <a:blip r:embed="rId6">
            <a:alphaModFix/>
          </a:blip>
          <a:stretch>
            <a:fillRect/>
          </a:stretch>
        </p:blipFill>
        <p:spPr>
          <a:xfrm>
            <a:off x="1191763" y="2750462"/>
            <a:ext cx="753475" cy="753475"/>
          </a:xfrm>
          <a:prstGeom prst="rect">
            <a:avLst/>
          </a:prstGeom>
          <a:noFill/>
          <a:ln>
            <a:noFill/>
          </a:ln>
        </p:spPr>
      </p:pic>
      <p:cxnSp>
        <p:nvCxnSpPr>
          <p:cNvPr id="495" name="Google Shape;495;p44"/>
          <p:cNvCxnSpPr>
            <a:stCxn id="494" idx="3"/>
            <a:endCxn id="493" idx="0"/>
          </p:cNvCxnSpPr>
          <p:nvPr/>
        </p:nvCxnSpPr>
        <p:spPr>
          <a:xfrm>
            <a:off x="1945238" y="3127199"/>
            <a:ext cx="1479000" cy="180900"/>
          </a:xfrm>
          <a:prstGeom prst="bentConnector2">
            <a:avLst/>
          </a:prstGeom>
          <a:noFill/>
          <a:ln cap="flat" cmpd="sng" w="9525">
            <a:solidFill>
              <a:schemeClr val="dk2"/>
            </a:solidFill>
            <a:prstDash val="solid"/>
            <a:round/>
            <a:headEnd len="med" w="med" type="none"/>
            <a:tailEnd len="med" w="med" type="triangle"/>
          </a:ln>
        </p:spPr>
      </p:cxnSp>
      <p:cxnSp>
        <p:nvCxnSpPr>
          <p:cNvPr id="496" name="Google Shape;496;p44"/>
          <p:cNvCxnSpPr>
            <a:stCxn id="492" idx="3"/>
            <a:endCxn id="493" idx="2"/>
          </p:cNvCxnSpPr>
          <p:nvPr/>
        </p:nvCxnSpPr>
        <p:spPr>
          <a:xfrm flipH="1" rot="10800000">
            <a:off x="2049782" y="4780300"/>
            <a:ext cx="1374600" cy="244200"/>
          </a:xfrm>
          <a:prstGeom prst="bentConnector2">
            <a:avLst/>
          </a:prstGeom>
          <a:noFill/>
          <a:ln cap="flat" cmpd="sng" w="9525">
            <a:solidFill>
              <a:schemeClr val="dk2"/>
            </a:solidFill>
            <a:prstDash val="solid"/>
            <a:round/>
            <a:headEnd len="med" w="med" type="none"/>
            <a:tailEnd len="med" w="med" type="triangle"/>
          </a:ln>
        </p:spPr>
      </p:cxnSp>
      <p:sp>
        <p:nvSpPr>
          <p:cNvPr id="497" name="Google Shape;497;p44"/>
          <p:cNvSpPr txBox="1"/>
          <p:nvPr/>
        </p:nvSpPr>
        <p:spPr>
          <a:xfrm>
            <a:off x="513075" y="3766825"/>
            <a:ext cx="2458200" cy="674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“This </a:t>
            </a:r>
            <a:r>
              <a:rPr lang="en-US" sz="1100">
                <a:solidFill>
                  <a:srgbClr val="9E9E9E"/>
                </a:solidFill>
                <a:latin typeface="Montserrat"/>
                <a:ea typeface="Montserrat"/>
                <a:cs typeface="Montserrat"/>
                <a:sym typeface="Montserrat"/>
              </a:rPr>
              <a:t>&lt;method, equipment&gt;</a:t>
            </a:r>
            <a:r>
              <a:rPr lang="en-US" sz="1100">
                <a:solidFill>
                  <a:schemeClr val="dk1"/>
                </a:solidFill>
                <a:latin typeface="Montserrat"/>
                <a:ea typeface="Montserrat"/>
                <a:cs typeface="Montserrat"/>
                <a:sym typeface="Montserrat"/>
              </a:rPr>
              <a:t> is ready for patient clinical testing”</a:t>
            </a:r>
            <a:endParaRPr sz="1100">
              <a:solidFill>
                <a:schemeClr val="dk1"/>
              </a:solidFill>
              <a:latin typeface="Montserrat"/>
              <a:ea typeface="Montserrat"/>
              <a:cs typeface="Montserrat"/>
              <a:sym typeface="Montserrat"/>
            </a:endParaRPr>
          </a:p>
        </p:txBody>
      </p:sp>
      <p:pic>
        <p:nvPicPr>
          <p:cNvPr id="498" name="Google Shape;498;p44"/>
          <p:cNvPicPr preferRelativeResize="0"/>
          <p:nvPr/>
        </p:nvPicPr>
        <p:blipFill>
          <a:blip r:embed="rId7">
            <a:alphaModFix/>
          </a:blip>
          <a:stretch>
            <a:fillRect/>
          </a:stretch>
        </p:blipFill>
        <p:spPr>
          <a:xfrm>
            <a:off x="464725" y="2651064"/>
            <a:ext cx="493521" cy="493500"/>
          </a:xfrm>
          <a:prstGeom prst="rect">
            <a:avLst/>
          </a:prstGeom>
          <a:noFill/>
          <a:ln>
            <a:noFill/>
          </a:ln>
        </p:spPr>
      </p:pic>
      <p:pic>
        <p:nvPicPr>
          <p:cNvPr id="499" name="Google Shape;499;p44"/>
          <p:cNvPicPr preferRelativeResize="0"/>
          <p:nvPr/>
        </p:nvPicPr>
        <p:blipFill>
          <a:blip r:embed="rId8">
            <a:alphaModFix/>
          </a:blip>
          <a:stretch>
            <a:fillRect/>
          </a:stretch>
        </p:blipFill>
        <p:spPr>
          <a:xfrm>
            <a:off x="977923" y="2343033"/>
            <a:ext cx="339000" cy="303192"/>
          </a:xfrm>
          <a:prstGeom prst="rect">
            <a:avLst/>
          </a:prstGeom>
          <a:noFill/>
          <a:ln>
            <a:noFill/>
          </a:ln>
        </p:spPr>
      </p:pic>
      <p:pic>
        <p:nvPicPr>
          <p:cNvPr id="500" name="Google Shape;500;p44"/>
          <p:cNvPicPr preferRelativeResize="0"/>
          <p:nvPr/>
        </p:nvPicPr>
        <p:blipFill>
          <a:blip r:embed="rId9">
            <a:alphaModFix/>
          </a:blip>
          <a:stretch>
            <a:fillRect/>
          </a:stretch>
        </p:blipFill>
        <p:spPr>
          <a:xfrm>
            <a:off x="1652763" y="2345768"/>
            <a:ext cx="428625" cy="322707"/>
          </a:xfrm>
          <a:prstGeom prst="rect">
            <a:avLst/>
          </a:prstGeom>
          <a:noFill/>
          <a:ln>
            <a:noFill/>
          </a:ln>
        </p:spPr>
      </p:pic>
      <p:pic>
        <p:nvPicPr>
          <p:cNvPr id="501" name="Google Shape;501;p44"/>
          <p:cNvPicPr preferRelativeResize="0"/>
          <p:nvPr/>
        </p:nvPicPr>
        <p:blipFill>
          <a:blip r:embed="rId10">
            <a:alphaModFix/>
          </a:blip>
          <a:stretch>
            <a:fillRect/>
          </a:stretch>
        </p:blipFill>
        <p:spPr>
          <a:xfrm>
            <a:off x="2178775" y="2736008"/>
            <a:ext cx="332100" cy="323655"/>
          </a:xfrm>
          <a:prstGeom prst="rect">
            <a:avLst/>
          </a:prstGeom>
          <a:noFill/>
          <a:ln>
            <a:noFill/>
          </a:ln>
        </p:spPr>
      </p:pic>
      <p:sp>
        <p:nvSpPr>
          <p:cNvPr id="502" name="Google Shape;502;p44"/>
          <p:cNvSpPr txBox="1"/>
          <p:nvPr/>
        </p:nvSpPr>
        <p:spPr>
          <a:xfrm>
            <a:off x="630675" y="5423425"/>
            <a:ext cx="2104200" cy="24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Intended Use Statement</a:t>
            </a:r>
            <a:endParaRPr sz="1000">
              <a:solidFill>
                <a:schemeClr val="dk1"/>
              </a:solidFill>
              <a:latin typeface="Montserrat"/>
              <a:ea typeface="Montserrat"/>
              <a:cs typeface="Montserrat"/>
              <a:sym typeface="Montserrat"/>
            </a:endParaRPr>
          </a:p>
        </p:txBody>
      </p:sp>
      <p:sp>
        <p:nvSpPr>
          <p:cNvPr id="503" name="Google Shape;503;p44"/>
          <p:cNvSpPr txBox="1"/>
          <p:nvPr/>
        </p:nvSpPr>
        <p:spPr>
          <a:xfrm>
            <a:off x="6876500" y="2591250"/>
            <a:ext cx="677400" cy="24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Testing</a:t>
            </a:r>
            <a:endParaRPr sz="1000">
              <a:solidFill>
                <a:schemeClr val="dk1"/>
              </a:solidFill>
              <a:latin typeface="Montserrat"/>
              <a:ea typeface="Montserrat"/>
              <a:cs typeface="Montserrat"/>
              <a:sym typeface="Montserrat"/>
            </a:endParaRPr>
          </a:p>
        </p:txBody>
      </p:sp>
      <p:pic>
        <p:nvPicPr>
          <p:cNvPr id="504" name="Google Shape;504;p44"/>
          <p:cNvPicPr preferRelativeResize="0"/>
          <p:nvPr/>
        </p:nvPicPr>
        <p:blipFill>
          <a:blip r:embed="rId11">
            <a:alphaModFix/>
          </a:blip>
          <a:stretch>
            <a:fillRect/>
          </a:stretch>
        </p:blipFill>
        <p:spPr>
          <a:xfrm>
            <a:off x="5270550" y="4120325"/>
            <a:ext cx="1780800" cy="1780800"/>
          </a:xfrm>
          <a:prstGeom prst="rect">
            <a:avLst/>
          </a:prstGeom>
          <a:noFill/>
          <a:ln>
            <a:noFill/>
          </a:ln>
        </p:spPr>
      </p:pic>
      <p:grpSp>
        <p:nvGrpSpPr>
          <p:cNvPr id="505" name="Google Shape;505;p44"/>
          <p:cNvGrpSpPr/>
          <p:nvPr/>
        </p:nvGrpSpPr>
        <p:grpSpPr>
          <a:xfrm>
            <a:off x="8742363" y="3232638"/>
            <a:ext cx="2619375" cy="1743075"/>
            <a:chOff x="8742363" y="3232638"/>
            <a:chExt cx="2619375" cy="1743075"/>
          </a:xfrm>
        </p:grpSpPr>
        <p:pic>
          <p:nvPicPr>
            <p:cNvPr id="506" name="Google Shape;506;p44"/>
            <p:cNvPicPr preferRelativeResize="0"/>
            <p:nvPr/>
          </p:nvPicPr>
          <p:blipFill>
            <a:blip r:embed="rId12">
              <a:alphaModFix/>
            </a:blip>
            <a:stretch>
              <a:fillRect/>
            </a:stretch>
          </p:blipFill>
          <p:spPr>
            <a:xfrm>
              <a:off x="8742363" y="3232638"/>
              <a:ext cx="2619375" cy="1743075"/>
            </a:xfrm>
            <a:prstGeom prst="rect">
              <a:avLst/>
            </a:prstGeom>
            <a:noFill/>
            <a:ln>
              <a:noFill/>
            </a:ln>
          </p:spPr>
        </p:pic>
        <p:sp>
          <p:nvSpPr>
            <p:cNvPr id="507" name="Google Shape;507;p44"/>
            <p:cNvSpPr txBox="1"/>
            <p:nvPr/>
          </p:nvSpPr>
          <p:spPr>
            <a:xfrm>
              <a:off x="9433000" y="3922088"/>
              <a:ext cx="1238100" cy="244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000">
                  <a:solidFill>
                    <a:schemeClr val="dk1"/>
                  </a:solidFill>
                  <a:latin typeface="Montserrat"/>
                  <a:ea typeface="Montserrat"/>
                  <a:cs typeface="Montserrat"/>
                  <a:sym typeface="Montserrat"/>
                </a:rPr>
                <a:t>VALIDATION</a:t>
              </a:r>
              <a:endParaRPr b="1" sz="1000">
                <a:solidFill>
                  <a:schemeClr val="dk1"/>
                </a:solidFill>
                <a:latin typeface="Montserrat"/>
                <a:ea typeface="Montserrat"/>
                <a:cs typeface="Montserrat"/>
                <a:sym typeface="Montserrat"/>
              </a:endParaRPr>
            </a:p>
          </p:txBody>
        </p:sp>
      </p:grpSp>
      <p:grpSp>
        <p:nvGrpSpPr>
          <p:cNvPr id="508" name="Google Shape;508;p44"/>
          <p:cNvGrpSpPr/>
          <p:nvPr/>
        </p:nvGrpSpPr>
        <p:grpSpPr>
          <a:xfrm>
            <a:off x="9796994" y="4242017"/>
            <a:ext cx="510097" cy="510778"/>
            <a:chOff x="5782500" y="3114675"/>
            <a:chExt cx="1236600" cy="1238250"/>
          </a:xfrm>
        </p:grpSpPr>
        <p:pic>
          <p:nvPicPr>
            <p:cNvPr id="509" name="Google Shape;509;p44"/>
            <p:cNvPicPr preferRelativeResize="0"/>
            <p:nvPr/>
          </p:nvPicPr>
          <p:blipFill>
            <a:blip r:embed="rId13">
              <a:alphaModFix/>
            </a:blip>
            <a:stretch>
              <a:fillRect/>
            </a:stretch>
          </p:blipFill>
          <p:spPr>
            <a:xfrm>
              <a:off x="5786438" y="3114675"/>
              <a:ext cx="1228725" cy="1238250"/>
            </a:xfrm>
            <a:prstGeom prst="rect">
              <a:avLst/>
            </a:prstGeom>
            <a:noFill/>
            <a:ln>
              <a:noFill/>
            </a:ln>
          </p:spPr>
        </p:pic>
        <p:sp>
          <p:nvSpPr>
            <p:cNvPr id="510" name="Google Shape;510;p44"/>
            <p:cNvSpPr txBox="1"/>
            <p:nvPr/>
          </p:nvSpPr>
          <p:spPr>
            <a:xfrm>
              <a:off x="5782500" y="3625650"/>
              <a:ext cx="1236600" cy="216300"/>
            </a:xfrm>
            <a:prstGeom prst="rect">
              <a:avLst/>
            </a:prstGeom>
            <a:noFill/>
            <a:ln>
              <a:noFill/>
            </a:ln>
          </p:spPr>
          <p:txBody>
            <a:bodyPr anchorCtr="0" anchor="ctr" bIns="37725" lIns="37725" spcFirstLastPara="1" rIns="37725" wrap="square" tIns="37725">
              <a:noAutofit/>
            </a:bodyPr>
            <a:lstStyle/>
            <a:p>
              <a:pPr indent="0" lvl="0" marL="0" rtl="0" algn="ctr">
                <a:spcBef>
                  <a:spcPts val="0"/>
                </a:spcBef>
                <a:spcAft>
                  <a:spcPts val="0"/>
                </a:spcAft>
                <a:buNone/>
              </a:pPr>
              <a:r>
                <a:rPr lang="en-US" sz="577">
                  <a:solidFill>
                    <a:schemeClr val="dk1"/>
                  </a:solidFill>
                  <a:latin typeface="Montserrat"/>
                  <a:ea typeface="Montserrat"/>
                  <a:cs typeface="Montserrat"/>
                  <a:sym typeface="Montserrat"/>
                </a:rPr>
                <a:t>Orcanos</a:t>
              </a:r>
              <a:endParaRPr sz="577">
                <a:solidFill>
                  <a:schemeClr val="dk1"/>
                </a:solidFill>
                <a:latin typeface="Montserrat"/>
                <a:ea typeface="Montserrat"/>
                <a:cs typeface="Montserrat"/>
                <a:sym typeface="Montserrat"/>
              </a:endParaRPr>
            </a:p>
          </p:txBody>
        </p:sp>
      </p:grpSp>
      <p:sp>
        <p:nvSpPr>
          <p:cNvPr id="511" name="Google Shape;511;p44"/>
          <p:cNvSpPr/>
          <p:nvPr/>
        </p:nvSpPr>
        <p:spPr>
          <a:xfrm>
            <a:off x="10106350" y="4649975"/>
            <a:ext cx="1643400" cy="573300"/>
          </a:xfrm>
          <a:prstGeom prst="rightArrow">
            <a:avLst>
              <a:gd fmla="val 50000" name="adj1"/>
              <a:gd fmla="val 50000" name="adj2"/>
            </a:avLst>
          </a:prstGeom>
          <a:solidFill>
            <a:schemeClr val="lt2"/>
          </a:solidFill>
          <a:ln>
            <a:noFill/>
          </a:ln>
        </p:spPr>
        <p:txBody>
          <a:bodyPr anchorCtr="0" anchor="ctr" bIns="155750" lIns="155750" spcFirstLastPara="1" rIns="155750" wrap="square" tIns="155750">
            <a:noAutofit/>
          </a:bodyPr>
          <a:lstStyle/>
          <a:p>
            <a:pPr indent="0" lvl="0" marL="0" rtl="0" algn="ctr">
              <a:spcBef>
                <a:spcPts val="0"/>
              </a:spcBef>
              <a:spcAft>
                <a:spcPts val="0"/>
              </a:spcAft>
              <a:buNone/>
            </a:pPr>
            <a:r>
              <a:t/>
            </a:r>
            <a:endParaRPr sz="2384">
              <a:latin typeface="Montserrat"/>
              <a:ea typeface="Montserrat"/>
              <a:cs typeface="Montserrat"/>
              <a:sym typeface="Montserrat"/>
            </a:endParaRPr>
          </a:p>
        </p:txBody>
      </p:sp>
      <p:sp>
        <p:nvSpPr>
          <p:cNvPr id="512" name="Google Shape;512;p44"/>
          <p:cNvSpPr/>
          <p:nvPr/>
        </p:nvSpPr>
        <p:spPr>
          <a:xfrm rot="10800000">
            <a:off x="8354350" y="4650100"/>
            <a:ext cx="1752000" cy="573300"/>
          </a:xfrm>
          <a:prstGeom prst="rightArrow">
            <a:avLst>
              <a:gd fmla="val 50000" name="adj1"/>
              <a:gd fmla="val 50000" name="adj2"/>
            </a:avLst>
          </a:prstGeom>
          <a:solidFill>
            <a:schemeClr val="lt2"/>
          </a:solidFill>
          <a:ln>
            <a:noFill/>
          </a:ln>
        </p:spPr>
        <p:txBody>
          <a:bodyPr anchorCtr="0" anchor="ctr" bIns="155750" lIns="155750" spcFirstLastPara="1" rIns="155750" wrap="square" tIns="155750">
            <a:noAutofit/>
          </a:bodyPr>
          <a:lstStyle/>
          <a:p>
            <a:pPr indent="0" lvl="0" marL="0" rtl="0" algn="ctr">
              <a:spcBef>
                <a:spcPts val="0"/>
              </a:spcBef>
              <a:spcAft>
                <a:spcPts val="0"/>
              </a:spcAft>
              <a:buNone/>
            </a:pPr>
            <a:r>
              <a:t/>
            </a:r>
            <a:endParaRPr sz="2384">
              <a:latin typeface="Montserrat"/>
              <a:ea typeface="Montserrat"/>
              <a:cs typeface="Montserrat"/>
              <a:sym typeface="Montserrat"/>
            </a:endParaRPr>
          </a:p>
        </p:txBody>
      </p:sp>
      <p:sp>
        <p:nvSpPr>
          <p:cNvPr id="513" name="Google Shape;513;p44"/>
          <p:cNvSpPr txBox="1"/>
          <p:nvPr/>
        </p:nvSpPr>
        <p:spPr>
          <a:xfrm>
            <a:off x="8950587" y="4841650"/>
            <a:ext cx="23097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Keep lifetime + 2 years</a:t>
            </a:r>
            <a:endParaRPr sz="1200">
              <a:solidFill>
                <a:schemeClr val="dk1"/>
              </a:solidFill>
              <a:latin typeface="Montserrat"/>
              <a:ea typeface="Montserrat"/>
              <a:cs typeface="Montserrat"/>
              <a:sym typeface="Montserrat"/>
            </a:endParaRPr>
          </a:p>
        </p:txBody>
      </p:sp>
      <p:pic>
        <p:nvPicPr>
          <p:cNvPr id="514" name="Google Shape;514;p44"/>
          <p:cNvPicPr preferRelativeResize="0"/>
          <p:nvPr/>
        </p:nvPicPr>
        <p:blipFill>
          <a:blip r:embed="rId7">
            <a:alphaModFix/>
          </a:blip>
          <a:stretch>
            <a:fillRect/>
          </a:stretch>
        </p:blipFill>
        <p:spPr>
          <a:xfrm>
            <a:off x="8354350" y="3263214"/>
            <a:ext cx="493521" cy="493500"/>
          </a:xfrm>
          <a:prstGeom prst="rect">
            <a:avLst/>
          </a:prstGeom>
          <a:noFill/>
          <a:ln>
            <a:noFill/>
          </a:ln>
        </p:spPr>
      </p:pic>
      <p:pic>
        <p:nvPicPr>
          <p:cNvPr id="515" name="Google Shape;515;p44"/>
          <p:cNvPicPr preferRelativeResize="0"/>
          <p:nvPr/>
        </p:nvPicPr>
        <p:blipFill>
          <a:blip r:embed="rId8">
            <a:alphaModFix/>
          </a:blip>
          <a:stretch>
            <a:fillRect/>
          </a:stretch>
        </p:blipFill>
        <p:spPr>
          <a:xfrm>
            <a:off x="8612714" y="2750945"/>
            <a:ext cx="428625" cy="383356"/>
          </a:xfrm>
          <a:prstGeom prst="rect">
            <a:avLst/>
          </a:prstGeom>
          <a:noFill/>
          <a:ln>
            <a:noFill/>
          </a:ln>
        </p:spPr>
      </p:pic>
      <p:pic>
        <p:nvPicPr>
          <p:cNvPr id="516" name="Google Shape;516;p44"/>
          <p:cNvPicPr preferRelativeResize="0"/>
          <p:nvPr/>
        </p:nvPicPr>
        <p:blipFill>
          <a:blip r:embed="rId9">
            <a:alphaModFix/>
          </a:blip>
          <a:stretch>
            <a:fillRect/>
          </a:stretch>
        </p:blipFill>
        <p:spPr>
          <a:xfrm>
            <a:off x="9216038" y="2450555"/>
            <a:ext cx="428625" cy="322707"/>
          </a:xfrm>
          <a:prstGeom prst="rect">
            <a:avLst/>
          </a:prstGeom>
          <a:noFill/>
          <a:ln>
            <a:noFill/>
          </a:ln>
        </p:spPr>
      </p:pic>
      <p:pic>
        <p:nvPicPr>
          <p:cNvPr id="517" name="Google Shape;517;p44"/>
          <p:cNvPicPr preferRelativeResize="0"/>
          <p:nvPr/>
        </p:nvPicPr>
        <p:blipFill>
          <a:blip r:embed="rId10">
            <a:alphaModFix/>
          </a:blip>
          <a:stretch>
            <a:fillRect/>
          </a:stretch>
        </p:blipFill>
        <p:spPr>
          <a:xfrm>
            <a:off x="9975000" y="2450558"/>
            <a:ext cx="332100" cy="323655"/>
          </a:xfrm>
          <a:prstGeom prst="rect">
            <a:avLst/>
          </a:prstGeom>
          <a:noFill/>
          <a:ln>
            <a:noFill/>
          </a:ln>
        </p:spPr>
      </p:pic>
      <p:pic>
        <p:nvPicPr>
          <p:cNvPr id="518" name="Google Shape;518;p44"/>
          <p:cNvPicPr preferRelativeResize="0"/>
          <p:nvPr/>
        </p:nvPicPr>
        <p:blipFill>
          <a:blip r:embed="rId14">
            <a:alphaModFix/>
          </a:blip>
          <a:stretch>
            <a:fillRect/>
          </a:stretch>
        </p:blipFill>
        <p:spPr>
          <a:xfrm>
            <a:off x="10637440" y="2744652"/>
            <a:ext cx="332100" cy="332100"/>
          </a:xfrm>
          <a:prstGeom prst="rect">
            <a:avLst/>
          </a:prstGeom>
          <a:noFill/>
          <a:ln>
            <a:noFill/>
          </a:ln>
        </p:spPr>
      </p:pic>
      <p:grpSp>
        <p:nvGrpSpPr>
          <p:cNvPr id="519" name="Google Shape;519;p44"/>
          <p:cNvGrpSpPr/>
          <p:nvPr/>
        </p:nvGrpSpPr>
        <p:grpSpPr>
          <a:xfrm>
            <a:off x="10800353" y="3263214"/>
            <a:ext cx="614157" cy="414825"/>
            <a:chOff x="10800353" y="3263214"/>
            <a:chExt cx="614157" cy="414825"/>
          </a:xfrm>
        </p:grpSpPr>
        <p:pic>
          <p:nvPicPr>
            <p:cNvPr id="520" name="Google Shape;520;p44"/>
            <p:cNvPicPr preferRelativeResize="0"/>
            <p:nvPr/>
          </p:nvPicPr>
          <p:blipFill>
            <a:blip r:embed="rId15">
              <a:alphaModFix/>
            </a:blip>
            <a:stretch>
              <a:fillRect/>
            </a:stretch>
          </p:blipFill>
          <p:spPr>
            <a:xfrm>
              <a:off x="10800353" y="3263214"/>
              <a:ext cx="614157" cy="414825"/>
            </a:xfrm>
            <a:prstGeom prst="rect">
              <a:avLst/>
            </a:prstGeom>
            <a:noFill/>
            <a:ln>
              <a:noFill/>
            </a:ln>
          </p:spPr>
        </p:pic>
        <p:pic>
          <p:nvPicPr>
            <p:cNvPr id="521" name="Google Shape;521;p44"/>
            <p:cNvPicPr preferRelativeResize="0"/>
            <p:nvPr/>
          </p:nvPicPr>
          <p:blipFill>
            <a:blip r:embed="rId16">
              <a:alphaModFix/>
            </a:blip>
            <a:stretch>
              <a:fillRect/>
            </a:stretch>
          </p:blipFill>
          <p:spPr>
            <a:xfrm>
              <a:off x="10844261" y="3310013"/>
              <a:ext cx="526318" cy="237950"/>
            </a:xfrm>
            <a:prstGeom prst="rect">
              <a:avLst/>
            </a:prstGeom>
            <a:noFill/>
            <a:ln>
              <a:noFill/>
            </a:ln>
          </p:spPr>
        </p:pic>
      </p:grpSp>
      <p:cxnSp>
        <p:nvCxnSpPr>
          <p:cNvPr id="522" name="Google Shape;522;p44"/>
          <p:cNvCxnSpPr>
            <a:stCxn id="514" idx="3"/>
          </p:cNvCxnSpPr>
          <p:nvPr/>
        </p:nvCxnSpPr>
        <p:spPr>
          <a:xfrm>
            <a:off x="8847871" y="3509964"/>
            <a:ext cx="339000" cy="223200"/>
          </a:xfrm>
          <a:prstGeom prst="straightConnector1">
            <a:avLst/>
          </a:prstGeom>
          <a:noFill/>
          <a:ln cap="flat" cmpd="sng" w="9525">
            <a:solidFill>
              <a:schemeClr val="dk2"/>
            </a:solidFill>
            <a:prstDash val="solid"/>
            <a:round/>
            <a:headEnd len="med" w="med" type="none"/>
            <a:tailEnd len="med" w="med" type="triangle"/>
          </a:ln>
        </p:spPr>
      </p:cxnSp>
      <p:cxnSp>
        <p:nvCxnSpPr>
          <p:cNvPr id="523" name="Google Shape;523;p44"/>
          <p:cNvCxnSpPr>
            <a:stCxn id="515" idx="3"/>
          </p:cNvCxnSpPr>
          <p:nvPr/>
        </p:nvCxnSpPr>
        <p:spPr>
          <a:xfrm>
            <a:off x="9041339" y="2942622"/>
            <a:ext cx="497400" cy="456600"/>
          </a:xfrm>
          <a:prstGeom prst="straightConnector1">
            <a:avLst/>
          </a:prstGeom>
          <a:noFill/>
          <a:ln cap="flat" cmpd="sng" w="9525">
            <a:solidFill>
              <a:schemeClr val="dk2"/>
            </a:solidFill>
            <a:prstDash val="solid"/>
            <a:round/>
            <a:headEnd len="med" w="med" type="none"/>
            <a:tailEnd len="med" w="med" type="triangle"/>
          </a:ln>
        </p:spPr>
      </p:cxnSp>
      <p:cxnSp>
        <p:nvCxnSpPr>
          <p:cNvPr id="524" name="Google Shape;524;p44"/>
          <p:cNvCxnSpPr>
            <a:stCxn id="516" idx="2"/>
          </p:cNvCxnSpPr>
          <p:nvPr/>
        </p:nvCxnSpPr>
        <p:spPr>
          <a:xfrm>
            <a:off x="9430350" y="2773262"/>
            <a:ext cx="319500" cy="450000"/>
          </a:xfrm>
          <a:prstGeom prst="straightConnector1">
            <a:avLst/>
          </a:prstGeom>
          <a:noFill/>
          <a:ln cap="flat" cmpd="sng" w="9525">
            <a:solidFill>
              <a:schemeClr val="dk2"/>
            </a:solidFill>
            <a:prstDash val="solid"/>
            <a:round/>
            <a:headEnd len="med" w="med" type="none"/>
            <a:tailEnd len="med" w="med" type="triangle"/>
          </a:ln>
        </p:spPr>
      </p:cxnSp>
      <p:cxnSp>
        <p:nvCxnSpPr>
          <p:cNvPr id="525" name="Google Shape;525;p44"/>
          <p:cNvCxnSpPr>
            <a:stCxn id="517" idx="2"/>
            <a:endCxn id="506" idx="0"/>
          </p:cNvCxnSpPr>
          <p:nvPr/>
        </p:nvCxnSpPr>
        <p:spPr>
          <a:xfrm flipH="1">
            <a:off x="10051950" y="2774212"/>
            <a:ext cx="89100" cy="458400"/>
          </a:xfrm>
          <a:prstGeom prst="straightConnector1">
            <a:avLst/>
          </a:prstGeom>
          <a:noFill/>
          <a:ln cap="flat" cmpd="sng" w="9525">
            <a:solidFill>
              <a:schemeClr val="dk2"/>
            </a:solidFill>
            <a:prstDash val="solid"/>
            <a:round/>
            <a:headEnd len="med" w="med" type="none"/>
            <a:tailEnd len="med" w="med" type="triangle"/>
          </a:ln>
        </p:spPr>
      </p:cxnSp>
      <p:cxnSp>
        <p:nvCxnSpPr>
          <p:cNvPr id="526" name="Google Shape;526;p44"/>
          <p:cNvCxnSpPr/>
          <p:nvPr/>
        </p:nvCxnSpPr>
        <p:spPr>
          <a:xfrm flipH="1">
            <a:off x="10583600" y="3109775"/>
            <a:ext cx="211200" cy="283800"/>
          </a:xfrm>
          <a:prstGeom prst="straightConnector1">
            <a:avLst/>
          </a:prstGeom>
          <a:noFill/>
          <a:ln cap="flat" cmpd="sng" w="9525">
            <a:solidFill>
              <a:schemeClr val="dk2"/>
            </a:solidFill>
            <a:prstDash val="solid"/>
            <a:round/>
            <a:headEnd len="med" w="med" type="none"/>
            <a:tailEnd len="med" w="med" type="triangle"/>
          </a:ln>
        </p:spPr>
      </p:cxnSp>
      <p:cxnSp>
        <p:nvCxnSpPr>
          <p:cNvPr id="527" name="Google Shape;527;p44"/>
          <p:cNvCxnSpPr>
            <a:stCxn id="521" idx="1"/>
          </p:cNvCxnSpPr>
          <p:nvPr/>
        </p:nvCxnSpPr>
        <p:spPr>
          <a:xfrm flipH="1">
            <a:off x="10646561" y="3428988"/>
            <a:ext cx="197700" cy="198600"/>
          </a:xfrm>
          <a:prstGeom prst="straightConnector1">
            <a:avLst/>
          </a:prstGeom>
          <a:noFill/>
          <a:ln cap="flat" cmpd="sng" w="9525">
            <a:solidFill>
              <a:schemeClr val="dk2"/>
            </a:solidFill>
            <a:prstDash val="solid"/>
            <a:round/>
            <a:headEnd len="med" w="med" type="none"/>
            <a:tailEnd len="med" w="med" type="triangle"/>
          </a:ln>
        </p:spPr>
      </p:cxnSp>
      <p:sp>
        <p:nvSpPr>
          <p:cNvPr id="528" name="Google Shape;528;p44"/>
          <p:cNvSpPr txBox="1"/>
          <p:nvPr/>
        </p:nvSpPr>
        <p:spPr>
          <a:xfrm>
            <a:off x="8172113" y="3678050"/>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Software</a:t>
            </a:r>
            <a:endParaRPr sz="800">
              <a:solidFill>
                <a:schemeClr val="dk1"/>
              </a:solidFill>
              <a:latin typeface="Montserrat"/>
              <a:ea typeface="Montserrat"/>
              <a:cs typeface="Montserrat"/>
              <a:sym typeface="Montserrat"/>
            </a:endParaRPr>
          </a:p>
        </p:txBody>
      </p:sp>
      <p:sp>
        <p:nvSpPr>
          <p:cNvPr id="529" name="Google Shape;529;p44"/>
          <p:cNvSpPr txBox="1"/>
          <p:nvPr/>
        </p:nvSpPr>
        <p:spPr>
          <a:xfrm>
            <a:off x="8447613" y="3130550"/>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Lab</a:t>
            </a:r>
            <a:endParaRPr sz="800">
              <a:solidFill>
                <a:schemeClr val="dk1"/>
              </a:solidFill>
              <a:latin typeface="Montserrat"/>
              <a:ea typeface="Montserrat"/>
              <a:cs typeface="Montserrat"/>
              <a:sym typeface="Montserrat"/>
            </a:endParaRPr>
          </a:p>
        </p:txBody>
      </p:sp>
      <p:sp>
        <p:nvSpPr>
          <p:cNvPr id="530" name="Google Shape;530;p44"/>
          <p:cNvSpPr txBox="1"/>
          <p:nvPr/>
        </p:nvSpPr>
        <p:spPr>
          <a:xfrm>
            <a:off x="8950563" y="2262875"/>
            <a:ext cx="858000" cy="19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Montserrat"/>
                <a:ea typeface="Montserrat"/>
                <a:cs typeface="Montserrat"/>
                <a:sym typeface="Montserrat"/>
              </a:rPr>
              <a:t>Integrations</a:t>
            </a:r>
            <a:endParaRPr sz="800">
              <a:solidFill>
                <a:schemeClr val="dk1"/>
              </a:solidFill>
              <a:latin typeface="Montserrat"/>
              <a:ea typeface="Montserrat"/>
              <a:cs typeface="Montserrat"/>
              <a:sym typeface="Montserrat"/>
            </a:endParaRPr>
          </a:p>
        </p:txBody>
      </p:sp>
      <p:sp>
        <p:nvSpPr>
          <p:cNvPr id="531" name="Google Shape;531;p44"/>
          <p:cNvSpPr txBox="1"/>
          <p:nvPr/>
        </p:nvSpPr>
        <p:spPr>
          <a:xfrm>
            <a:off x="9796988" y="2216425"/>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Clinical</a:t>
            </a:r>
            <a:endParaRPr sz="800">
              <a:solidFill>
                <a:schemeClr val="dk1"/>
              </a:solidFill>
              <a:latin typeface="Montserrat"/>
              <a:ea typeface="Montserrat"/>
              <a:cs typeface="Montserrat"/>
              <a:sym typeface="Montserrat"/>
            </a:endParaRPr>
          </a:p>
        </p:txBody>
      </p:sp>
      <p:sp>
        <p:nvSpPr>
          <p:cNvPr id="532" name="Google Shape;532;p44"/>
          <p:cNvSpPr txBox="1"/>
          <p:nvPr/>
        </p:nvSpPr>
        <p:spPr>
          <a:xfrm>
            <a:off x="10402263" y="2522550"/>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Customer</a:t>
            </a:r>
            <a:endParaRPr sz="800">
              <a:solidFill>
                <a:schemeClr val="dk1"/>
              </a:solidFill>
              <a:latin typeface="Montserrat"/>
              <a:ea typeface="Montserrat"/>
              <a:cs typeface="Montserrat"/>
              <a:sym typeface="Montserrat"/>
            </a:endParaRPr>
          </a:p>
        </p:txBody>
      </p:sp>
      <p:sp>
        <p:nvSpPr>
          <p:cNvPr id="533" name="Google Shape;533;p44"/>
          <p:cNvSpPr txBox="1"/>
          <p:nvPr/>
        </p:nvSpPr>
        <p:spPr>
          <a:xfrm>
            <a:off x="10844252" y="3733175"/>
            <a:ext cx="9678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Telepathology</a:t>
            </a:r>
            <a:endParaRPr sz="800">
              <a:solidFill>
                <a:schemeClr val="dk1"/>
              </a:solidFill>
              <a:latin typeface="Montserrat"/>
              <a:ea typeface="Montserrat"/>
              <a:cs typeface="Montserrat"/>
              <a:sym typeface="Montserrat"/>
            </a:endParaRPr>
          </a:p>
        </p:txBody>
      </p:sp>
      <p:sp>
        <p:nvSpPr>
          <p:cNvPr id="534" name="Google Shape;534;p44"/>
          <p:cNvSpPr txBox="1"/>
          <p:nvPr/>
        </p:nvSpPr>
        <p:spPr>
          <a:xfrm>
            <a:off x="1438075" y="2151176"/>
            <a:ext cx="858000" cy="19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800">
                <a:solidFill>
                  <a:schemeClr val="dk1"/>
                </a:solidFill>
                <a:latin typeface="Montserrat"/>
                <a:ea typeface="Montserrat"/>
                <a:cs typeface="Montserrat"/>
                <a:sym typeface="Montserrat"/>
              </a:rPr>
              <a:t>Integrations</a:t>
            </a:r>
            <a:endParaRPr sz="800">
              <a:solidFill>
                <a:schemeClr val="dk1"/>
              </a:solidFill>
              <a:latin typeface="Montserrat"/>
              <a:ea typeface="Montserrat"/>
              <a:cs typeface="Montserrat"/>
              <a:sym typeface="Montserrat"/>
            </a:endParaRPr>
          </a:p>
        </p:txBody>
      </p:sp>
      <p:sp>
        <p:nvSpPr>
          <p:cNvPr id="535" name="Google Shape;535;p44"/>
          <p:cNvSpPr txBox="1"/>
          <p:nvPr/>
        </p:nvSpPr>
        <p:spPr>
          <a:xfrm>
            <a:off x="630663" y="2166775"/>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Lab</a:t>
            </a:r>
            <a:endParaRPr sz="800">
              <a:solidFill>
                <a:schemeClr val="dk1"/>
              </a:solidFill>
              <a:latin typeface="Montserrat"/>
              <a:ea typeface="Montserrat"/>
              <a:cs typeface="Montserrat"/>
              <a:sym typeface="Montserrat"/>
            </a:endParaRPr>
          </a:p>
        </p:txBody>
      </p:sp>
      <p:sp>
        <p:nvSpPr>
          <p:cNvPr id="536" name="Google Shape;536;p44"/>
          <p:cNvSpPr txBox="1"/>
          <p:nvPr/>
        </p:nvSpPr>
        <p:spPr>
          <a:xfrm>
            <a:off x="2081363" y="2522550"/>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Clinical</a:t>
            </a:r>
            <a:endParaRPr sz="800">
              <a:solidFill>
                <a:schemeClr val="dk1"/>
              </a:solidFill>
              <a:latin typeface="Montserrat"/>
              <a:ea typeface="Montserrat"/>
              <a:cs typeface="Montserrat"/>
              <a:sym typeface="Montserrat"/>
            </a:endParaRPr>
          </a:p>
        </p:txBody>
      </p:sp>
      <p:sp>
        <p:nvSpPr>
          <p:cNvPr id="537" name="Google Shape;537;p44"/>
          <p:cNvSpPr txBox="1"/>
          <p:nvPr/>
        </p:nvSpPr>
        <p:spPr>
          <a:xfrm>
            <a:off x="100238" y="2522550"/>
            <a:ext cx="858000" cy="19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Equipment</a:t>
            </a:r>
            <a:endParaRPr sz="800">
              <a:solidFill>
                <a:schemeClr val="dk1"/>
              </a:solidFill>
              <a:latin typeface="Montserrat"/>
              <a:ea typeface="Montserrat"/>
              <a:cs typeface="Montserrat"/>
              <a:sym typeface="Montserrat"/>
            </a:endParaRPr>
          </a:p>
        </p:txBody>
      </p:sp>
      <p:sp>
        <p:nvSpPr>
          <p:cNvPr id="538" name="Google Shape;538;p44"/>
          <p:cNvSpPr txBox="1"/>
          <p:nvPr/>
        </p:nvSpPr>
        <p:spPr>
          <a:xfrm>
            <a:off x="8170013" y="5801750"/>
            <a:ext cx="3764100" cy="458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Montserrat"/>
              <a:buChar char="➔"/>
            </a:pPr>
            <a:r>
              <a:rPr i="1" lang="en-US" sz="1200">
                <a:solidFill>
                  <a:schemeClr val="dk1"/>
                </a:solidFill>
                <a:latin typeface="Montserrat"/>
                <a:ea typeface="Montserrat"/>
                <a:cs typeface="Montserrat"/>
                <a:sym typeface="Montserrat"/>
              </a:rPr>
              <a:t>Aligning the Validation to the QMS </a:t>
            </a:r>
            <a:r>
              <a:rPr i="1" lang="en-US" sz="900">
                <a:solidFill>
                  <a:srgbClr val="9E9E9E"/>
                </a:solidFill>
                <a:latin typeface="Montserrat"/>
                <a:ea typeface="Montserrat"/>
                <a:cs typeface="Montserrat"/>
                <a:sym typeface="Montserrat"/>
              </a:rPr>
              <a:t>(CAPAs, Audits, ECOs, DCOs)</a:t>
            </a:r>
            <a:endParaRPr i="1" sz="1200">
              <a:solidFill>
                <a:schemeClr val="dk1"/>
              </a:solidFill>
              <a:latin typeface="Montserrat"/>
              <a:ea typeface="Montserrat"/>
              <a:cs typeface="Montserrat"/>
              <a:sym typeface="Montserrat"/>
            </a:endParaRPr>
          </a:p>
        </p:txBody>
      </p:sp>
      <p:sp>
        <p:nvSpPr>
          <p:cNvPr id="539" name="Google Shape;539;p44"/>
          <p:cNvSpPr txBox="1"/>
          <p:nvPr/>
        </p:nvSpPr>
        <p:spPr>
          <a:xfrm>
            <a:off x="4213225" y="5790650"/>
            <a:ext cx="3764100" cy="573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Montserrat"/>
              <a:buChar char="➔"/>
            </a:pPr>
            <a:r>
              <a:rPr i="1" lang="en-US" sz="1200">
                <a:solidFill>
                  <a:schemeClr val="dk1"/>
                </a:solidFill>
                <a:latin typeface="Montserrat"/>
                <a:ea typeface="Montserrat"/>
                <a:cs typeface="Montserrat"/>
                <a:sym typeface="Montserrat"/>
              </a:rPr>
              <a:t>Aligns to FDA “least burdensome” approach, aka “risk based”</a:t>
            </a:r>
            <a:endParaRPr i="1" sz="1200">
              <a:solidFill>
                <a:schemeClr val="dk1"/>
              </a:solidFill>
              <a:latin typeface="Montserrat"/>
              <a:ea typeface="Montserrat"/>
              <a:cs typeface="Montserrat"/>
              <a:sym typeface="Montserrat"/>
            </a:endParaRPr>
          </a:p>
        </p:txBody>
      </p:sp>
      <p:sp>
        <p:nvSpPr>
          <p:cNvPr id="540" name="Google Shape;540;p44"/>
          <p:cNvSpPr txBox="1"/>
          <p:nvPr/>
        </p:nvSpPr>
        <p:spPr>
          <a:xfrm>
            <a:off x="212000" y="5790650"/>
            <a:ext cx="3948300" cy="336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Montserrat"/>
              <a:buChar char="➔"/>
            </a:pPr>
            <a:r>
              <a:rPr i="1" lang="en-US" sz="1200">
                <a:solidFill>
                  <a:schemeClr val="dk1"/>
                </a:solidFill>
                <a:latin typeface="Montserrat"/>
                <a:ea typeface="Montserrat"/>
                <a:cs typeface="Montserrat"/>
                <a:sym typeface="Montserrat"/>
              </a:rPr>
              <a:t>Aligns intended use to the patient testing</a:t>
            </a:r>
            <a:endParaRPr i="1" sz="12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45"/>
          <p:cNvSpPr/>
          <p:nvPr/>
        </p:nvSpPr>
        <p:spPr>
          <a:xfrm>
            <a:off x="5284700" y="4239663"/>
            <a:ext cx="6010500" cy="1162200"/>
          </a:xfrm>
          <a:prstGeom prst="rect">
            <a:avLst/>
          </a:prstGeom>
          <a:solidFill>
            <a:srgbClr val="FF95FF">
              <a:alpha val="2215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47" name="Google Shape;547;p45"/>
          <p:cNvSpPr/>
          <p:nvPr/>
        </p:nvSpPr>
        <p:spPr>
          <a:xfrm>
            <a:off x="5284700" y="2251300"/>
            <a:ext cx="6010500" cy="1162200"/>
          </a:xfrm>
          <a:prstGeom prst="rect">
            <a:avLst/>
          </a:prstGeom>
          <a:solidFill>
            <a:srgbClr val="FF95FF">
              <a:alpha val="2215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48" name="Google Shape;548;p45"/>
          <p:cNvSpPr/>
          <p:nvPr/>
        </p:nvSpPr>
        <p:spPr>
          <a:xfrm>
            <a:off x="5284700" y="389975"/>
            <a:ext cx="6010500" cy="1162200"/>
          </a:xfrm>
          <a:prstGeom prst="rect">
            <a:avLst/>
          </a:prstGeom>
          <a:solidFill>
            <a:srgbClr val="FF95FF">
              <a:alpha val="2215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49" name="Google Shape;549;p45"/>
          <p:cNvSpPr txBox="1"/>
          <p:nvPr>
            <p:ph type="title"/>
          </p:nvPr>
        </p:nvSpPr>
        <p:spPr>
          <a:xfrm>
            <a:off x="593725" y="547688"/>
            <a:ext cx="4495200" cy="1048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QA Deliverables</a:t>
            </a:r>
            <a:endParaRPr/>
          </a:p>
          <a:p>
            <a:pPr indent="0" lvl="0" marL="0" rtl="0" algn="l">
              <a:lnSpc>
                <a:spcPct val="115000"/>
              </a:lnSpc>
              <a:spcBef>
                <a:spcPts val="1200"/>
              </a:spcBef>
              <a:spcAft>
                <a:spcPts val="1200"/>
              </a:spcAft>
              <a:buNone/>
            </a:pPr>
            <a:r>
              <a:rPr b="0" lang="en-US" sz="1350">
                <a:solidFill>
                  <a:srgbClr val="3C3542"/>
                </a:solidFill>
                <a:latin typeface="Arial"/>
                <a:ea typeface="Arial"/>
                <a:cs typeface="Arial"/>
                <a:sym typeface="Arial"/>
              </a:rPr>
              <a:t>Delivering Predictable, Efficient, and Compliant Validation</a:t>
            </a:r>
            <a:endParaRPr/>
          </a:p>
        </p:txBody>
      </p:sp>
      <p:sp>
        <p:nvSpPr>
          <p:cNvPr id="550" name="Google Shape;550;p45"/>
          <p:cNvSpPr txBox="1"/>
          <p:nvPr>
            <p:ph idx="2" type="body"/>
          </p:nvPr>
        </p:nvSpPr>
        <p:spPr>
          <a:xfrm>
            <a:off x="6370864" y="2698883"/>
            <a:ext cx="4924200" cy="8286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sz="2000"/>
              <a:t>Templates</a:t>
            </a:r>
            <a:endParaRPr sz="2000"/>
          </a:p>
        </p:txBody>
      </p:sp>
      <p:sp>
        <p:nvSpPr>
          <p:cNvPr id="551" name="Google Shape;551;p45"/>
          <p:cNvSpPr txBox="1"/>
          <p:nvPr>
            <p:ph idx="3" type="body"/>
          </p:nvPr>
        </p:nvSpPr>
        <p:spPr>
          <a:xfrm>
            <a:off x="6370864" y="767504"/>
            <a:ext cx="4924200" cy="82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2000"/>
              <a:t>Risk-Based Model	</a:t>
            </a:r>
            <a:endParaRPr sz="2000"/>
          </a:p>
          <a:p>
            <a:pPr indent="0" lvl="0" marL="0" rtl="0" algn="l">
              <a:spcBef>
                <a:spcPts val="600"/>
              </a:spcBef>
              <a:spcAft>
                <a:spcPts val="600"/>
              </a:spcAft>
              <a:buNone/>
            </a:pPr>
            <a:r>
              <a:t/>
            </a:r>
            <a:endParaRPr/>
          </a:p>
        </p:txBody>
      </p:sp>
      <p:sp>
        <p:nvSpPr>
          <p:cNvPr id="552" name="Google Shape;552;p45"/>
          <p:cNvSpPr txBox="1"/>
          <p:nvPr>
            <p:ph idx="4" type="body"/>
          </p:nvPr>
        </p:nvSpPr>
        <p:spPr>
          <a:xfrm>
            <a:off x="6370864" y="4630267"/>
            <a:ext cx="4924200" cy="828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2000"/>
              <a:t>Orcanos + CAPA Integration</a:t>
            </a:r>
            <a:endParaRPr sz="2000"/>
          </a:p>
          <a:p>
            <a:pPr indent="0" lvl="0" marL="0" rtl="0" algn="l">
              <a:spcBef>
                <a:spcPts val="600"/>
              </a:spcBef>
              <a:spcAft>
                <a:spcPts val="600"/>
              </a:spcAft>
              <a:buNone/>
            </a:pPr>
            <a:r>
              <a:t/>
            </a:r>
            <a:endParaRPr/>
          </a:p>
        </p:txBody>
      </p:sp>
      <p:sp>
        <p:nvSpPr>
          <p:cNvPr id="553" name="Google Shape;553;p45"/>
          <p:cNvSpPr txBox="1"/>
          <p:nvPr>
            <p:ph idx="5" type="body"/>
          </p:nvPr>
        </p:nvSpPr>
        <p:spPr>
          <a:xfrm>
            <a:off x="6370864" y="3755618"/>
            <a:ext cx="4924200" cy="198900"/>
          </a:xfrm>
          <a:prstGeom prst="rect">
            <a:avLst/>
          </a:prstGeom>
        </p:spPr>
        <p:txBody>
          <a:bodyPr anchorCtr="0" anchor="ctr" bIns="0" lIns="0" spcFirstLastPara="1" rIns="0" wrap="square" tIns="0">
            <a:normAutofit/>
          </a:bodyPr>
          <a:lstStyle/>
          <a:p>
            <a:pPr indent="0" lvl="0" marL="0" rtl="0" algn="r">
              <a:spcBef>
                <a:spcPts val="0"/>
              </a:spcBef>
              <a:spcAft>
                <a:spcPts val="600"/>
              </a:spcAft>
              <a:buNone/>
            </a:pPr>
            <a:r>
              <a:rPr lang="en-US"/>
              <a:t>Standardized</a:t>
            </a:r>
            <a:r>
              <a:rPr lang="en-US"/>
              <a:t> documents for a 30-day cycle</a:t>
            </a:r>
            <a:endParaRPr/>
          </a:p>
        </p:txBody>
      </p:sp>
      <p:sp>
        <p:nvSpPr>
          <p:cNvPr id="554" name="Google Shape;554;p45"/>
          <p:cNvSpPr txBox="1"/>
          <p:nvPr>
            <p:ph idx="6" type="body"/>
          </p:nvPr>
        </p:nvSpPr>
        <p:spPr>
          <a:xfrm>
            <a:off x="6370864" y="1824239"/>
            <a:ext cx="4924200" cy="198900"/>
          </a:xfrm>
          <a:prstGeom prst="rect">
            <a:avLst/>
          </a:prstGeom>
        </p:spPr>
        <p:txBody>
          <a:bodyPr anchorCtr="0" anchor="ctr" bIns="0" lIns="0" spcFirstLastPara="1" rIns="0" wrap="square" tIns="0">
            <a:normAutofit/>
          </a:bodyPr>
          <a:lstStyle/>
          <a:p>
            <a:pPr indent="0" lvl="0" marL="0" rtl="0" algn="r">
              <a:spcBef>
                <a:spcPts val="0"/>
              </a:spcBef>
              <a:spcAft>
                <a:spcPts val="600"/>
              </a:spcAft>
              <a:buNone/>
            </a:pPr>
            <a:r>
              <a:rPr lang="en-US"/>
              <a:t>A clear matrix to guide all testing decision</a:t>
            </a:r>
            <a:endParaRPr/>
          </a:p>
        </p:txBody>
      </p:sp>
      <p:sp>
        <p:nvSpPr>
          <p:cNvPr id="555" name="Google Shape;555;p45"/>
          <p:cNvSpPr txBox="1"/>
          <p:nvPr>
            <p:ph idx="7" type="body"/>
          </p:nvPr>
        </p:nvSpPr>
        <p:spPr>
          <a:xfrm>
            <a:off x="6370864" y="5687002"/>
            <a:ext cx="4924200" cy="198900"/>
          </a:xfrm>
          <a:prstGeom prst="rect">
            <a:avLst/>
          </a:prstGeom>
        </p:spPr>
        <p:txBody>
          <a:bodyPr anchorCtr="0" anchor="ctr" bIns="0" lIns="0" spcFirstLastPara="1" rIns="0" wrap="square" tIns="0">
            <a:normAutofit/>
          </a:bodyPr>
          <a:lstStyle/>
          <a:p>
            <a:pPr indent="0" lvl="0" marL="0" rtl="0" algn="r">
              <a:spcBef>
                <a:spcPts val="0"/>
              </a:spcBef>
              <a:spcAft>
                <a:spcPts val="600"/>
              </a:spcAft>
              <a:buNone/>
            </a:pPr>
            <a:r>
              <a:rPr lang="en-US"/>
              <a:t>A single </a:t>
            </a:r>
            <a:r>
              <a:rPr lang="en-US"/>
              <a:t>source</a:t>
            </a:r>
            <a:r>
              <a:rPr lang="en-US"/>
              <a:t> of truth for all validation records.</a:t>
            </a:r>
            <a:endParaRPr/>
          </a:p>
        </p:txBody>
      </p:sp>
      <p:pic>
        <p:nvPicPr>
          <p:cNvPr id="556" name="Google Shape;556;p45"/>
          <p:cNvPicPr preferRelativeResize="0"/>
          <p:nvPr/>
        </p:nvPicPr>
        <p:blipFill>
          <a:blip r:embed="rId3">
            <a:alphaModFix/>
          </a:blip>
          <a:stretch>
            <a:fillRect/>
          </a:stretch>
        </p:blipFill>
        <p:spPr>
          <a:xfrm>
            <a:off x="10412425" y="691325"/>
            <a:ext cx="476250" cy="457200"/>
          </a:xfrm>
          <a:prstGeom prst="rect">
            <a:avLst/>
          </a:prstGeom>
          <a:noFill/>
          <a:ln>
            <a:noFill/>
          </a:ln>
        </p:spPr>
      </p:pic>
      <p:pic>
        <p:nvPicPr>
          <p:cNvPr id="557" name="Google Shape;557;p45"/>
          <p:cNvPicPr preferRelativeResize="0"/>
          <p:nvPr/>
        </p:nvPicPr>
        <p:blipFill>
          <a:blip r:embed="rId4">
            <a:alphaModFix/>
          </a:blip>
          <a:stretch>
            <a:fillRect/>
          </a:stretch>
        </p:blipFill>
        <p:spPr>
          <a:xfrm>
            <a:off x="10431475" y="2672738"/>
            <a:ext cx="438150" cy="381000"/>
          </a:xfrm>
          <a:prstGeom prst="rect">
            <a:avLst/>
          </a:prstGeom>
          <a:noFill/>
          <a:ln>
            <a:noFill/>
          </a:ln>
        </p:spPr>
      </p:pic>
      <p:pic>
        <p:nvPicPr>
          <p:cNvPr id="558" name="Google Shape;558;p45"/>
          <p:cNvPicPr preferRelativeResize="0"/>
          <p:nvPr/>
        </p:nvPicPr>
        <p:blipFill>
          <a:blip r:embed="rId5">
            <a:alphaModFix/>
          </a:blip>
          <a:stretch>
            <a:fillRect/>
          </a:stretch>
        </p:blipFill>
        <p:spPr>
          <a:xfrm>
            <a:off x="10426700" y="4620738"/>
            <a:ext cx="447675" cy="400050"/>
          </a:xfrm>
          <a:prstGeom prst="rect">
            <a:avLst/>
          </a:prstGeom>
          <a:noFill/>
          <a:ln>
            <a:noFill/>
          </a:ln>
        </p:spPr>
      </p:pic>
      <p:pic>
        <p:nvPicPr>
          <p:cNvPr id="559" name="Google Shape;559;p45"/>
          <p:cNvPicPr preferRelativeResize="0"/>
          <p:nvPr/>
        </p:nvPicPr>
        <p:blipFill>
          <a:blip r:embed="rId6">
            <a:alphaModFix/>
          </a:blip>
          <a:stretch>
            <a:fillRect/>
          </a:stretch>
        </p:blipFill>
        <p:spPr>
          <a:xfrm>
            <a:off x="397962" y="4151324"/>
            <a:ext cx="4690975" cy="1484507"/>
          </a:xfrm>
          <a:prstGeom prst="rect">
            <a:avLst/>
          </a:prstGeom>
          <a:noFill/>
          <a:ln>
            <a:noFill/>
          </a:ln>
        </p:spPr>
      </p:pic>
      <p:pic>
        <p:nvPicPr>
          <p:cNvPr id="560" name="Google Shape;560;p45"/>
          <p:cNvPicPr preferRelativeResize="0"/>
          <p:nvPr/>
        </p:nvPicPr>
        <p:blipFill>
          <a:blip r:embed="rId7">
            <a:alphaModFix amt="70000"/>
          </a:blip>
          <a:stretch>
            <a:fillRect/>
          </a:stretch>
        </p:blipFill>
        <p:spPr>
          <a:xfrm>
            <a:off x="1539863" y="1596200"/>
            <a:ext cx="2262100" cy="2129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46"/>
          <p:cNvPicPr preferRelativeResize="0"/>
          <p:nvPr/>
        </p:nvPicPr>
        <p:blipFill>
          <a:blip r:embed="rId4">
            <a:alphaModFix/>
          </a:blip>
          <a:stretch>
            <a:fillRect/>
          </a:stretch>
        </p:blipFill>
        <p:spPr>
          <a:xfrm>
            <a:off x="6725988" y="1277870"/>
            <a:ext cx="4657725" cy="2286000"/>
          </a:xfrm>
          <a:prstGeom prst="rect">
            <a:avLst/>
          </a:prstGeom>
          <a:noFill/>
          <a:ln>
            <a:noFill/>
          </a:ln>
        </p:spPr>
      </p:pic>
      <p:sp>
        <p:nvSpPr>
          <p:cNvPr id="567" name="Google Shape;567;p46"/>
          <p:cNvSpPr txBox="1"/>
          <p:nvPr>
            <p:ph type="title"/>
          </p:nvPr>
        </p:nvSpPr>
        <p:spPr>
          <a:xfrm>
            <a:off x="594450" y="514213"/>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Regulatory Deliverables</a:t>
            </a:r>
            <a:endParaRPr/>
          </a:p>
        </p:txBody>
      </p:sp>
      <p:sp>
        <p:nvSpPr>
          <p:cNvPr id="568" name="Google Shape;568;p46"/>
          <p:cNvSpPr txBox="1"/>
          <p:nvPr>
            <p:ph idx="1" type="body"/>
          </p:nvPr>
        </p:nvSpPr>
        <p:spPr>
          <a:xfrm>
            <a:off x="371350" y="1697200"/>
            <a:ext cx="5550000" cy="2907000"/>
          </a:xfrm>
          <a:prstGeom prst="rect">
            <a:avLst/>
          </a:prstGeom>
        </p:spPr>
        <p:txBody>
          <a:bodyPr anchorCtr="0" anchor="t" bIns="0" lIns="0" spcFirstLastPara="1" rIns="0" wrap="square" tIns="0">
            <a:normAutofit/>
          </a:bodyPr>
          <a:lstStyle/>
          <a:p>
            <a:pPr indent="0" lvl="0" marL="0" rtl="0" algn="l">
              <a:lnSpc>
                <a:spcPct val="150000"/>
              </a:lnSpc>
              <a:spcBef>
                <a:spcPts val="0"/>
              </a:spcBef>
              <a:spcAft>
                <a:spcPts val="0"/>
              </a:spcAft>
              <a:buNone/>
            </a:pPr>
            <a:r>
              <a:rPr i="1" lang="en-US" sz="1400"/>
              <a:t>A regulatory statement is a </a:t>
            </a:r>
            <a:r>
              <a:rPr i="1" lang="en-US" sz="1400" u="sng"/>
              <a:t>brief declaration</a:t>
            </a:r>
            <a:r>
              <a:rPr i="1" lang="en-US" sz="1400"/>
              <a:t> describing how the company’s digital pathology &amp; telepathology software complies with applicable medical device, healthcare, &amp; data‑protection laws in the regions </a:t>
            </a:r>
            <a:r>
              <a:rPr i="1" lang="en-US" sz="1400" u="sng"/>
              <a:t>where it operates</a:t>
            </a:r>
            <a:r>
              <a:rPr i="1" lang="en-US" sz="1400"/>
              <a:t>, including </a:t>
            </a:r>
            <a:r>
              <a:rPr i="1" lang="en-US" sz="1400" u="sng"/>
              <a:t>any limitations on use</a:t>
            </a:r>
            <a:r>
              <a:rPr i="1" lang="en-US" sz="1400"/>
              <a:t> &amp; </a:t>
            </a:r>
            <a:r>
              <a:rPr i="1" lang="en-US" sz="1400" u="sng"/>
              <a:t>regulatory clearances </a:t>
            </a:r>
            <a:r>
              <a:rPr i="1" lang="en-US" sz="1400"/>
              <a:t>or</a:t>
            </a:r>
            <a:r>
              <a:rPr i="1" lang="en-US" sz="1400" u="sng"/>
              <a:t> registrations </a:t>
            </a:r>
            <a:r>
              <a:rPr i="1" lang="en-US" sz="1400"/>
              <a:t>obtained, based on the </a:t>
            </a:r>
            <a:r>
              <a:rPr i="1" lang="en-US" sz="1400" u="sng"/>
              <a:t>validated intended use</a:t>
            </a:r>
            <a:r>
              <a:rPr i="1" lang="en-US" sz="1400"/>
              <a:t>.</a:t>
            </a:r>
            <a:endParaRPr i="1" sz="1400"/>
          </a:p>
          <a:p>
            <a:pPr indent="0" lvl="0" marL="0" rtl="0" algn="l">
              <a:lnSpc>
                <a:spcPct val="150000"/>
              </a:lnSpc>
              <a:spcBef>
                <a:spcPts val="600"/>
              </a:spcBef>
              <a:spcAft>
                <a:spcPts val="0"/>
              </a:spcAft>
              <a:buNone/>
            </a:pPr>
            <a:r>
              <a:rPr i="1" lang="en-US" sz="1400"/>
              <a:t> </a:t>
            </a:r>
            <a:endParaRPr i="1" sz="1400"/>
          </a:p>
          <a:p>
            <a:pPr indent="0" lvl="0" marL="0" rtl="0" algn="ctr">
              <a:lnSpc>
                <a:spcPct val="150000"/>
              </a:lnSpc>
              <a:spcBef>
                <a:spcPts val="600"/>
              </a:spcBef>
              <a:spcAft>
                <a:spcPts val="600"/>
              </a:spcAft>
              <a:buNone/>
            </a:pPr>
            <a:r>
              <a:rPr b="1" i="1" lang="en-US" sz="1400"/>
              <a:t>Intended use  = Regulatory Statement = Validation</a:t>
            </a:r>
            <a:endParaRPr b="1" i="1" sz="1400"/>
          </a:p>
        </p:txBody>
      </p:sp>
      <p:sp>
        <p:nvSpPr>
          <p:cNvPr id="569" name="Google Shape;569;p46"/>
          <p:cNvSpPr txBox="1"/>
          <p:nvPr>
            <p:ph idx="3" type="body"/>
          </p:nvPr>
        </p:nvSpPr>
        <p:spPr>
          <a:xfrm>
            <a:off x="593700" y="1091101"/>
            <a:ext cx="53277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solidFill>
                  <a:schemeClr val="dk1"/>
                </a:solidFill>
              </a:rPr>
              <a:t>What is a </a:t>
            </a:r>
            <a:r>
              <a:rPr lang="en-US">
                <a:solidFill>
                  <a:schemeClr val="dk1"/>
                </a:solidFill>
              </a:rPr>
              <a:t>Regulatory Statement?</a:t>
            </a:r>
            <a:endParaRPr>
              <a:solidFill>
                <a:schemeClr val="dk1"/>
              </a:solidFill>
            </a:endParaRPr>
          </a:p>
        </p:txBody>
      </p:sp>
      <p:sp>
        <p:nvSpPr>
          <p:cNvPr id="570" name="Google Shape;570;p46"/>
          <p:cNvSpPr/>
          <p:nvPr/>
        </p:nvSpPr>
        <p:spPr>
          <a:xfrm>
            <a:off x="5980700" y="1102725"/>
            <a:ext cx="42600" cy="5215800"/>
          </a:xfrm>
          <a:prstGeom prst="rect">
            <a:avLst/>
          </a:prstGeom>
          <a:solidFill>
            <a:srgbClr val="9E9E9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pSp>
        <p:nvGrpSpPr>
          <p:cNvPr id="571" name="Google Shape;571;p46"/>
          <p:cNvGrpSpPr/>
          <p:nvPr/>
        </p:nvGrpSpPr>
        <p:grpSpPr>
          <a:xfrm>
            <a:off x="8529083" y="1872863"/>
            <a:ext cx="1051565" cy="710268"/>
            <a:chOff x="8129361" y="2965095"/>
            <a:chExt cx="1827220" cy="1234175"/>
          </a:xfrm>
        </p:grpSpPr>
        <p:pic>
          <p:nvPicPr>
            <p:cNvPr id="572" name="Google Shape;572;p46"/>
            <p:cNvPicPr preferRelativeResize="0"/>
            <p:nvPr/>
          </p:nvPicPr>
          <p:blipFill>
            <a:blip r:embed="rId5">
              <a:alphaModFix/>
            </a:blip>
            <a:stretch>
              <a:fillRect/>
            </a:stretch>
          </p:blipFill>
          <p:spPr>
            <a:xfrm>
              <a:off x="8129361" y="2965095"/>
              <a:ext cx="1827220" cy="1234175"/>
            </a:xfrm>
            <a:prstGeom prst="rect">
              <a:avLst/>
            </a:prstGeom>
            <a:noFill/>
            <a:ln>
              <a:noFill/>
            </a:ln>
          </p:spPr>
        </p:pic>
        <p:pic>
          <p:nvPicPr>
            <p:cNvPr id="573" name="Google Shape;573;p46"/>
            <p:cNvPicPr preferRelativeResize="0"/>
            <p:nvPr/>
          </p:nvPicPr>
          <p:blipFill>
            <a:blip r:embed="rId6">
              <a:alphaModFix/>
            </a:blip>
            <a:stretch>
              <a:fillRect/>
            </a:stretch>
          </p:blipFill>
          <p:spPr>
            <a:xfrm>
              <a:off x="8705765" y="3002175"/>
              <a:ext cx="800278" cy="853625"/>
            </a:xfrm>
            <a:prstGeom prst="rect">
              <a:avLst/>
            </a:prstGeom>
            <a:noFill/>
            <a:ln>
              <a:noFill/>
            </a:ln>
          </p:spPr>
        </p:pic>
      </p:grpSp>
      <p:pic>
        <p:nvPicPr>
          <p:cNvPr id="574" name="Google Shape;574;p46"/>
          <p:cNvPicPr preferRelativeResize="0"/>
          <p:nvPr/>
        </p:nvPicPr>
        <p:blipFill>
          <a:blip r:embed="rId7">
            <a:alphaModFix/>
          </a:blip>
          <a:stretch>
            <a:fillRect/>
          </a:stretch>
        </p:blipFill>
        <p:spPr>
          <a:xfrm>
            <a:off x="8668396" y="4854562"/>
            <a:ext cx="636179" cy="474687"/>
          </a:xfrm>
          <a:prstGeom prst="rect">
            <a:avLst/>
          </a:prstGeom>
          <a:noFill/>
          <a:ln>
            <a:noFill/>
          </a:ln>
        </p:spPr>
      </p:pic>
      <p:pic>
        <p:nvPicPr>
          <p:cNvPr id="575" name="Google Shape;575;p46"/>
          <p:cNvPicPr preferRelativeResize="0"/>
          <p:nvPr/>
        </p:nvPicPr>
        <p:blipFill>
          <a:blip r:embed="rId8">
            <a:alphaModFix/>
          </a:blip>
          <a:stretch>
            <a:fillRect/>
          </a:stretch>
        </p:blipFill>
        <p:spPr>
          <a:xfrm>
            <a:off x="9425150" y="3503082"/>
            <a:ext cx="691825" cy="415093"/>
          </a:xfrm>
          <a:prstGeom prst="rect">
            <a:avLst/>
          </a:prstGeom>
          <a:noFill/>
          <a:ln>
            <a:noFill/>
          </a:ln>
        </p:spPr>
      </p:pic>
      <p:pic>
        <p:nvPicPr>
          <p:cNvPr id="576" name="Google Shape;576;p46"/>
          <p:cNvPicPr preferRelativeResize="0"/>
          <p:nvPr/>
        </p:nvPicPr>
        <p:blipFill>
          <a:blip r:embed="rId9">
            <a:alphaModFix/>
          </a:blip>
          <a:stretch>
            <a:fillRect/>
          </a:stretch>
        </p:blipFill>
        <p:spPr>
          <a:xfrm>
            <a:off x="8011061" y="3503077"/>
            <a:ext cx="786216" cy="415100"/>
          </a:xfrm>
          <a:prstGeom prst="rect">
            <a:avLst/>
          </a:prstGeom>
          <a:noFill/>
          <a:ln>
            <a:noFill/>
          </a:ln>
        </p:spPr>
      </p:pic>
      <p:pic>
        <p:nvPicPr>
          <p:cNvPr id="577" name="Google Shape;577;p46"/>
          <p:cNvPicPr preferRelativeResize="0"/>
          <p:nvPr/>
        </p:nvPicPr>
        <p:blipFill>
          <a:blip r:embed="rId10">
            <a:alphaModFix/>
          </a:blip>
          <a:stretch>
            <a:fillRect/>
          </a:stretch>
        </p:blipFill>
        <p:spPr>
          <a:xfrm>
            <a:off x="6596948" y="3514063"/>
            <a:ext cx="786225" cy="393112"/>
          </a:xfrm>
          <a:prstGeom prst="rect">
            <a:avLst/>
          </a:prstGeom>
          <a:noFill/>
          <a:ln>
            <a:noFill/>
          </a:ln>
        </p:spPr>
      </p:pic>
      <p:pic>
        <p:nvPicPr>
          <p:cNvPr id="578" name="Google Shape;578;p46"/>
          <p:cNvPicPr preferRelativeResize="0"/>
          <p:nvPr/>
        </p:nvPicPr>
        <p:blipFill>
          <a:blip r:embed="rId11">
            <a:alphaModFix/>
          </a:blip>
          <a:stretch>
            <a:fillRect/>
          </a:stretch>
        </p:blipFill>
        <p:spPr>
          <a:xfrm>
            <a:off x="10785026" y="3430319"/>
            <a:ext cx="573250" cy="560618"/>
          </a:xfrm>
          <a:prstGeom prst="rect">
            <a:avLst/>
          </a:prstGeom>
          <a:noFill/>
          <a:ln>
            <a:noFill/>
          </a:ln>
        </p:spPr>
      </p:pic>
      <p:cxnSp>
        <p:nvCxnSpPr>
          <p:cNvPr id="579" name="Google Shape;579;p46"/>
          <p:cNvCxnSpPr>
            <a:stCxn id="572" idx="2"/>
            <a:endCxn id="577" idx="0"/>
          </p:cNvCxnSpPr>
          <p:nvPr/>
        </p:nvCxnSpPr>
        <p:spPr>
          <a:xfrm rot="5400000">
            <a:off x="7556966" y="2016131"/>
            <a:ext cx="930900" cy="2064900"/>
          </a:xfrm>
          <a:prstGeom prst="bentConnector3">
            <a:avLst>
              <a:gd fmla="val 50002" name="adj1"/>
            </a:avLst>
          </a:prstGeom>
          <a:noFill/>
          <a:ln cap="flat" cmpd="sng" w="9525">
            <a:solidFill>
              <a:schemeClr val="dk2"/>
            </a:solidFill>
            <a:prstDash val="solid"/>
            <a:round/>
            <a:headEnd len="med" w="med" type="none"/>
            <a:tailEnd len="med" w="med" type="triangle"/>
          </a:ln>
        </p:spPr>
      </p:cxnSp>
      <p:cxnSp>
        <p:nvCxnSpPr>
          <p:cNvPr id="580" name="Google Shape;580;p46"/>
          <p:cNvCxnSpPr>
            <a:stCxn id="572" idx="2"/>
            <a:endCxn id="576" idx="0"/>
          </p:cNvCxnSpPr>
          <p:nvPr/>
        </p:nvCxnSpPr>
        <p:spPr>
          <a:xfrm rot="5400000">
            <a:off x="8269616" y="2717681"/>
            <a:ext cx="919800" cy="650700"/>
          </a:xfrm>
          <a:prstGeom prst="bentConnector3">
            <a:avLst>
              <a:gd fmla="val 50008" name="adj1"/>
            </a:avLst>
          </a:prstGeom>
          <a:noFill/>
          <a:ln cap="flat" cmpd="sng" w="9525">
            <a:solidFill>
              <a:schemeClr val="dk2"/>
            </a:solidFill>
            <a:prstDash val="solid"/>
            <a:round/>
            <a:headEnd len="med" w="med" type="none"/>
            <a:tailEnd len="med" w="med" type="triangle"/>
          </a:ln>
        </p:spPr>
      </p:cxnSp>
      <p:cxnSp>
        <p:nvCxnSpPr>
          <p:cNvPr id="581" name="Google Shape;581;p46"/>
          <p:cNvCxnSpPr>
            <a:stCxn id="572" idx="2"/>
            <a:endCxn id="575" idx="0"/>
          </p:cNvCxnSpPr>
          <p:nvPr/>
        </p:nvCxnSpPr>
        <p:spPr>
          <a:xfrm flipH="1" rot="-5400000">
            <a:off x="8952866" y="2685131"/>
            <a:ext cx="920100" cy="716100"/>
          </a:xfrm>
          <a:prstGeom prst="bentConnector3">
            <a:avLst>
              <a:gd fmla="val 49992" name="adj1"/>
            </a:avLst>
          </a:prstGeom>
          <a:noFill/>
          <a:ln cap="flat" cmpd="sng" w="9525">
            <a:solidFill>
              <a:schemeClr val="dk2"/>
            </a:solidFill>
            <a:prstDash val="solid"/>
            <a:round/>
            <a:headEnd len="med" w="med" type="none"/>
            <a:tailEnd len="med" w="med" type="triangle"/>
          </a:ln>
        </p:spPr>
      </p:cxnSp>
      <p:cxnSp>
        <p:nvCxnSpPr>
          <p:cNvPr id="582" name="Google Shape;582;p46"/>
          <p:cNvCxnSpPr>
            <a:stCxn id="572" idx="2"/>
            <a:endCxn id="578" idx="0"/>
          </p:cNvCxnSpPr>
          <p:nvPr/>
        </p:nvCxnSpPr>
        <p:spPr>
          <a:xfrm flipH="1" rot="-5400000">
            <a:off x="9639716" y="1998281"/>
            <a:ext cx="847200" cy="2016900"/>
          </a:xfrm>
          <a:prstGeom prst="bentConnector3">
            <a:avLst>
              <a:gd fmla="val 53242" name="adj1"/>
            </a:avLst>
          </a:prstGeom>
          <a:noFill/>
          <a:ln cap="flat" cmpd="sng" w="9525">
            <a:solidFill>
              <a:schemeClr val="dk2"/>
            </a:solidFill>
            <a:prstDash val="solid"/>
            <a:round/>
            <a:headEnd len="med" w="med" type="none"/>
            <a:tailEnd len="med" w="med" type="triangle"/>
          </a:ln>
        </p:spPr>
      </p:cxnSp>
      <p:cxnSp>
        <p:nvCxnSpPr>
          <p:cNvPr id="583" name="Google Shape;583;p46"/>
          <p:cNvCxnSpPr>
            <a:stCxn id="577" idx="2"/>
            <a:endCxn id="574" idx="0"/>
          </p:cNvCxnSpPr>
          <p:nvPr/>
        </p:nvCxnSpPr>
        <p:spPr>
          <a:xfrm flipH="1" rot="-5400000">
            <a:off x="7514610" y="3382625"/>
            <a:ext cx="947400" cy="1996500"/>
          </a:xfrm>
          <a:prstGeom prst="bentConnector3">
            <a:avLst>
              <a:gd fmla="val 49999" name="adj1"/>
            </a:avLst>
          </a:prstGeom>
          <a:noFill/>
          <a:ln cap="flat" cmpd="sng" w="9525">
            <a:solidFill>
              <a:srgbClr val="AAAAAA"/>
            </a:solidFill>
            <a:prstDash val="dash"/>
            <a:round/>
            <a:headEnd len="med" w="med" type="none"/>
            <a:tailEnd len="med" w="med" type="triangle"/>
          </a:ln>
        </p:spPr>
      </p:cxnSp>
      <p:cxnSp>
        <p:nvCxnSpPr>
          <p:cNvPr id="584" name="Google Shape;584;p46"/>
          <p:cNvCxnSpPr>
            <a:stCxn id="576" idx="2"/>
            <a:endCxn id="574" idx="0"/>
          </p:cNvCxnSpPr>
          <p:nvPr/>
        </p:nvCxnSpPr>
        <p:spPr>
          <a:xfrm flipH="1" rot="-5400000">
            <a:off x="8227168" y="4095177"/>
            <a:ext cx="936300" cy="582300"/>
          </a:xfrm>
          <a:prstGeom prst="bentConnector3">
            <a:avLst>
              <a:gd fmla="val 50005" name="adj1"/>
            </a:avLst>
          </a:prstGeom>
          <a:noFill/>
          <a:ln cap="flat" cmpd="sng" w="9525">
            <a:solidFill>
              <a:srgbClr val="9E9E9E"/>
            </a:solidFill>
            <a:prstDash val="dash"/>
            <a:round/>
            <a:headEnd len="med" w="med" type="none"/>
            <a:tailEnd len="med" w="med" type="none"/>
          </a:ln>
        </p:spPr>
      </p:cxnSp>
      <p:cxnSp>
        <p:nvCxnSpPr>
          <p:cNvPr id="585" name="Google Shape;585;p46"/>
          <p:cNvCxnSpPr>
            <a:stCxn id="575" idx="2"/>
            <a:endCxn id="574" idx="0"/>
          </p:cNvCxnSpPr>
          <p:nvPr/>
        </p:nvCxnSpPr>
        <p:spPr>
          <a:xfrm rot="5400000">
            <a:off x="8910663" y="3994075"/>
            <a:ext cx="936300" cy="784500"/>
          </a:xfrm>
          <a:prstGeom prst="bentConnector3">
            <a:avLst>
              <a:gd fmla="val 50005" name="adj1"/>
            </a:avLst>
          </a:prstGeom>
          <a:noFill/>
          <a:ln cap="flat" cmpd="sng" w="9525">
            <a:solidFill>
              <a:srgbClr val="9E9E9E"/>
            </a:solidFill>
            <a:prstDash val="dash"/>
            <a:round/>
            <a:headEnd len="med" w="med" type="none"/>
            <a:tailEnd len="med" w="med" type="triangle"/>
          </a:ln>
        </p:spPr>
      </p:cxnSp>
      <p:cxnSp>
        <p:nvCxnSpPr>
          <p:cNvPr id="586" name="Google Shape;586;p46"/>
          <p:cNvCxnSpPr>
            <a:stCxn id="578" idx="2"/>
            <a:endCxn id="574" idx="0"/>
          </p:cNvCxnSpPr>
          <p:nvPr/>
        </p:nvCxnSpPr>
        <p:spPr>
          <a:xfrm rot="5400000">
            <a:off x="9597151" y="3380137"/>
            <a:ext cx="863700" cy="2085300"/>
          </a:xfrm>
          <a:prstGeom prst="bentConnector3">
            <a:avLst>
              <a:gd fmla="val 49996" name="adj1"/>
            </a:avLst>
          </a:prstGeom>
          <a:noFill/>
          <a:ln cap="flat" cmpd="sng" w="9525">
            <a:solidFill>
              <a:srgbClr val="9E9E9E"/>
            </a:solidFill>
            <a:prstDash val="dash"/>
            <a:round/>
            <a:headEnd len="med" w="med" type="none"/>
            <a:tailEnd len="med" w="med" type="triangle"/>
          </a:ln>
        </p:spPr>
      </p:cxnSp>
      <p:sp>
        <p:nvSpPr>
          <p:cNvPr id="587" name="Google Shape;587;p46"/>
          <p:cNvSpPr txBox="1"/>
          <p:nvPr/>
        </p:nvSpPr>
        <p:spPr>
          <a:xfrm>
            <a:off x="6082600" y="5501725"/>
            <a:ext cx="5972100" cy="71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600">
                <a:solidFill>
                  <a:schemeClr val="dk1"/>
                </a:solidFill>
                <a:latin typeface="Montserrat"/>
                <a:ea typeface="Montserrat"/>
                <a:cs typeface="Montserrat"/>
                <a:sym typeface="Montserrat"/>
              </a:rPr>
              <a:t>No matter where in the world Diagnexia is offered, the intended use will align to the VALIDATION TESTING.</a:t>
            </a:r>
            <a:r>
              <a:rPr lang="en-US" sz="1600">
                <a:solidFill>
                  <a:schemeClr val="dk1"/>
                </a:solidFill>
                <a:latin typeface="Montserrat"/>
                <a:ea typeface="Montserrat"/>
                <a:cs typeface="Montserrat"/>
                <a:sym typeface="Montserrat"/>
              </a:rPr>
              <a:t> </a:t>
            </a:r>
            <a:endParaRPr sz="1600">
              <a:solidFill>
                <a:schemeClr val="dk1"/>
              </a:solidFill>
              <a:latin typeface="Montserrat"/>
              <a:ea typeface="Montserrat"/>
              <a:cs typeface="Montserrat"/>
              <a:sym typeface="Montserrat"/>
            </a:endParaRPr>
          </a:p>
        </p:txBody>
      </p:sp>
      <p:sp>
        <p:nvSpPr>
          <p:cNvPr id="588" name="Google Shape;588;p46"/>
          <p:cNvSpPr txBox="1"/>
          <p:nvPr/>
        </p:nvSpPr>
        <p:spPr>
          <a:xfrm>
            <a:off x="7805825" y="4250163"/>
            <a:ext cx="2467500" cy="27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Validation Policy</a:t>
            </a:r>
            <a:endParaRPr b="1" sz="1600">
              <a:solidFill>
                <a:schemeClr val="dk1"/>
              </a:solidFill>
              <a:latin typeface="Montserrat"/>
              <a:ea typeface="Montserrat"/>
              <a:cs typeface="Montserrat"/>
              <a:sym typeface="Montserrat"/>
            </a:endParaRPr>
          </a:p>
        </p:txBody>
      </p:sp>
      <p:pic>
        <p:nvPicPr>
          <p:cNvPr id="589" name="Google Shape;589;p46"/>
          <p:cNvPicPr preferRelativeResize="0"/>
          <p:nvPr/>
        </p:nvPicPr>
        <p:blipFill>
          <a:blip r:embed="rId6">
            <a:alphaModFix/>
          </a:blip>
          <a:stretch>
            <a:fillRect/>
          </a:stretch>
        </p:blipFill>
        <p:spPr>
          <a:xfrm>
            <a:off x="11457850" y="171800"/>
            <a:ext cx="428625" cy="457200"/>
          </a:xfrm>
          <a:prstGeom prst="rect">
            <a:avLst/>
          </a:prstGeom>
          <a:noFill/>
          <a:ln>
            <a:noFill/>
          </a:ln>
        </p:spPr>
      </p:pic>
      <p:grpSp>
        <p:nvGrpSpPr>
          <p:cNvPr id="590" name="Google Shape;590;p46"/>
          <p:cNvGrpSpPr/>
          <p:nvPr/>
        </p:nvGrpSpPr>
        <p:grpSpPr>
          <a:xfrm>
            <a:off x="2050732" y="4369788"/>
            <a:ext cx="1978343" cy="1537913"/>
            <a:chOff x="1621482" y="4666550"/>
            <a:chExt cx="1978343" cy="1537913"/>
          </a:xfrm>
        </p:grpSpPr>
        <p:sp>
          <p:nvSpPr>
            <p:cNvPr id="591" name="Google Shape;591;p46"/>
            <p:cNvSpPr/>
            <p:nvPr/>
          </p:nvSpPr>
          <p:spPr>
            <a:xfrm>
              <a:off x="1711400" y="4666550"/>
              <a:ext cx="1790100" cy="1340400"/>
            </a:xfrm>
            <a:prstGeom prst="triangle">
              <a:avLst>
                <a:gd fmla="val 50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92" name="Google Shape;592;p46"/>
            <p:cNvSpPr txBox="1"/>
            <p:nvPr/>
          </p:nvSpPr>
          <p:spPr>
            <a:xfrm rot="-3410295">
              <a:off x="1402489" y="5258871"/>
              <a:ext cx="1254286" cy="155599"/>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INTENDED USE</a:t>
              </a:r>
              <a:endParaRPr sz="900">
                <a:solidFill>
                  <a:schemeClr val="dk1"/>
                </a:solidFill>
                <a:latin typeface="Montserrat"/>
                <a:ea typeface="Montserrat"/>
                <a:cs typeface="Montserrat"/>
                <a:sym typeface="Montserrat"/>
              </a:endParaRPr>
            </a:p>
          </p:txBody>
        </p:sp>
        <p:sp>
          <p:nvSpPr>
            <p:cNvPr id="593" name="Google Shape;593;p46"/>
            <p:cNvSpPr txBox="1"/>
            <p:nvPr/>
          </p:nvSpPr>
          <p:spPr>
            <a:xfrm rot="3429218">
              <a:off x="2567000" y="5248242"/>
              <a:ext cx="1254452" cy="155612"/>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REGULATORY</a:t>
              </a:r>
              <a:endParaRPr sz="900">
                <a:solidFill>
                  <a:schemeClr val="dk1"/>
                </a:solidFill>
                <a:latin typeface="Montserrat"/>
                <a:ea typeface="Montserrat"/>
                <a:cs typeface="Montserrat"/>
                <a:sym typeface="Montserrat"/>
              </a:endParaRPr>
            </a:p>
          </p:txBody>
        </p:sp>
        <p:sp>
          <p:nvSpPr>
            <p:cNvPr id="594" name="Google Shape;594;p46"/>
            <p:cNvSpPr txBox="1"/>
            <p:nvPr/>
          </p:nvSpPr>
          <p:spPr>
            <a:xfrm rot="-2467">
              <a:off x="1906214" y="6048313"/>
              <a:ext cx="1254300" cy="155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VALIDATION</a:t>
              </a:r>
              <a:endParaRPr sz="900">
                <a:solidFill>
                  <a:schemeClr val="dk1"/>
                </a:solidFill>
                <a:latin typeface="Montserrat"/>
                <a:ea typeface="Montserrat"/>
                <a:cs typeface="Montserrat"/>
                <a:sym typeface="Montserrat"/>
              </a:endParaRPr>
            </a:p>
          </p:txBody>
        </p:sp>
        <p:sp>
          <p:nvSpPr>
            <p:cNvPr id="595" name="Google Shape;595;p46"/>
            <p:cNvSpPr txBox="1"/>
            <p:nvPr/>
          </p:nvSpPr>
          <p:spPr>
            <a:xfrm rot="-1644">
              <a:off x="1944699" y="5426153"/>
              <a:ext cx="1254300" cy="29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chemeClr val="dk1"/>
                  </a:solidFill>
                  <a:latin typeface="Montserrat"/>
                  <a:ea typeface="Montserrat"/>
                  <a:cs typeface="Montserrat"/>
                  <a:sym typeface="Montserrat"/>
                </a:rPr>
                <a:t>REG </a:t>
              </a:r>
              <a:endParaRPr b="1" sz="900">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US" sz="900">
                  <a:solidFill>
                    <a:schemeClr val="dk1"/>
                  </a:solidFill>
                  <a:latin typeface="Montserrat"/>
                  <a:ea typeface="Montserrat"/>
                  <a:cs typeface="Montserrat"/>
                  <a:sym typeface="Montserrat"/>
                </a:rPr>
                <a:t>STATEMENT</a:t>
              </a:r>
              <a:endParaRPr b="1" sz="900">
                <a:solidFill>
                  <a:schemeClr val="dk1"/>
                </a:solidFill>
                <a:latin typeface="Montserrat"/>
                <a:ea typeface="Montserrat"/>
                <a:cs typeface="Montserrat"/>
                <a:sym typeface="Montserrat"/>
              </a:endParaRPr>
            </a:p>
          </p:txBody>
        </p:sp>
        <p:sp>
          <p:nvSpPr>
            <p:cNvPr id="596" name="Google Shape;596;p46"/>
            <p:cNvSpPr/>
            <p:nvPr/>
          </p:nvSpPr>
          <p:spPr>
            <a:xfrm rot="2021404">
              <a:off x="2143777" y="5228625"/>
              <a:ext cx="113575" cy="415194"/>
            </a:xfrm>
            <a:prstGeom prst="upArrow">
              <a:avLst>
                <a:gd fmla="val 50000" name="adj1"/>
                <a:gd fmla="val 50000" name="adj2"/>
              </a:avLst>
            </a:prstGeom>
            <a:solidFill>
              <a:srgbClr val="C2C2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97" name="Google Shape;597;p46"/>
            <p:cNvSpPr/>
            <p:nvPr/>
          </p:nvSpPr>
          <p:spPr>
            <a:xfrm rot="8844069">
              <a:off x="2924464" y="5186998"/>
              <a:ext cx="113595" cy="415450"/>
            </a:xfrm>
            <a:prstGeom prst="upArrow">
              <a:avLst>
                <a:gd fmla="val 50000" name="adj1"/>
                <a:gd fmla="val 50000" name="adj2"/>
              </a:avLst>
            </a:prstGeom>
            <a:solidFill>
              <a:srgbClr val="C2C2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98" name="Google Shape;598;p46"/>
            <p:cNvSpPr/>
            <p:nvPr/>
          </p:nvSpPr>
          <p:spPr>
            <a:xfrm rot="-5409095">
              <a:off x="2429329" y="5679310"/>
              <a:ext cx="113400" cy="415200"/>
            </a:xfrm>
            <a:prstGeom prst="upArrow">
              <a:avLst>
                <a:gd fmla="val 50000" name="adj1"/>
                <a:gd fmla="val 50000" name="adj2"/>
              </a:avLst>
            </a:prstGeom>
            <a:solidFill>
              <a:srgbClr val="C2C2C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7"/>
          <p:cNvSpPr txBox="1"/>
          <p:nvPr>
            <p:ph type="title"/>
          </p:nvPr>
        </p:nvSpPr>
        <p:spPr>
          <a:xfrm>
            <a:off x="593725" y="5476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Validation Vision</a:t>
            </a:r>
            <a:endParaRPr/>
          </a:p>
        </p:txBody>
      </p:sp>
      <p:sp>
        <p:nvSpPr>
          <p:cNvPr id="605" name="Google Shape;605;p47"/>
          <p:cNvSpPr txBox="1"/>
          <p:nvPr>
            <p:ph idx="1" type="body"/>
          </p:nvPr>
        </p:nvSpPr>
        <p:spPr>
          <a:xfrm>
            <a:off x="590925" y="4497400"/>
            <a:ext cx="3673200" cy="1628700"/>
          </a:xfrm>
          <a:prstGeom prst="rect">
            <a:avLst/>
          </a:prstGeom>
          <a:solidFill>
            <a:srgbClr val="FF95FF">
              <a:alpha val="22150"/>
            </a:srgbClr>
          </a:solidFill>
        </p:spPr>
        <p:txBody>
          <a:bodyPr anchorCtr="0" anchor="t" bIns="0" lIns="0" spcFirstLastPara="1" rIns="0" wrap="square" tIns="0">
            <a:normAutofit/>
          </a:bodyPr>
          <a:lstStyle/>
          <a:p>
            <a:pPr indent="-320675" lvl="0" marL="457200" marR="0" rtl="0" algn="l">
              <a:lnSpc>
                <a:spcPct val="115000"/>
              </a:lnSpc>
              <a:spcBef>
                <a:spcPts val="90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Single validation framework replacing legacy practices</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Every decision traced to a transparent risk assessment</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All records captured and maintained in Orcanos</a:t>
            </a:r>
            <a:endParaRPr>
              <a:solidFill>
                <a:srgbClr val="434343"/>
              </a:solidFill>
            </a:endParaRPr>
          </a:p>
        </p:txBody>
      </p:sp>
      <p:sp>
        <p:nvSpPr>
          <p:cNvPr id="606" name="Google Shape;606;p47"/>
          <p:cNvSpPr txBox="1"/>
          <p:nvPr>
            <p:ph idx="2" type="body"/>
          </p:nvPr>
        </p:nvSpPr>
        <p:spPr>
          <a:xfrm>
            <a:off x="590931" y="4146551"/>
            <a:ext cx="34380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t>Unified, risk‑driven program</a:t>
            </a:r>
            <a:endParaRPr/>
          </a:p>
        </p:txBody>
      </p:sp>
      <p:sp>
        <p:nvSpPr>
          <p:cNvPr id="607" name="Google Shape;607;p47"/>
          <p:cNvSpPr/>
          <p:nvPr>
            <p:ph idx="3" type="pic"/>
          </p:nvPr>
        </p:nvSpPr>
        <p:spPr>
          <a:xfrm>
            <a:off x="593725" y="1535113"/>
            <a:ext cx="3435300" cy="2498700"/>
          </a:xfrm>
          <a:prstGeom prst="rect">
            <a:avLst/>
          </a:prstGeom>
        </p:spPr>
      </p:sp>
      <p:sp>
        <p:nvSpPr>
          <p:cNvPr id="608" name="Google Shape;608;p47"/>
          <p:cNvSpPr txBox="1"/>
          <p:nvPr>
            <p:ph idx="4" type="body"/>
          </p:nvPr>
        </p:nvSpPr>
        <p:spPr>
          <a:xfrm>
            <a:off x="4375531" y="4497388"/>
            <a:ext cx="3438000" cy="1628700"/>
          </a:xfrm>
          <a:prstGeom prst="rect">
            <a:avLst/>
          </a:prstGeom>
          <a:solidFill>
            <a:srgbClr val="FF95FF">
              <a:alpha val="22150"/>
            </a:srgbClr>
          </a:solidFill>
        </p:spPr>
        <p:txBody>
          <a:bodyPr anchorCtr="0" anchor="t" bIns="0" lIns="0" spcFirstLastPara="1" rIns="0" wrap="square" tIns="0">
            <a:normAutofit/>
          </a:bodyPr>
          <a:lstStyle/>
          <a:p>
            <a:pPr indent="-320675" lvl="0" marL="457200" marR="0" rtl="0" algn="l">
              <a:lnSpc>
                <a:spcPct val="115000"/>
              </a:lnSpc>
              <a:spcBef>
                <a:spcPts val="90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Common templates, documentation paths, and approval flows</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Consistent execution regardless of who performs validation</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Validation embedded in the QMS and aligned with growth</a:t>
            </a:r>
            <a:endParaRPr/>
          </a:p>
        </p:txBody>
      </p:sp>
      <p:sp>
        <p:nvSpPr>
          <p:cNvPr id="609" name="Google Shape;609;p47"/>
          <p:cNvSpPr txBox="1"/>
          <p:nvPr>
            <p:ph idx="5" type="body"/>
          </p:nvPr>
        </p:nvSpPr>
        <p:spPr>
          <a:xfrm>
            <a:off x="4375525" y="4146550"/>
            <a:ext cx="36732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t>Standardized, scalable processes</a:t>
            </a:r>
            <a:endParaRPr/>
          </a:p>
        </p:txBody>
      </p:sp>
      <p:sp>
        <p:nvSpPr>
          <p:cNvPr id="610" name="Google Shape;610;p47"/>
          <p:cNvSpPr/>
          <p:nvPr>
            <p:ph idx="6" type="pic"/>
          </p:nvPr>
        </p:nvSpPr>
        <p:spPr>
          <a:xfrm>
            <a:off x="4378325" y="1535113"/>
            <a:ext cx="3435300" cy="2498700"/>
          </a:xfrm>
          <a:prstGeom prst="rect">
            <a:avLst/>
          </a:prstGeom>
        </p:spPr>
      </p:sp>
      <p:sp>
        <p:nvSpPr>
          <p:cNvPr id="611" name="Google Shape;611;p47"/>
          <p:cNvSpPr txBox="1"/>
          <p:nvPr>
            <p:ph idx="7" type="body"/>
          </p:nvPr>
        </p:nvSpPr>
        <p:spPr>
          <a:xfrm>
            <a:off x="8161351" y="4497400"/>
            <a:ext cx="3735300" cy="1628700"/>
          </a:xfrm>
          <a:prstGeom prst="rect">
            <a:avLst/>
          </a:prstGeom>
          <a:solidFill>
            <a:srgbClr val="FF95FF">
              <a:alpha val="22150"/>
            </a:srgbClr>
          </a:solidFill>
        </p:spPr>
        <p:txBody>
          <a:bodyPr anchorCtr="0" anchor="t" bIns="0" lIns="0" spcFirstLastPara="1" rIns="0" wrap="square" tIns="0">
            <a:noAutofit/>
          </a:bodyPr>
          <a:lstStyle/>
          <a:p>
            <a:pPr indent="-320675" lvl="0" marL="457200" marR="0" rtl="0" algn="l">
              <a:lnSpc>
                <a:spcPct val="115000"/>
              </a:lnSpc>
              <a:spcBef>
                <a:spcPts val="90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Fewer signatures and elimination of unnecessary testing</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Shorter turnaround times for releases and changes</a:t>
            </a:r>
            <a:endParaRPr sz="1450">
              <a:solidFill>
                <a:srgbClr val="434343"/>
              </a:solidFill>
              <a:latin typeface="Roboto"/>
              <a:ea typeface="Roboto"/>
              <a:cs typeface="Roboto"/>
              <a:sym typeface="Roboto"/>
            </a:endParaRPr>
          </a:p>
          <a:p>
            <a:pPr indent="-320675" lvl="0" marL="457200" marR="0" rtl="0" algn="l">
              <a:lnSpc>
                <a:spcPct val="115000"/>
              </a:lnSpc>
              <a:spcBef>
                <a:spcPts val="0"/>
              </a:spcBef>
              <a:spcAft>
                <a:spcPts val="0"/>
              </a:spcAft>
              <a:buClr>
                <a:srgbClr val="434343"/>
              </a:buClr>
              <a:buSzPts val="1450"/>
              <a:buFont typeface="Roboto"/>
              <a:buChar char="❖"/>
            </a:pPr>
            <a:r>
              <a:rPr lang="en-US" sz="1450">
                <a:solidFill>
                  <a:srgbClr val="434343"/>
                </a:solidFill>
                <a:latin typeface="Roboto"/>
                <a:ea typeface="Roboto"/>
                <a:cs typeface="Roboto"/>
                <a:sym typeface="Roboto"/>
              </a:rPr>
              <a:t>Operations, RA, pathology, and integrations move faster with less risk</a:t>
            </a:r>
            <a:endParaRPr sz="1450">
              <a:latin typeface="Arial"/>
              <a:ea typeface="Arial"/>
              <a:cs typeface="Arial"/>
              <a:sym typeface="Arial"/>
            </a:endParaRPr>
          </a:p>
        </p:txBody>
      </p:sp>
      <p:sp>
        <p:nvSpPr>
          <p:cNvPr id="612" name="Google Shape;612;p47"/>
          <p:cNvSpPr txBox="1"/>
          <p:nvPr>
            <p:ph idx="8" type="body"/>
          </p:nvPr>
        </p:nvSpPr>
        <p:spPr>
          <a:xfrm>
            <a:off x="8161338" y="4146551"/>
            <a:ext cx="34380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t>Predictable, efficient lifecycle</a:t>
            </a:r>
            <a:endParaRPr/>
          </a:p>
        </p:txBody>
      </p:sp>
      <p:sp>
        <p:nvSpPr>
          <p:cNvPr id="613" name="Google Shape;613;p47"/>
          <p:cNvSpPr/>
          <p:nvPr>
            <p:ph idx="9" type="pic"/>
          </p:nvPr>
        </p:nvSpPr>
        <p:spPr>
          <a:xfrm>
            <a:off x="8164132" y="1535113"/>
            <a:ext cx="3435300" cy="2498700"/>
          </a:xfrm>
          <a:prstGeom prst="rect">
            <a:avLst/>
          </a:prstGeom>
        </p:spPr>
      </p:sp>
      <p:pic>
        <p:nvPicPr>
          <p:cNvPr id="614" name="Google Shape;614;p47"/>
          <p:cNvPicPr preferRelativeResize="0"/>
          <p:nvPr/>
        </p:nvPicPr>
        <p:blipFill>
          <a:blip r:embed="rId3">
            <a:alphaModFix/>
          </a:blip>
          <a:stretch>
            <a:fillRect/>
          </a:stretch>
        </p:blipFill>
        <p:spPr>
          <a:xfrm>
            <a:off x="8491125" y="1793875"/>
            <a:ext cx="2781300" cy="1981200"/>
          </a:xfrm>
          <a:prstGeom prst="rect">
            <a:avLst/>
          </a:prstGeom>
          <a:noFill/>
          <a:ln>
            <a:noFill/>
          </a:ln>
        </p:spPr>
      </p:pic>
      <p:pic>
        <p:nvPicPr>
          <p:cNvPr id="615" name="Google Shape;615;p47"/>
          <p:cNvPicPr preferRelativeResize="0"/>
          <p:nvPr/>
        </p:nvPicPr>
        <p:blipFill>
          <a:blip r:embed="rId4">
            <a:alphaModFix/>
          </a:blip>
          <a:stretch>
            <a:fillRect/>
          </a:stretch>
        </p:blipFill>
        <p:spPr>
          <a:xfrm>
            <a:off x="4821475" y="1709775"/>
            <a:ext cx="2781300" cy="1962150"/>
          </a:xfrm>
          <a:prstGeom prst="rect">
            <a:avLst/>
          </a:prstGeom>
          <a:noFill/>
          <a:ln>
            <a:noFill/>
          </a:ln>
        </p:spPr>
      </p:pic>
      <p:pic>
        <p:nvPicPr>
          <p:cNvPr id="616" name="Google Shape;616;p47"/>
          <p:cNvPicPr preferRelativeResize="0"/>
          <p:nvPr/>
        </p:nvPicPr>
        <p:blipFill>
          <a:blip r:embed="rId5">
            <a:alphaModFix/>
          </a:blip>
          <a:stretch>
            <a:fillRect/>
          </a:stretch>
        </p:blipFill>
        <p:spPr>
          <a:xfrm>
            <a:off x="1034925" y="1791225"/>
            <a:ext cx="2552898" cy="17992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1" name="Shape 621"/>
        <p:cNvGrpSpPr/>
        <p:nvPr/>
      </p:nvGrpSpPr>
      <p:grpSpPr>
        <a:xfrm>
          <a:off x="0" y="0"/>
          <a:ext cx="0" cy="0"/>
          <a:chOff x="0" y="0"/>
          <a:chExt cx="0" cy="0"/>
        </a:xfrm>
      </p:grpSpPr>
      <p:sp>
        <p:nvSpPr>
          <p:cNvPr id="622" name="Google Shape;622;p48"/>
          <p:cNvSpPr/>
          <p:nvPr/>
        </p:nvSpPr>
        <p:spPr>
          <a:xfrm>
            <a:off x="8436375" y="4444650"/>
            <a:ext cx="264900" cy="1887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23" name="Google Shape;623;p48"/>
          <p:cNvSpPr/>
          <p:nvPr/>
        </p:nvSpPr>
        <p:spPr>
          <a:xfrm>
            <a:off x="8679475" y="6014750"/>
            <a:ext cx="2778300" cy="416100"/>
          </a:xfrm>
          <a:prstGeom prst="rightArrow">
            <a:avLst>
              <a:gd fmla="val 50000" name="adj1"/>
              <a:gd fmla="val 50000" name="adj2"/>
            </a:avLst>
          </a:prstGeom>
          <a:solidFill>
            <a:schemeClr val="lt2"/>
          </a:solidFill>
          <a:ln>
            <a:noFill/>
          </a:ln>
        </p:spPr>
        <p:txBody>
          <a:bodyPr anchorCtr="0" anchor="ctr" bIns="76050" lIns="76050" spcFirstLastPara="1" rIns="76050" wrap="square" tIns="76050">
            <a:noAutofit/>
          </a:bodyPr>
          <a:lstStyle/>
          <a:p>
            <a:pPr indent="0" lvl="0" marL="0" rtl="0" algn="ctr">
              <a:spcBef>
                <a:spcPts val="0"/>
              </a:spcBef>
              <a:spcAft>
                <a:spcPts val="0"/>
              </a:spcAft>
              <a:buNone/>
            </a:pPr>
            <a:r>
              <a:t/>
            </a:r>
            <a:endParaRPr sz="1164">
              <a:latin typeface="Montserrat"/>
              <a:ea typeface="Montserrat"/>
              <a:cs typeface="Montserrat"/>
              <a:sym typeface="Montserrat"/>
            </a:endParaRPr>
          </a:p>
        </p:txBody>
      </p:sp>
      <p:cxnSp>
        <p:nvCxnSpPr>
          <p:cNvPr id="624" name="Google Shape;624;p48"/>
          <p:cNvCxnSpPr>
            <a:stCxn id="625" idx="3"/>
            <a:endCxn id="625" idx="1"/>
          </p:cNvCxnSpPr>
          <p:nvPr/>
        </p:nvCxnSpPr>
        <p:spPr>
          <a:xfrm flipH="1">
            <a:off x="5814725" y="3309650"/>
            <a:ext cx="5585100" cy="600"/>
          </a:xfrm>
          <a:prstGeom prst="bentConnector5">
            <a:avLst>
              <a:gd fmla="val -4264" name="adj1"/>
              <a:gd fmla="val 150516667" name="adj2"/>
              <a:gd fmla="val 104264" name="adj3"/>
            </a:avLst>
          </a:prstGeom>
          <a:noFill/>
          <a:ln cap="flat" cmpd="sng" w="9525">
            <a:solidFill>
              <a:schemeClr val="dk2"/>
            </a:solidFill>
            <a:prstDash val="solid"/>
            <a:round/>
            <a:headEnd len="med" w="med" type="none"/>
            <a:tailEnd len="med" w="med" type="triangle"/>
          </a:ln>
        </p:spPr>
      </p:cxnSp>
      <p:sp>
        <p:nvSpPr>
          <p:cNvPr id="626" name="Google Shape;626;p48"/>
          <p:cNvSpPr/>
          <p:nvPr/>
        </p:nvSpPr>
        <p:spPr>
          <a:xfrm>
            <a:off x="379675" y="1224700"/>
            <a:ext cx="11433000" cy="500100"/>
          </a:xfrm>
          <a:prstGeom prst="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27" name="Google Shape;627;p48"/>
          <p:cNvSpPr txBox="1"/>
          <p:nvPr>
            <p:ph type="title"/>
          </p:nvPr>
        </p:nvSpPr>
        <p:spPr>
          <a:xfrm>
            <a:off x="312200" y="229100"/>
            <a:ext cx="5609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sz="2300"/>
              <a:t>Current process → </a:t>
            </a:r>
            <a:r>
              <a:rPr i="1" lang="en-US" sz="2300">
                <a:solidFill>
                  <a:srgbClr val="666666"/>
                </a:solidFill>
              </a:rPr>
              <a:t>Impv process</a:t>
            </a:r>
            <a:endParaRPr i="1" sz="2300">
              <a:solidFill>
                <a:srgbClr val="666666"/>
              </a:solidFill>
            </a:endParaRPr>
          </a:p>
        </p:txBody>
      </p:sp>
      <p:pic>
        <p:nvPicPr>
          <p:cNvPr id="628" name="Google Shape;628;p48"/>
          <p:cNvPicPr preferRelativeResize="0"/>
          <p:nvPr/>
        </p:nvPicPr>
        <p:blipFill>
          <a:blip r:embed="rId3">
            <a:alphaModFix/>
          </a:blip>
          <a:stretch>
            <a:fillRect/>
          </a:stretch>
        </p:blipFill>
        <p:spPr>
          <a:xfrm>
            <a:off x="705026" y="1100944"/>
            <a:ext cx="591825" cy="500075"/>
          </a:xfrm>
          <a:prstGeom prst="rect">
            <a:avLst/>
          </a:prstGeom>
          <a:noFill/>
          <a:ln>
            <a:noFill/>
          </a:ln>
        </p:spPr>
      </p:pic>
      <p:sp>
        <p:nvSpPr>
          <p:cNvPr id="629" name="Google Shape;629;p48"/>
          <p:cNvSpPr txBox="1"/>
          <p:nvPr/>
        </p:nvSpPr>
        <p:spPr>
          <a:xfrm>
            <a:off x="463763" y="1752363"/>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Freshdesk</a:t>
            </a:r>
            <a:r>
              <a:rPr lang="en-US" sz="800">
                <a:solidFill>
                  <a:schemeClr val="dk1"/>
                </a:solidFill>
                <a:latin typeface="Montserrat"/>
                <a:ea typeface="Montserrat"/>
                <a:cs typeface="Montserrat"/>
                <a:sym typeface="Montserrat"/>
              </a:rPr>
              <a:t> - template</a:t>
            </a:r>
            <a:endParaRPr sz="800">
              <a:solidFill>
                <a:schemeClr val="dk1"/>
              </a:solidFill>
              <a:latin typeface="Montserrat"/>
              <a:ea typeface="Montserrat"/>
              <a:cs typeface="Montserrat"/>
              <a:sym typeface="Montserrat"/>
            </a:endParaRPr>
          </a:p>
        </p:txBody>
      </p:sp>
      <p:pic>
        <p:nvPicPr>
          <p:cNvPr id="630" name="Google Shape;630;p48"/>
          <p:cNvPicPr preferRelativeResize="0"/>
          <p:nvPr/>
        </p:nvPicPr>
        <p:blipFill>
          <a:blip r:embed="rId4">
            <a:alphaModFix/>
          </a:blip>
          <a:stretch>
            <a:fillRect/>
          </a:stretch>
        </p:blipFill>
        <p:spPr>
          <a:xfrm>
            <a:off x="3246874" y="2007932"/>
            <a:ext cx="278235" cy="269068"/>
          </a:xfrm>
          <a:prstGeom prst="rect">
            <a:avLst/>
          </a:prstGeom>
          <a:noFill/>
          <a:ln cap="flat" cmpd="sng" w="5125">
            <a:solidFill>
              <a:srgbClr val="FF9900"/>
            </a:solidFill>
            <a:prstDash val="solid"/>
            <a:round/>
            <a:headEnd len="sm" w="sm" type="none"/>
            <a:tailEnd len="sm" w="sm" type="none"/>
          </a:ln>
        </p:spPr>
      </p:pic>
      <p:pic>
        <p:nvPicPr>
          <p:cNvPr id="631" name="Google Shape;631;p48"/>
          <p:cNvPicPr preferRelativeResize="0"/>
          <p:nvPr/>
        </p:nvPicPr>
        <p:blipFill>
          <a:blip r:embed="rId5">
            <a:alphaModFix/>
          </a:blip>
          <a:stretch>
            <a:fillRect/>
          </a:stretch>
        </p:blipFill>
        <p:spPr>
          <a:xfrm>
            <a:off x="10592796" y="2005191"/>
            <a:ext cx="318450" cy="282399"/>
          </a:xfrm>
          <a:prstGeom prst="rect">
            <a:avLst/>
          </a:prstGeom>
          <a:noFill/>
          <a:ln cap="flat" cmpd="sng" w="5125">
            <a:solidFill>
              <a:srgbClr val="FF9900"/>
            </a:solidFill>
            <a:prstDash val="solid"/>
            <a:round/>
            <a:headEnd len="sm" w="sm" type="none"/>
            <a:tailEnd len="sm" w="sm" type="none"/>
          </a:ln>
        </p:spPr>
      </p:pic>
      <p:pic>
        <p:nvPicPr>
          <p:cNvPr id="632" name="Google Shape;632;p48"/>
          <p:cNvPicPr preferRelativeResize="0"/>
          <p:nvPr/>
        </p:nvPicPr>
        <p:blipFill>
          <a:blip r:embed="rId6">
            <a:alphaModFix/>
          </a:blip>
          <a:stretch>
            <a:fillRect/>
          </a:stretch>
        </p:blipFill>
        <p:spPr>
          <a:xfrm>
            <a:off x="1977175" y="1060882"/>
            <a:ext cx="454376" cy="580200"/>
          </a:xfrm>
          <a:prstGeom prst="rect">
            <a:avLst/>
          </a:prstGeom>
          <a:noFill/>
          <a:ln>
            <a:noFill/>
          </a:ln>
        </p:spPr>
      </p:pic>
      <p:sp>
        <p:nvSpPr>
          <p:cNvPr id="633" name="Google Shape;633;p48"/>
          <p:cNvSpPr txBox="1"/>
          <p:nvPr/>
        </p:nvSpPr>
        <p:spPr>
          <a:xfrm>
            <a:off x="1645288" y="1781725"/>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New </a:t>
            </a:r>
            <a:r>
              <a:rPr lang="en-US" sz="800">
                <a:solidFill>
                  <a:schemeClr val="dk1"/>
                </a:solidFill>
                <a:latin typeface="Montserrat"/>
                <a:ea typeface="Montserrat"/>
                <a:cs typeface="Montserrat"/>
                <a:sym typeface="Montserrat"/>
              </a:rPr>
              <a:t>DMS#</a:t>
            </a:r>
            <a:endParaRPr sz="800">
              <a:solidFill>
                <a:schemeClr val="dk1"/>
              </a:solidFill>
              <a:latin typeface="Montserrat"/>
              <a:ea typeface="Montserrat"/>
              <a:cs typeface="Montserrat"/>
              <a:sym typeface="Montserrat"/>
            </a:endParaRPr>
          </a:p>
        </p:txBody>
      </p:sp>
      <p:grpSp>
        <p:nvGrpSpPr>
          <p:cNvPr id="634" name="Google Shape;634;p48"/>
          <p:cNvGrpSpPr/>
          <p:nvPr/>
        </p:nvGrpSpPr>
        <p:grpSpPr>
          <a:xfrm>
            <a:off x="3111866" y="933480"/>
            <a:ext cx="729780" cy="835003"/>
            <a:chOff x="5072300" y="915026"/>
            <a:chExt cx="849075" cy="971499"/>
          </a:xfrm>
        </p:grpSpPr>
        <p:pic>
          <p:nvPicPr>
            <p:cNvPr id="635" name="Google Shape;635;p48"/>
            <p:cNvPicPr preferRelativeResize="0"/>
            <p:nvPr/>
          </p:nvPicPr>
          <p:blipFill>
            <a:blip r:embed="rId7">
              <a:alphaModFix/>
            </a:blip>
            <a:stretch>
              <a:fillRect/>
            </a:stretch>
          </p:blipFill>
          <p:spPr>
            <a:xfrm>
              <a:off x="5072300" y="1183725"/>
              <a:ext cx="849075" cy="702800"/>
            </a:xfrm>
            <a:prstGeom prst="rect">
              <a:avLst/>
            </a:prstGeom>
            <a:noFill/>
            <a:ln>
              <a:noFill/>
            </a:ln>
          </p:spPr>
        </p:pic>
        <p:pic>
          <p:nvPicPr>
            <p:cNvPr id="636" name="Google Shape;636;p48"/>
            <p:cNvPicPr preferRelativeResize="0"/>
            <p:nvPr/>
          </p:nvPicPr>
          <p:blipFill>
            <a:blip r:embed="rId8">
              <a:alphaModFix/>
            </a:blip>
            <a:stretch>
              <a:fillRect/>
            </a:stretch>
          </p:blipFill>
          <p:spPr>
            <a:xfrm>
              <a:off x="5233686" y="915026"/>
              <a:ext cx="526318" cy="237950"/>
            </a:xfrm>
            <a:prstGeom prst="rect">
              <a:avLst/>
            </a:prstGeom>
            <a:noFill/>
            <a:ln>
              <a:noFill/>
            </a:ln>
          </p:spPr>
        </p:pic>
      </p:grpSp>
      <p:sp>
        <p:nvSpPr>
          <p:cNvPr id="637" name="Google Shape;637;p48"/>
          <p:cNvSpPr txBox="1"/>
          <p:nvPr/>
        </p:nvSpPr>
        <p:spPr>
          <a:xfrm>
            <a:off x="2858438" y="1768475"/>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Testing</a:t>
            </a:r>
            <a:endParaRPr sz="800">
              <a:solidFill>
                <a:schemeClr val="dk1"/>
              </a:solidFill>
              <a:latin typeface="Montserrat"/>
              <a:ea typeface="Montserrat"/>
              <a:cs typeface="Montserrat"/>
              <a:sym typeface="Montserrat"/>
            </a:endParaRPr>
          </a:p>
        </p:txBody>
      </p:sp>
      <p:pic>
        <p:nvPicPr>
          <p:cNvPr id="638" name="Google Shape;638;p48"/>
          <p:cNvPicPr preferRelativeResize="0"/>
          <p:nvPr/>
        </p:nvPicPr>
        <p:blipFill>
          <a:blip r:embed="rId9">
            <a:alphaModFix/>
          </a:blip>
          <a:stretch>
            <a:fillRect/>
          </a:stretch>
        </p:blipFill>
        <p:spPr>
          <a:xfrm>
            <a:off x="6109850" y="1016819"/>
            <a:ext cx="668325" cy="668325"/>
          </a:xfrm>
          <a:prstGeom prst="rect">
            <a:avLst/>
          </a:prstGeom>
          <a:noFill/>
          <a:ln>
            <a:noFill/>
          </a:ln>
        </p:spPr>
      </p:pic>
      <p:sp>
        <p:nvSpPr>
          <p:cNvPr id="639" name="Google Shape;639;p48"/>
          <p:cNvSpPr txBox="1"/>
          <p:nvPr/>
        </p:nvSpPr>
        <p:spPr>
          <a:xfrm>
            <a:off x="5779050" y="1693550"/>
            <a:ext cx="14403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Test Report </a:t>
            </a:r>
            <a:r>
              <a:rPr lang="en-US" sz="800">
                <a:solidFill>
                  <a:schemeClr val="dk1"/>
                </a:solidFill>
                <a:latin typeface="Montserrat"/>
                <a:ea typeface="Montserrat"/>
                <a:cs typeface="Montserrat"/>
                <a:sym typeface="Montserrat"/>
              </a:rPr>
              <a:t>Approval</a:t>
            </a:r>
            <a:endParaRPr sz="800">
              <a:solidFill>
                <a:schemeClr val="dk1"/>
              </a:solidFill>
              <a:latin typeface="Montserrat"/>
              <a:ea typeface="Montserrat"/>
              <a:cs typeface="Montserrat"/>
              <a:sym typeface="Montserrat"/>
            </a:endParaRPr>
          </a:p>
        </p:txBody>
      </p:sp>
      <p:grpSp>
        <p:nvGrpSpPr>
          <p:cNvPr id="640" name="Google Shape;640;p48"/>
          <p:cNvGrpSpPr/>
          <p:nvPr/>
        </p:nvGrpSpPr>
        <p:grpSpPr>
          <a:xfrm>
            <a:off x="6284899" y="637649"/>
            <a:ext cx="428654" cy="420181"/>
            <a:chOff x="1521860" y="3376265"/>
            <a:chExt cx="591900" cy="580200"/>
          </a:xfrm>
        </p:grpSpPr>
        <p:pic>
          <p:nvPicPr>
            <p:cNvPr id="641" name="Google Shape;641;p48"/>
            <p:cNvPicPr preferRelativeResize="0"/>
            <p:nvPr/>
          </p:nvPicPr>
          <p:blipFill>
            <a:blip r:embed="rId10">
              <a:alphaModFix/>
            </a:blip>
            <a:stretch>
              <a:fillRect/>
            </a:stretch>
          </p:blipFill>
          <p:spPr>
            <a:xfrm>
              <a:off x="1619181" y="3376265"/>
              <a:ext cx="433402" cy="580200"/>
            </a:xfrm>
            <a:prstGeom prst="rect">
              <a:avLst/>
            </a:prstGeom>
            <a:noFill/>
            <a:ln>
              <a:noFill/>
            </a:ln>
          </p:spPr>
        </p:pic>
        <p:sp>
          <p:nvSpPr>
            <p:cNvPr id="642" name="Google Shape;642;p48"/>
            <p:cNvSpPr txBox="1"/>
            <p:nvPr/>
          </p:nvSpPr>
          <p:spPr>
            <a:xfrm>
              <a:off x="1521860" y="3662597"/>
              <a:ext cx="591900" cy="147000"/>
            </a:xfrm>
            <a:prstGeom prst="rect">
              <a:avLst/>
            </a:prstGeom>
            <a:solidFill>
              <a:schemeClr val="lt1"/>
            </a:solidFill>
            <a:ln>
              <a:noFill/>
            </a:ln>
          </p:spPr>
          <p:txBody>
            <a:bodyPr anchorCtr="0" anchor="ctr" bIns="66200" lIns="66200" spcFirstLastPara="1" rIns="66200" wrap="square" tIns="66200">
              <a:noAutofit/>
            </a:bodyPr>
            <a:lstStyle/>
            <a:p>
              <a:pPr indent="0" lvl="0" marL="0" rtl="0" algn="ctr">
                <a:spcBef>
                  <a:spcPts val="0"/>
                </a:spcBef>
                <a:spcAft>
                  <a:spcPts val="0"/>
                </a:spcAft>
                <a:buNone/>
              </a:pPr>
              <a:r>
                <a:rPr lang="en-US" sz="579">
                  <a:solidFill>
                    <a:schemeClr val="dk1"/>
                  </a:solidFill>
                  <a:latin typeface="Montserrat"/>
                  <a:ea typeface="Montserrat"/>
                  <a:cs typeface="Montserrat"/>
                  <a:sym typeface="Montserrat"/>
                </a:rPr>
                <a:t>Kaplan</a:t>
              </a:r>
              <a:endParaRPr sz="579">
                <a:solidFill>
                  <a:schemeClr val="dk1"/>
                </a:solidFill>
                <a:latin typeface="Montserrat"/>
                <a:ea typeface="Montserrat"/>
                <a:cs typeface="Montserrat"/>
                <a:sym typeface="Montserrat"/>
              </a:endParaRPr>
            </a:p>
          </p:txBody>
        </p:sp>
      </p:grpSp>
      <p:pic>
        <p:nvPicPr>
          <p:cNvPr id="643" name="Google Shape;643;p48"/>
          <p:cNvPicPr preferRelativeResize="0"/>
          <p:nvPr/>
        </p:nvPicPr>
        <p:blipFill>
          <a:blip r:embed="rId4">
            <a:alphaModFix/>
          </a:blip>
          <a:stretch>
            <a:fillRect/>
          </a:stretch>
        </p:blipFill>
        <p:spPr>
          <a:xfrm>
            <a:off x="6032474" y="2007932"/>
            <a:ext cx="278235" cy="269068"/>
          </a:xfrm>
          <a:prstGeom prst="rect">
            <a:avLst/>
          </a:prstGeom>
          <a:noFill/>
          <a:ln cap="flat" cmpd="sng" w="5125">
            <a:solidFill>
              <a:srgbClr val="FF9900"/>
            </a:solidFill>
            <a:prstDash val="solid"/>
            <a:round/>
            <a:headEnd len="sm" w="sm" type="none"/>
            <a:tailEnd len="sm" w="sm" type="none"/>
          </a:ln>
        </p:spPr>
      </p:pic>
      <p:pic>
        <p:nvPicPr>
          <p:cNvPr id="644" name="Google Shape;644;p48"/>
          <p:cNvPicPr preferRelativeResize="0"/>
          <p:nvPr/>
        </p:nvPicPr>
        <p:blipFill>
          <a:blip r:embed="rId11">
            <a:alphaModFix/>
          </a:blip>
          <a:stretch>
            <a:fillRect/>
          </a:stretch>
        </p:blipFill>
        <p:spPr>
          <a:xfrm>
            <a:off x="8067001" y="2003345"/>
            <a:ext cx="278242" cy="278242"/>
          </a:xfrm>
          <a:prstGeom prst="rect">
            <a:avLst/>
          </a:prstGeom>
          <a:noFill/>
          <a:ln cap="flat" cmpd="sng" w="5125">
            <a:solidFill>
              <a:srgbClr val="FF9900"/>
            </a:solidFill>
            <a:prstDash val="solid"/>
            <a:round/>
            <a:headEnd len="sm" w="sm" type="none"/>
            <a:tailEnd len="sm" w="sm" type="none"/>
          </a:ln>
        </p:spPr>
      </p:pic>
      <p:pic>
        <p:nvPicPr>
          <p:cNvPr id="645" name="Google Shape;645;p48"/>
          <p:cNvPicPr preferRelativeResize="0"/>
          <p:nvPr/>
        </p:nvPicPr>
        <p:blipFill>
          <a:blip r:embed="rId12">
            <a:alphaModFix/>
          </a:blip>
          <a:stretch>
            <a:fillRect/>
          </a:stretch>
        </p:blipFill>
        <p:spPr>
          <a:xfrm>
            <a:off x="6353092" y="1998021"/>
            <a:ext cx="318435" cy="288889"/>
          </a:xfrm>
          <a:prstGeom prst="rect">
            <a:avLst/>
          </a:prstGeom>
          <a:noFill/>
          <a:ln cap="flat" cmpd="sng" w="5125">
            <a:solidFill>
              <a:srgbClr val="FF9900"/>
            </a:solidFill>
            <a:prstDash val="solid"/>
            <a:round/>
            <a:headEnd len="sm" w="sm" type="none"/>
            <a:tailEnd len="sm" w="sm" type="none"/>
          </a:ln>
        </p:spPr>
      </p:pic>
      <p:pic>
        <p:nvPicPr>
          <p:cNvPr id="646" name="Google Shape;646;p48"/>
          <p:cNvPicPr preferRelativeResize="0"/>
          <p:nvPr/>
        </p:nvPicPr>
        <p:blipFill>
          <a:blip r:embed="rId13">
            <a:alphaModFix/>
          </a:blip>
          <a:stretch>
            <a:fillRect/>
          </a:stretch>
        </p:blipFill>
        <p:spPr>
          <a:xfrm>
            <a:off x="6713922" y="1999131"/>
            <a:ext cx="278242" cy="286669"/>
          </a:xfrm>
          <a:prstGeom prst="rect">
            <a:avLst/>
          </a:prstGeom>
          <a:noFill/>
          <a:ln cap="flat" cmpd="sng" w="5125">
            <a:solidFill>
              <a:srgbClr val="FF9900"/>
            </a:solidFill>
            <a:prstDash val="solid"/>
            <a:round/>
            <a:headEnd len="sm" w="sm" type="none"/>
            <a:tailEnd len="sm" w="sm" type="none"/>
          </a:ln>
        </p:spPr>
      </p:pic>
      <p:pic>
        <p:nvPicPr>
          <p:cNvPr id="647" name="Google Shape;647;p48"/>
          <p:cNvPicPr preferRelativeResize="0"/>
          <p:nvPr/>
        </p:nvPicPr>
        <p:blipFill>
          <a:blip r:embed="rId14">
            <a:alphaModFix/>
          </a:blip>
          <a:stretch>
            <a:fillRect/>
          </a:stretch>
        </p:blipFill>
        <p:spPr>
          <a:xfrm>
            <a:off x="7517763" y="1026737"/>
            <a:ext cx="591825" cy="648489"/>
          </a:xfrm>
          <a:prstGeom prst="rect">
            <a:avLst/>
          </a:prstGeom>
          <a:noFill/>
          <a:ln>
            <a:noFill/>
          </a:ln>
        </p:spPr>
      </p:pic>
      <p:sp>
        <p:nvSpPr>
          <p:cNvPr id="648" name="Google Shape;648;p48"/>
          <p:cNvSpPr txBox="1"/>
          <p:nvPr/>
        </p:nvSpPr>
        <p:spPr>
          <a:xfrm>
            <a:off x="7319425" y="1755925"/>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Record archive</a:t>
            </a:r>
            <a:endParaRPr sz="800">
              <a:solidFill>
                <a:schemeClr val="dk1"/>
              </a:solidFill>
              <a:latin typeface="Montserrat"/>
              <a:ea typeface="Montserrat"/>
              <a:cs typeface="Montserrat"/>
              <a:sym typeface="Montserrat"/>
            </a:endParaRPr>
          </a:p>
        </p:txBody>
      </p:sp>
      <p:pic>
        <p:nvPicPr>
          <p:cNvPr id="649" name="Google Shape;649;p48"/>
          <p:cNvPicPr preferRelativeResize="0"/>
          <p:nvPr/>
        </p:nvPicPr>
        <p:blipFill>
          <a:blip r:embed="rId15">
            <a:alphaModFix/>
          </a:blip>
          <a:stretch>
            <a:fillRect/>
          </a:stretch>
        </p:blipFill>
        <p:spPr>
          <a:xfrm>
            <a:off x="4562588" y="794983"/>
            <a:ext cx="890510" cy="269075"/>
          </a:xfrm>
          <a:prstGeom prst="rect">
            <a:avLst/>
          </a:prstGeom>
          <a:noFill/>
          <a:ln>
            <a:noFill/>
          </a:ln>
        </p:spPr>
      </p:pic>
      <p:pic>
        <p:nvPicPr>
          <p:cNvPr id="650" name="Google Shape;650;p48"/>
          <p:cNvPicPr preferRelativeResize="0"/>
          <p:nvPr/>
        </p:nvPicPr>
        <p:blipFill>
          <a:blip r:embed="rId3">
            <a:alphaModFix/>
          </a:blip>
          <a:stretch>
            <a:fillRect/>
          </a:stretch>
        </p:blipFill>
        <p:spPr>
          <a:xfrm>
            <a:off x="4658051" y="1100944"/>
            <a:ext cx="591825" cy="500075"/>
          </a:xfrm>
          <a:prstGeom prst="rect">
            <a:avLst/>
          </a:prstGeom>
          <a:noFill/>
          <a:ln>
            <a:noFill/>
          </a:ln>
        </p:spPr>
      </p:pic>
      <p:sp>
        <p:nvSpPr>
          <p:cNvPr id="651" name="Google Shape;651;p48"/>
          <p:cNvSpPr txBox="1"/>
          <p:nvPr/>
        </p:nvSpPr>
        <p:spPr>
          <a:xfrm>
            <a:off x="4335675" y="1743238"/>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Freshdesk - route</a:t>
            </a:r>
            <a:endParaRPr sz="800">
              <a:solidFill>
                <a:schemeClr val="dk1"/>
              </a:solidFill>
              <a:latin typeface="Montserrat"/>
              <a:ea typeface="Montserrat"/>
              <a:cs typeface="Montserrat"/>
              <a:sym typeface="Montserrat"/>
            </a:endParaRPr>
          </a:p>
        </p:txBody>
      </p:sp>
      <p:pic>
        <p:nvPicPr>
          <p:cNvPr id="652" name="Google Shape;652;p48"/>
          <p:cNvPicPr preferRelativeResize="0"/>
          <p:nvPr/>
        </p:nvPicPr>
        <p:blipFill>
          <a:blip r:embed="rId12">
            <a:alphaModFix/>
          </a:blip>
          <a:stretch>
            <a:fillRect/>
          </a:stretch>
        </p:blipFill>
        <p:spPr>
          <a:xfrm>
            <a:off x="4731467" y="1998021"/>
            <a:ext cx="318435" cy="288889"/>
          </a:xfrm>
          <a:prstGeom prst="rect">
            <a:avLst/>
          </a:prstGeom>
          <a:noFill/>
          <a:ln cap="flat" cmpd="sng" w="5125">
            <a:solidFill>
              <a:srgbClr val="FF9900"/>
            </a:solidFill>
            <a:prstDash val="solid"/>
            <a:round/>
            <a:headEnd len="sm" w="sm" type="none"/>
            <a:tailEnd len="sm" w="sm" type="none"/>
          </a:ln>
        </p:spPr>
      </p:pic>
      <p:pic>
        <p:nvPicPr>
          <p:cNvPr id="653" name="Google Shape;653;p48"/>
          <p:cNvPicPr preferRelativeResize="0"/>
          <p:nvPr/>
        </p:nvPicPr>
        <p:blipFill>
          <a:blip r:embed="rId16">
            <a:alphaModFix/>
          </a:blip>
          <a:stretch>
            <a:fillRect/>
          </a:stretch>
        </p:blipFill>
        <p:spPr>
          <a:xfrm>
            <a:off x="8363750" y="880805"/>
            <a:ext cx="278225" cy="271803"/>
          </a:xfrm>
          <a:prstGeom prst="rect">
            <a:avLst/>
          </a:prstGeom>
          <a:noFill/>
          <a:ln>
            <a:noFill/>
          </a:ln>
        </p:spPr>
      </p:pic>
      <p:pic>
        <p:nvPicPr>
          <p:cNvPr id="654" name="Google Shape;654;p48"/>
          <p:cNvPicPr preferRelativeResize="0"/>
          <p:nvPr/>
        </p:nvPicPr>
        <p:blipFill>
          <a:blip r:embed="rId17">
            <a:alphaModFix/>
          </a:blip>
          <a:stretch>
            <a:fillRect/>
          </a:stretch>
        </p:blipFill>
        <p:spPr>
          <a:xfrm>
            <a:off x="9046375" y="1203632"/>
            <a:ext cx="510150" cy="510150"/>
          </a:xfrm>
          <a:prstGeom prst="rect">
            <a:avLst/>
          </a:prstGeom>
          <a:noFill/>
          <a:ln>
            <a:noFill/>
          </a:ln>
        </p:spPr>
      </p:pic>
      <p:sp>
        <p:nvSpPr>
          <p:cNvPr id="655" name="Google Shape;655;p48"/>
          <p:cNvSpPr txBox="1"/>
          <p:nvPr/>
        </p:nvSpPr>
        <p:spPr>
          <a:xfrm>
            <a:off x="8711063" y="1755925"/>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Upload</a:t>
            </a:r>
            <a:endParaRPr sz="8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800">
                <a:solidFill>
                  <a:schemeClr val="dk1"/>
                </a:solidFill>
                <a:latin typeface="Montserrat"/>
                <a:ea typeface="Montserrat"/>
                <a:cs typeface="Montserrat"/>
                <a:sym typeface="Montserrat"/>
              </a:rPr>
              <a:t>Chicago drive</a:t>
            </a:r>
            <a:endParaRPr sz="800">
              <a:solidFill>
                <a:schemeClr val="dk1"/>
              </a:solidFill>
              <a:latin typeface="Montserrat"/>
              <a:ea typeface="Montserrat"/>
              <a:cs typeface="Montserrat"/>
              <a:sym typeface="Montserrat"/>
            </a:endParaRPr>
          </a:p>
        </p:txBody>
      </p:sp>
      <p:pic>
        <p:nvPicPr>
          <p:cNvPr id="656" name="Google Shape;656;p48"/>
          <p:cNvPicPr preferRelativeResize="0"/>
          <p:nvPr/>
        </p:nvPicPr>
        <p:blipFill>
          <a:blip r:embed="rId11">
            <a:alphaModFix/>
          </a:blip>
          <a:stretch>
            <a:fillRect/>
          </a:stretch>
        </p:blipFill>
        <p:spPr>
          <a:xfrm>
            <a:off x="5732551" y="2003345"/>
            <a:ext cx="278242" cy="278242"/>
          </a:xfrm>
          <a:prstGeom prst="rect">
            <a:avLst/>
          </a:prstGeom>
          <a:noFill/>
          <a:ln cap="flat" cmpd="sng" w="5125">
            <a:solidFill>
              <a:srgbClr val="FF9900"/>
            </a:solidFill>
            <a:prstDash val="solid"/>
            <a:round/>
            <a:headEnd len="sm" w="sm" type="none"/>
            <a:tailEnd len="sm" w="sm" type="none"/>
          </a:ln>
        </p:spPr>
      </p:pic>
      <p:pic>
        <p:nvPicPr>
          <p:cNvPr id="657" name="Google Shape;657;p48"/>
          <p:cNvPicPr preferRelativeResize="0"/>
          <p:nvPr/>
        </p:nvPicPr>
        <p:blipFill>
          <a:blip r:embed="rId16">
            <a:alphaModFix/>
          </a:blip>
          <a:stretch>
            <a:fillRect/>
          </a:stretch>
        </p:blipFill>
        <p:spPr>
          <a:xfrm rot="10800000">
            <a:off x="7156688" y="921768"/>
            <a:ext cx="278225" cy="271803"/>
          </a:xfrm>
          <a:prstGeom prst="rect">
            <a:avLst/>
          </a:prstGeom>
          <a:noFill/>
          <a:ln>
            <a:noFill/>
          </a:ln>
        </p:spPr>
      </p:pic>
      <p:pic>
        <p:nvPicPr>
          <p:cNvPr id="658" name="Google Shape;658;p48"/>
          <p:cNvPicPr preferRelativeResize="0"/>
          <p:nvPr/>
        </p:nvPicPr>
        <p:blipFill>
          <a:blip r:embed="rId11">
            <a:alphaModFix/>
          </a:blip>
          <a:stretch>
            <a:fillRect/>
          </a:stretch>
        </p:blipFill>
        <p:spPr>
          <a:xfrm>
            <a:off x="9190251" y="2012908"/>
            <a:ext cx="278242" cy="278242"/>
          </a:xfrm>
          <a:prstGeom prst="rect">
            <a:avLst/>
          </a:prstGeom>
          <a:noFill/>
          <a:ln cap="flat" cmpd="sng" w="5125">
            <a:solidFill>
              <a:srgbClr val="FF9900"/>
            </a:solidFill>
            <a:prstDash val="solid"/>
            <a:round/>
            <a:headEnd len="sm" w="sm" type="none"/>
            <a:tailEnd len="sm" w="sm" type="none"/>
          </a:ln>
        </p:spPr>
      </p:pic>
      <p:pic>
        <p:nvPicPr>
          <p:cNvPr id="659" name="Google Shape;659;p48"/>
          <p:cNvPicPr preferRelativeResize="0"/>
          <p:nvPr/>
        </p:nvPicPr>
        <p:blipFill>
          <a:blip r:embed="rId18">
            <a:alphaModFix/>
          </a:blip>
          <a:stretch>
            <a:fillRect/>
          </a:stretch>
        </p:blipFill>
        <p:spPr>
          <a:xfrm>
            <a:off x="10589163" y="1224700"/>
            <a:ext cx="318425" cy="467988"/>
          </a:xfrm>
          <a:prstGeom prst="rect">
            <a:avLst/>
          </a:prstGeom>
          <a:noFill/>
          <a:ln>
            <a:noFill/>
          </a:ln>
        </p:spPr>
      </p:pic>
      <p:sp>
        <p:nvSpPr>
          <p:cNvPr id="660" name="Google Shape;660;p48"/>
          <p:cNvSpPr txBox="1"/>
          <p:nvPr/>
        </p:nvSpPr>
        <p:spPr>
          <a:xfrm>
            <a:off x="10192300" y="1768300"/>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DMS-8069 - </a:t>
            </a:r>
            <a:r>
              <a:rPr b="1" lang="en-US" sz="800">
                <a:solidFill>
                  <a:srgbClr val="980000"/>
                </a:solidFill>
                <a:latin typeface="Montserrat"/>
                <a:ea typeface="Montserrat"/>
                <a:cs typeface="Montserrat"/>
                <a:sym typeface="Montserrat"/>
              </a:rPr>
              <a:t>?</a:t>
            </a:r>
            <a:endParaRPr b="1" sz="800">
              <a:solidFill>
                <a:srgbClr val="980000"/>
              </a:solidFill>
              <a:latin typeface="Montserrat"/>
              <a:ea typeface="Montserrat"/>
              <a:cs typeface="Montserrat"/>
              <a:sym typeface="Montserrat"/>
            </a:endParaRPr>
          </a:p>
        </p:txBody>
      </p:sp>
      <p:grpSp>
        <p:nvGrpSpPr>
          <p:cNvPr id="661" name="Google Shape;661;p48"/>
          <p:cNvGrpSpPr/>
          <p:nvPr/>
        </p:nvGrpSpPr>
        <p:grpSpPr>
          <a:xfrm>
            <a:off x="10486544" y="506380"/>
            <a:ext cx="510097" cy="510778"/>
            <a:chOff x="5782500" y="3114675"/>
            <a:chExt cx="1236600" cy="1238250"/>
          </a:xfrm>
        </p:grpSpPr>
        <p:pic>
          <p:nvPicPr>
            <p:cNvPr id="662" name="Google Shape;662;p48"/>
            <p:cNvPicPr preferRelativeResize="0"/>
            <p:nvPr/>
          </p:nvPicPr>
          <p:blipFill>
            <a:blip r:embed="rId19">
              <a:alphaModFix/>
            </a:blip>
            <a:stretch>
              <a:fillRect/>
            </a:stretch>
          </p:blipFill>
          <p:spPr>
            <a:xfrm>
              <a:off x="5786438" y="3114675"/>
              <a:ext cx="1228725" cy="1238250"/>
            </a:xfrm>
            <a:prstGeom prst="rect">
              <a:avLst/>
            </a:prstGeom>
            <a:noFill/>
            <a:ln>
              <a:noFill/>
            </a:ln>
          </p:spPr>
        </p:pic>
        <p:sp>
          <p:nvSpPr>
            <p:cNvPr id="663" name="Google Shape;663;p48"/>
            <p:cNvSpPr txBox="1"/>
            <p:nvPr/>
          </p:nvSpPr>
          <p:spPr>
            <a:xfrm>
              <a:off x="5782500" y="3625650"/>
              <a:ext cx="1236600" cy="216300"/>
            </a:xfrm>
            <a:prstGeom prst="rect">
              <a:avLst/>
            </a:prstGeom>
            <a:noFill/>
            <a:ln>
              <a:noFill/>
            </a:ln>
          </p:spPr>
          <p:txBody>
            <a:bodyPr anchorCtr="0" anchor="ctr" bIns="37725" lIns="37725" spcFirstLastPara="1" rIns="37725" wrap="square" tIns="37725">
              <a:noAutofit/>
            </a:bodyPr>
            <a:lstStyle/>
            <a:p>
              <a:pPr indent="0" lvl="0" marL="0" rtl="0" algn="ctr">
                <a:spcBef>
                  <a:spcPts val="0"/>
                </a:spcBef>
                <a:spcAft>
                  <a:spcPts val="0"/>
                </a:spcAft>
                <a:buNone/>
              </a:pPr>
              <a:r>
                <a:rPr lang="en-US" sz="577">
                  <a:solidFill>
                    <a:schemeClr val="dk1"/>
                  </a:solidFill>
                  <a:latin typeface="Montserrat"/>
                  <a:ea typeface="Montserrat"/>
                  <a:cs typeface="Montserrat"/>
                  <a:sym typeface="Montserrat"/>
                </a:rPr>
                <a:t>Orcanos</a:t>
              </a:r>
              <a:endParaRPr sz="577">
                <a:solidFill>
                  <a:schemeClr val="dk1"/>
                </a:solidFill>
                <a:latin typeface="Montserrat"/>
                <a:ea typeface="Montserrat"/>
                <a:cs typeface="Montserrat"/>
                <a:sym typeface="Montserrat"/>
              </a:endParaRPr>
            </a:p>
          </p:txBody>
        </p:sp>
      </p:grpSp>
      <p:pic>
        <p:nvPicPr>
          <p:cNvPr id="664" name="Google Shape;664;p48"/>
          <p:cNvPicPr preferRelativeResize="0"/>
          <p:nvPr/>
        </p:nvPicPr>
        <p:blipFill>
          <a:blip r:embed="rId20">
            <a:alphaModFix/>
          </a:blip>
          <a:stretch>
            <a:fillRect/>
          </a:stretch>
        </p:blipFill>
        <p:spPr>
          <a:xfrm>
            <a:off x="11457850" y="171800"/>
            <a:ext cx="428625" cy="457200"/>
          </a:xfrm>
          <a:prstGeom prst="rect">
            <a:avLst/>
          </a:prstGeom>
          <a:noFill/>
          <a:ln>
            <a:noFill/>
          </a:ln>
        </p:spPr>
      </p:pic>
      <p:sp>
        <p:nvSpPr>
          <p:cNvPr id="665" name="Google Shape;665;p48"/>
          <p:cNvSpPr/>
          <p:nvPr/>
        </p:nvSpPr>
        <p:spPr>
          <a:xfrm>
            <a:off x="574200" y="2792313"/>
            <a:ext cx="11043600" cy="126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66" name="Google Shape;666;p48"/>
          <p:cNvSpPr/>
          <p:nvPr/>
        </p:nvSpPr>
        <p:spPr>
          <a:xfrm>
            <a:off x="895013" y="3783317"/>
            <a:ext cx="2678700" cy="2060100"/>
          </a:xfrm>
          <a:prstGeom prst="triangle">
            <a:avLst>
              <a:gd fmla="val 50000" name="adj"/>
            </a:avLst>
          </a:prstGeom>
          <a:solidFill>
            <a:srgbClr val="AAAAAA"/>
          </a:solidFill>
          <a:ln>
            <a:noFill/>
          </a:ln>
        </p:spPr>
        <p:txBody>
          <a:bodyPr anchorCtr="0" anchor="ctr" bIns="94200" lIns="94200" spcFirstLastPara="1" rIns="94200" wrap="square" tIns="94200">
            <a:noAutofit/>
          </a:bodyPr>
          <a:lstStyle/>
          <a:p>
            <a:pPr indent="0" lvl="0" marL="0" rtl="0" algn="l">
              <a:spcBef>
                <a:spcPts val="0"/>
              </a:spcBef>
              <a:spcAft>
                <a:spcPts val="0"/>
              </a:spcAft>
              <a:buNone/>
            </a:pPr>
            <a:r>
              <a:t/>
            </a:r>
            <a:endParaRPr/>
          </a:p>
        </p:txBody>
      </p:sp>
      <p:sp>
        <p:nvSpPr>
          <p:cNvPr id="667" name="Google Shape;667;p48"/>
          <p:cNvSpPr txBox="1"/>
          <p:nvPr/>
        </p:nvSpPr>
        <p:spPr>
          <a:xfrm>
            <a:off x="1490525" y="4547500"/>
            <a:ext cx="1487700" cy="433200"/>
          </a:xfrm>
          <a:prstGeom prst="rect">
            <a:avLst/>
          </a:prstGeom>
          <a:noFill/>
          <a:ln>
            <a:noFill/>
          </a:ln>
        </p:spPr>
        <p:txBody>
          <a:bodyPr anchorCtr="0" anchor="ctr" bIns="94200" lIns="94200" spcFirstLastPara="1" rIns="94200" wrap="square" tIns="94200">
            <a:noAutofit/>
          </a:bodyPr>
          <a:lstStyle/>
          <a:p>
            <a:pPr indent="0" lvl="0" marL="0" rtl="0" algn="ctr">
              <a:lnSpc>
                <a:spcPct val="115000"/>
              </a:lnSpc>
              <a:spcBef>
                <a:spcPts val="0"/>
              </a:spcBef>
              <a:spcAft>
                <a:spcPts val="0"/>
              </a:spcAft>
              <a:buNone/>
            </a:pPr>
            <a:r>
              <a:rPr b="1" lang="en-US" sz="2136">
                <a:solidFill>
                  <a:srgbClr val="980000"/>
                </a:solidFill>
                <a:latin typeface="Roboto"/>
                <a:ea typeface="Roboto"/>
                <a:cs typeface="Roboto"/>
                <a:sym typeface="Roboto"/>
              </a:rPr>
              <a:t>Risk</a:t>
            </a:r>
            <a:endParaRPr b="1" sz="2136">
              <a:solidFill>
                <a:srgbClr val="9900FF"/>
              </a:solidFill>
              <a:latin typeface="Roboto"/>
              <a:ea typeface="Roboto"/>
              <a:cs typeface="Roboto"/>
              <a:sym typeface="Roboto"/>
            </a:endParaRPr>
          </a:p>
        </p:txBody>
      </p:sp>
      <p:sp>
        <p:nvSpPr>
          <p:cNvPr id="668" name="Google Shape;668;p48"/>
          <p:cNvSpPr/>
          <p:nvPr/>
        </p:nvSpPr>
        <p:spPr>
          <a:xfrm>
            <a:off x="3277292" y="5531637"/>
            <a:ext cx="582600" cy="582900"/>
          </a:xfrm>
          <a:prstGeom prst="ellipse">
            <a:avLst/>
          </a:prstGeom>
          <a:solidFill>
            <a:srgbClr val="0000FF"/>
          </a:solidFill>
          <a:ln>
            <a:noFill/>
          </a:ln>
          <a:effectLst>
            <a:outerShdw blurRad="58899" rotWithShape="0" algn="bl" dir="5400000" dist="19633">
              <a:srgbClr val="212121">
                <a:alpha val="38000"/>
              </a:srgbClr>
            </a:outerShdw>
          </a:effectLst>
        </p:spPr>
        <p:txBody>
          <a:bodyPr anchorCtr="0" anchor="ctr" bIns="94200" lIns="94200" spcFirstLastPara="1" rIns="94200" wrap="square" tIns="94200">
            <a:noAutofit/>
          </a:bodyPr>
          <a:lstStyle/>
          <a:p>
            <a:pPr indent="0" lvl="0" marL="0" rtl="0" algn="ctr">
              <a:spcBef>
                <a:spcPts val="0"/>
              </a:spcBef>
              <a:spcAft>
                <a:spcPts val="0"/>
              </a:spcAft>
              <a:buNone/>
            </a:pPr>
            <a:r>
              <a:rPr lang="en-US" sz="1236">
                <a:solidFill>
                  <a:srgbClr val="FFFFFF"/>
                </a:solidFill>
                <a:latin typeface="Roboto Medium"/>
                <a:ea typeface="Roboto Medium"/>
                <a:cs typeface="Roboto Medium"/>
                <a:sym typeface="Roboto Medium"/>
              </a:rPr>
              <a:t>03</a:t>
            </a:r>
            <a:endParaRPr sz="1236">
              <a:solidFill>
                <a:srgbClr val="FFFFFF"/>
              </a:solidFill>
              <a:latin typeface="Roboto Medium"/>
              <a:ea typeface="Roboto Medium"/>
              <a:cs typeface="Roboto Medium"/>
              <a:sym typeface="Roboto Medium"/>
            </a:endParaRPr>
          </a:p>
        </p:txBody>
      </p:sp>
      <p:grpSp>
        <p:nvGrpSpPr>
          <p:cNvPr id="669" name="Google Shape;669;p48"/>
          <p:cNvGrpSpPr/>
          <p:nvPr/>
        </p:nvGrpSpPr>
        <p:grpSpPr>
          <a:xfrm>
            <a:off x="544087" y="3830001"/>
            <a:ext cx="1397184" cy="2284440"/>
            <a:chOff x="2930682" y="1508613"/>
            <a:chExt cx="1355700" cy="2216612"/>
          </a:xfrm>
        </p:grpSpPr>
        <p:sp>
          <p:nvSpPr>
            <p:cNvPr id="670" name="Google Shape;670;p48"/>
            <p:cNvSpPr txBox="1"/>
            <p:nvPr/>
          </p:nvSpPr>
          <p:spPr>
            <a:xfrm rot="-3428440">
              <a:off x="2776394" y="2084581"/>
              <a:ext cx="1664276" cy="539463"/>
            </a:xfrm>
            <a:prstGeom prst="rect">
              <a:avLst/>
            </a:prstGeom>
            <a:noFill/>
            <a:ln>
              <a:noFill/>
            </a:ln>
          </p:spPr>
          <p:txBody>
            <a:bodyPr anchorCtr="0" anchor="t" bIns="94200" lIns="94200" spcFirstLastPara="1" rIns="94200" wrap="square" tIns="94200">
              <a:noAutofit/>
            </a:bodyPr>
            <a:lstStyle/>
            <a:p>
              <a:pPr indent="0" lvl="0" marL="0" rtl="0" algn="l">
                <a:lnSpc>
                  <a:spcPct val="115000"/>
                </a:lnSpc>
                <a:spcBef>
                  <a:spcPts val="0"/>
                </a:spcBef>
                <a:spcAft>
                  <a:spcPts val="0"/>
                </a:spcAft>
                <a:buNone/>
              </a:pPr>
              <a:r>
                <a:rPr b="1" lang="en-US" sz="1350">
                  <a:solidFill>
                    <a:srgbClr val="0000FF"/>
                  </a:solidFill>
                  <a:latin typeface="Roboto"/>
                  <a:ea typeface="Roboto"/>
                  <a:cs typeface="Roboto"/>
                  <a:sym typeface="Roboto"/>
                </a:rPr>
                <a:t>Master Validation Plan</a:t>
              </a:r>
              <a:endParaRPr sz="1350">
                <a:solidFill>
                  <a:srgbClr val="0000FF"/>
                </a:solidFill>
              </a:endParaRPr>
            </a:p>
          </p:txBody>
        </p:sp>
        <p:sp>
          <p:nvSpPr>
            <p:cNvPr id="671" name="Google Shape;671;p48"/>
            <p:cNvSpPr/>
            <p:nvPr/>
          </p:nvSpPr>
          <p:spPr>
            <a:xfrm>
              <a:off x="3058183" y="3159725"/>
              <a:ext cx="565200" cy="565500"/>
            </a:xfrm>
            <a:prstGeom prst="ellipse">
              <a:avLst/>
            </a:prstGeom>
            <a:solidFill>
              <a:srgbClr val="9900FF"/>
            </a:solidFill>
            <a:ln>
              <a:noFill/>
            </a:ln>
            <a:effectLst>
              <a:outerShdw blurRad="58899" rotWithShape="0" algn="bl" dir="5400000" dist="19633">
                <a:srgbClr val="212121">
                  <a:alpha val="38000"/>
                </a:srgbClr>
              </a:outerShdw>
            </a:effectLst>
          </p:spPr>
          <p:txBody>
            <a:bodyPr anchorCtr="0" anchor="ctr" bIns="94200" lIns="94200" spcFirstLastPara="1" rIns="94200" wrap="square" tIns="94200">
              <a:noAutofit/>
            </a:bodyPr>
            <a:lstStyle/>
            <a:p>
              <a:pPr indent="0" lvl="0" marL="0" rtl="0" algn="ctr">
                <a:spcBef>
                  <a:spcPts val="0"/>
                </a:spcBef>
                <a:spcAft>
                  <a:spcPts val="0"/>
                </a:spcAft>
                <a:buNone/>
              </a:pPr>
              <a:r>
                <a:rPr lang="en-US" sz="1236">
                  <a:solidFill>
                    <a:srgbClr val="FFFFFF"/>
                  </a:solidFill>
                  <a:latin typeface="Roboto Medium"/>
                  <a:ea typeface="Roboto Medium"/>
                  <a:cs typeface="Roboto Medium"/>
                  <a:sym typeface="Roboto Medium"/>
                </a:rPr>
                <a:t>02</a:t>
              </a:r>
              <a:endParaRPr sz="1236">
                <a:solidFill>
                  <a:srgbClr val="FFFFFF"/>
                </a:solidFill>
                <a:latin typeface="Roboto Medium"/>
                <a:ea typeface="Roboto Medium"/>
                <a:cs typeface="Roboto Medium"/>
                <a:sym typeface="Roboto Medium"/>
              </a:endParaRPr>
            </a:p>
          </p:txBody>
        </p:sp>
      </p:grpSp>
      <p:grpSp>
        <p:nvGrpSpPr>
          <p:cNvPr id="672" name="Google Shape;672;p48"/>
          <p:cNvGrpSpPr/>
          <p:nvPr/>
        </p:nvGrpSpPr>
        <p:grpSpPr>
          <a:xfrm>
            <a:off x="1943669" y="3509986"/>
            <a:ext cx="1920956" cy="1971673"/>
            <a:chOff x="4288708" y="1198100"/>
            <a:chExt cx="1863920" cy="1913131"/>
          </a:xfrm>
        </p:grpSpPr>
        <p:sp>
          <p:nvSpPr>
            <p:cNvPr id="673" name="Google Shape;673;p48"/>
            <p:cNvSpPr/>
            <p:nvPr/>
          </p:nvSpPr>
          <p:spPr>
            <a:xfrm>
              <a:off x="4288708" y="1198100"/>
              <a:ext cx="565200" cy="565500"/>
            </a:xfrm>
            <a:prstGeom prst="ellipse">
              <a:avLst/>
            </a:prstGeom>
            <a:solidFill>
              <a:srgbClr val="980000"/>
            </a:solidFill>
            <a:ln>
              <a:noFill/>
            </a:ln>
            <a:effectLst>
              <a:outerShdw blurRad="58899" rotWithShape="0" algn="bl" dir="5400000" dist="19633">
                <a:srgbClr val="212121">
                  <a:alpha val="38000"/>
                </a:srgbClr>
              </a:outerShdw>
            </a:effectLst>
          </p:spPr>
          <p:txBody>
            <a:bodyPr anchorCtr="0" anchor="ctr" bIns="94200" lIns="94200" spcFirstLastPara="1" rIns="94200" wrap="square" tIns="94200">
              <a:noAutofit/>
            </a:bodyPr>
            <a:lstStyle/>
            <a:p>
              <a:pPr indent="0" lvl="0" marL="0" rtl="0" algn="ctr">
                <a:spcBef>
                  <a:spcPts val="0"/>
                </a:spcBef>
                <a:spcAft>
                  <a:spcPts val="0"/>
                </a:spcAft>
                <a:buNone/>
              </a:pPr>
              <a:r>
                <a:rPr lang="en-US" sz="1236">
                  <a:solidFill>
                    <a:srgbClr val="FFFFFF"/>
                  </a:solidFill>
                  <a:latin typeface="Roboto Medium"/>
                  <a:ea typeface="Roboto Medium"/>
                  <a:cs typeface="Roboto Medium"/>
                  <a:sym typeface="Roboto Medium"/>
                </a:rPr>
                <a:t>01</a:t>
              </a:r>
              <a:endParaRPr sz="1236">
                <a:solidFill>
                  <a:srgbClr val="FFFFFF"/>
                </a:solidFill>
                <a:latin typeface="Roboto Medium"/>
                <a:ea typeface="Roboto Medium"/>
                <a:cs typeface="Roboto Medium"/>
                <a:sym typeface="Roboto Medium"/>
              </a:endParaRPr>
            </a:p>
          </p:txBody>
        </p:sp>
        <p:sp>
          <p:nvSpPr>
            <p:cNvPr id="674" name="Google Shape;674;p48"/>
            <p:cNvSpPr txBox="1"/>
            <p:nvPr/>
          </p:nvSpPr>
          <p:spPr>
            <a:xfrm rot="3420634">
              <a:off x="4633340" y="1992084"/>
              <a:ext cx="1673878" cy="540293"/>
            </a:xfrm>
            <a:prstGeom prst="rect">
              <a:avLst/>
            </a:prstGeom>
            <a:noFill/>
            <a:ln>
              <a:noFill/>
            </a:ln>
          </p:spPr>
          <p:txBody>
            <a:bodyPr anchorCtr="0" anchor="t" bIns="94200" lIns="94200" spcFirstLastPara="1" rIns="94200" wrap="square" tIns="94200">
              <a:noAutofit/>
            </a:bodyPr>
            <a:lstStyle/>
            <a:p>
              <a:pPr indent="0" lvl="0" marL="0" rtl="0" algn="l">
                <a:lnSpc>
                  <a:spcPct val="115000"/>
                </a:lnSpc>
                <a:spcBef>
                  <a:spcPts val="0"/>
                </a:spcBef>
                <a:spcAft>
                  <a:spcPts val="0"/>
                </a:spcAft>
                <a:buNone/>
              </a:pPr>
              <a:r>
                <a:rPr b="1" lang="en-US" sz="1350">
                  <a:solidFill>
                    <a:srgbClr val="38761D"/>
                  </a:solidFill>
                  <a:latin typeface="Roboto"/>
                  <a:ea typeface="Roboto"/>
                  <a:cs typeface="Roboto"/>
                  <a:sym typeface="Roboto"/>
                </a:rPr>
                <a:t>Validation Summary Report</a:t>
              </a:r>
              <a:endParaRPr sz="1350">
                <a:solidFill>
                  <a:srgbClr val="38761D"/>
                </a:solidFill>
              </a:endParaRPr>
            </a:p>
          </p:txBody>
        </p:sp>
      </p:grpSp>
      <p:sp>
        <p:nvSpPr>
          <p:cNvPr id="675" name="Google Shape;675;p48"/>
          <p:cNvSpPr txBox="1"/>
          <p:nvPr/>
        </p:nvSpPr>
        <p:spPr>
          <a:xfrm rot="-1196">
            <a:off x="1341850" y="5504507"/>
            <a:ext cx="1725000" cy="336000"/>
          </a:xfrm>
          <a:prstGeom prst="rect">
            <a:avLst/>
          </a:prstGeom>
          <a:noFill/>
          <a:ln>
            <a:noFill/>
          </a:ln>
        </p:spPr>
        <p:txBody>
          <a:bodyPr anchorCtr="0" anchor="t" bIns="94200" lIns="94200" spcFirstLastPara="1" rIns="94200" wrap="square" tIns="94200">
            <a:noAutofit/>
          </a:bodyPr>
          <a:lstStyle/>
          <a:p>
            <a:pPr indent="0" lvl="0" marL="0" rtl="0" algn="ctr">
              <a:lnSpc>
                <a:spcPct val="115000"/>
              </a:lnSpc>
              <a:spcBef>
                <a:spcPts val="0"/>
              </a:spcBef>
              <a:spcAft>
                <a:spcPts val="0"/>
              </a:spcAft>
              <a:buNone/>
            </a:pPr>
            <a:r>
              <a:rPr b="1" lang="en-US" sz="1350">
                <a:solidFill>
                  <a:srgbClr val="771E86"/>
                </a:solidFill>
                <a:latin typeface="Roboto"/>
                <a:ea typeface="Roboto"/>
                <a:cs typeface="Roboto"/>
                <a:sym typeface="Roboto"/>
              </a:rPr>
              <a:t>Quality Plan</a:t>
            </a:r>
            <a:endParaRPr sz="1350">
              <a:solidFill>
                <a:srgbClr val="771E86"/>
              </a:solidFill>
            </a:endParaRPr>
          </a:p>
        </p:txBody>
      </p:sp>
      <p:sp>
        <p:nvSpPr>
          <p:cNvPr id="676" name="Google Shape;676;p48"/>
          <p:cNvSpPr txBox="1"/>
          <p:nvPr/>
        </p:nvSpPr>
        <p:spPr>
          <a:xfrm>
            <a:off x="385475" y="2823125"/>
            <a:ext cx="23088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dk1"/>
                </a:solidFill>
                <a:latin typeface="Montserrat"/>
                <a:ea typeface="Montserrat"/>
                <a:cs typeface="Montserrat"/>
                <a:sym typeface="Montserrat"/>
              </a:rPr>
              <a:t>Impv Process</a:t>
            </a:r>
            <a:endParaRPr b="1" sz="1600">
              <a:solidFill>
                <a:schemeClr val="dk1"/>
              </a:solidFill>
              <a:latin typeface="Montserrat"/>
              <a:ea typeface="Montserrat"/>
              <a:cs typeface="Montserrat"/>
              <a:sym typeface="Montserrat"/>
            </a:endParaRPr>
          </a:p>
        </p:txBody>
      </p:sp>
      <p:pic>
        <p:nvPicPr>
          <p:cNvPr id="677" name="Google Shape;677;p48"/>
          <p:cNvPicPr preferRelativeResize="0"/>
          <p:nvPr/>
        </p:nvPicPr>
        <p:blipFill>
          <a:blip r:embed="rId6">
            <a:alphaModFix/>
          </a:blip>
          <a:stretch>
            <a:fillRect/>
          </a:stretch>
        </p:blipFill>
        <p:spPr>
          <a:xfrm rot="3258365">
            <a:off x="3363625" y="5070550"/>
            <a:ext cx="278250" cy="355300"/>
          </a:xfrm>
          <a:prstGeom prst="rect">
            <a:avLst/>
          </a:prstGeom>
          <a:noFill/>
          <a:ln>
            <a:noFill/>
          </a:ln>
        </p:spPr>
      </p:pic>
      <p:pic>
        <p:nvPicPr>
          <p:cNvPr id="678" name="Google Shape;678;p48"/>
          <p:cNvPicPr preferRelativeResize="0"/>
          <p:nvPr/>
        </p:nvPicPr>
        <p:blipFill>
          <a:blip r:embed="rId6">
            <a:alphaModFix/>
          </a:blip>
          <a:stretch>
            <a:fillRect/>
          </a:stretch>
        </p:blipFill>
        <p:spPr>
          <a:xfrm rot="-3271471">
            <a:off x="1577175" y="3911200"/>
            <a:ext cx="278250" cy="355300"/>
          </a:xfrm>
          <a:prstGeom prst="rect">
            <a:avLst/>
          </a:prstGeom>
          <a:noFill/>
          <a:ln>
            <a:noFill/>
          </a:ln>
        </p:spPr>
      </p:pic>
      <p:pic>
        <p:nvPicPr>
          <p:cNvPr id="679" name="Google Shape;679;p48"/>
          <p:cNvPicPr preferRelativeResize="0"/>
          <p:nvPr/>
        </p:nvPicPr>
        <p:blipFill>
          <a:blip r:embed="rId6">
            <a:alphaModFix/>
          </a:blip>
          <a:stretch>
            <a:fillRect/>
          </a:stretch>
        </p:blipFill>
        <p:spPr>
          <a:xfrm rot="-4">
            <a:off x="2095250" y="4156500"/>
            <a:ext cx="278250" cy="355300"/>
          </a:xfrm>
          <a:prstGeom prst="rect">
            <a:avLst/>
          </a:prstGeom>
          <a:noFill/>
          <a:ln>
            <a:noFill/>
          </a:ln>
        </p:spPr>
      </p:pic>
      <p:pic>
        <p:nvPicPr>
          <p:cNvPr id="680" name="Google Shape;680;p48"/>
          <p:cNvPicPr preferRelativeResize="0"/>
          <p:nvPr/>
        </p:nvPicPr>
        <p:blipFill>
          <a:blip r:embed="rId6">
            <a:alphaModFix/>
          </a:blip>
          <a:stretch>
            <a:fillRect/>
          </a:stretch>
        </p:blipFill>
        <p:spPr>
          <a:xfrm rot="-4">
            <a:off x="2095250" y="5214725"/>
            <a:ext cx="278250" cy="355300"/>
          </a:xfrm>
          <a:prstGeom prst="rect">
            <a:avLst/>
          </a:prstGeom>
          <a:noFill/>
          <a:ln>
            <a:noFill/>
          </a:ln>
        </p:spPr>
      </p:pic>
      <p:sp>
        <p:nvSpPr>
          <p:cNvPr id="625" name="Google Shape;625;p48"/>
          <p:cNvSpPr/>
          <p:nvPr/>
        </p:nvSpPr>
        <p:spPr>
          <a:xfrm>
            <a:off x="5814725" y="3101600"/>
            <a:ext cx="5585100" cy="416100"/>
          </a:xfrm>
          <a:prstGeom prst="rightArrow">
            <a:avLst>
              <a:gd fmla="val 50000" name="adj1"/>
              <a:gd fmla="val 50000" name="adj2"/>
            </a:avLst>
          </a:prstGeom>
          <a:solidFill>
            <a:schemeClr val="lt2"/>
          </a:solidFill>
          <a:ln>
            <a:noFill/>
          </a:ln>
        </p:spPr>
        <p:txBody>
          <a:bodyPr anchorCtr="0" anchor="ctr" bIns="76050" lIns="76050" spcFirstLastPara="1" rIns="76050" wrap="square" tIns="76050">
            <a:noAutofit/>
          </a:bodyPr>
          <a:lstStyle/>
          <a:p>
            <a:pPr indent="0" lvl="0" marL="0" rtl="0" algn="ctr">
              <a:spcBef>
                <a:spcPts val="0"/>
              </a:spcBef>
              <a:spcAft>
                <a:spcPts val="0"/>
              </a:spcAft>
              <a:buNone/>
            </a:pPr>
            <a:r>
              <a:t/>
            </a:r>
            <a:endParaRPr sz="1164">
              <a:latin typeface="Montserrat"/>
              <a:ea typeface="Montserrat"/>
              <a:cs typeface="Montserrat"/>
              <a:sym typeface="Montserrat"/>
            </a:endParaRPr>
          </a:p>
        </p:txBody>
      </p:sp>
      <p:pic>
        <p:nvPicPr>
          <p:cNvPr id="681" name="Google Shape;681;p48"/>
          <p:cNvPicPr preferRelativeResize="0"/>
          <p:nvPr/>
        </p:nvPicPr>
        <p:blipFill>
          <a:blip r:embed="rId3">
            <a:alphaModFix/>
          </a:blip>
          <a:stretch>
            <a:fillRect/>
          </a:stretch>
        </p:blipFill>
        <p:spPr>
          <a:xfrm>
            <a:off x="6082897" y="3064477"/>
            <a:ext cx="492358" cy="416028"/>
          </a:xfrm>
          <a:prstGeom prst="rect">
            <a:avLst/>
          </a:prstGeom>
          <a:noFill/>
          <a:ln>
            <a:noFill/>
          </a:ln>
        </p:spPr>
      </p:pic>
      <p:sp>
        <p:nvSpPr>
          <p:cNvPr id="682" name="Google Shape;682;p48"/>
          <p:cNvSpPr txBox="1"/>
          <p:nvPr/>
        </p:nvSpPr>
        <p:spPr>
          <a:xfrm>
            <a:off x="5814723" y="3502623"/>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Freshdesk - TPL</a:t>
            </a:r>
            <a:endParaRPr sz="665">
              <a:solidFill>
                <a:schemeClr val="dk1"/>
              </a:solidFill>
              <a:latin typeface="Montserrat"/>
              <a:ea typeface="Montserrat"/>
              <a:cs typeface="Montserrat"/>
              <a:sym typeface="Montserrat"/>
            </a:endParaRPr>
          </a:p>
        </p:txBody>
      </p:sp>
      <p:pic>
        <p:nvPicPr>
          <p:cNvPr id="683" name="Google Shape;683;p48"/>
          <p:cNvPicPr preferRelativeResize="0"/>
          <p:nvPr/>
        </p:nvPicPr>
        <p:blipFill>
          <a:blip r:embed="rId12">
            <a:alphaModFix/>
          </a:blip>
          <a:stretch>
            <a:fillRect/>
          </a:stretch>
        </p:blipFill>
        <p:spPr>
          <a:xfrm>
            <a:off x="6196616" y="3668539"/>
            <a:ext cx="264916" cy="240336"/>
          </a:xfrm>
          <a:prstGeom prst="rect">
            <a:avLst/>
          </a:prstGeom>
          <a:noFill/>
          <a:ln cap="flat" cmpd="sng" w="4275">
            <a:solidFill>
              <a:srgbClr val="FF9900"/>
            </a:solidFill>
            <a:prstDash val="solid"/>
            <a:round/>
            <a:headEnd len="sm" w="sm" type="none"/>
            <a:tailEnd len="sm" w="sm" type="none"/>
          </a:ln>
        </p:spPr>
      </p:pic>
      <p:pic>
        <p:nvPicPr>
          <p:cNvPr id="684" name="Google Shape;684;p48"/>
          <p:cNvPicPr preferRelativeResize="0"/>
          <p:nvPr/>
        </p:nvPicPr>
        <p:blipFill>
          <a:blip r:embed="rId6">
            <a:alphaModFix/>
          </a:blip>
          <a:stretch>
            <a:fillRect/>
          </a:stretch>
        </p:blipFill>
        <p:spPr>
          <a:xfrm>
            <a:off x="6872747" y="3030105"/>
            <a:ext cx="378010" cy="482687"/>
          </a:xfrm>
          <a:prstGeom prst="rect">
            <a:avLst/>
          </a:prstGeom>
          <a:noFill/>
          <a:ln>
            <a:noFill/>
          </a:ln>
        </p:spPr>
      </p:pic>
      <p:sp>
        <p:nvSpPr>
          <p:cNvPr id="685" name="Google Shape;685;p48"/>
          <p:cNvSpPr txBox="1"/>
          <p:nvPr/>
        </p:nvSpPr>
        <p:spPr>
          <a:xfrm>
            <a:off x="6628351" y="3502629"/>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New DMS#</a:t>
            </a:r>
            <a:endParaRPr sz="665">
              <a:solidFill>
                <a:schemeClr val="dk1"/>
              </a:solidFill>
              <a:latin typeface="Montserrat"/>
              <a:ea typeface="Montserrat"/>
              <a:cs typeface="Montserrat"/>
              <a:sym typeface="Montserrat"/>
            </a:endParaRPr>
          </a:p>
        </p:txBody>
      </p:sp>
      <p:pic>
        <p:nvPicPr>
          <p:cNvPr id="686" name="Google Shape;686;p48"/>
          <p:cNvPicPr preferRelativeResize="0"/>
          <p:nvPr/>
        </p:nvPicPr>
        <p:blipFill>
          <a:blip r:embed="rId4">
            <a:alphaModFix/>
          </a:blip>
          <a:stretch>
            <a:fillRect/>
          </a:stretch>
        </p:blipFill>
        <p:spPr>
          <a:xfrm>
            <a:off x="7822244" y="3775615"/>
            <a:ext cx="231473" cy="223846"/>
          </a:xfrm>
          <a:prstGeom prst="rect">
            <a:avLst/>
          </a:prstGeom>
          <a:noFill/>
          <a:ln cap="flat" cmpd="sng" w="4275">
            <a:solidFill>
              <a:srgbClr val="FF9900"/>
            </a:solidFill>
            <a:prstDash val="solid"/>
            <a:round/>
            <a:headEnd len="sm" w="sm" type="none"/>
            <a:tailEnd len="sm" w="sm" type="none"/>
          </a:ln>
        </p:spPr>
      </p:pic>
      <p:grpSp>
        <p:nvGrpSpPr>
          <p:cNvPr id="687" name="Google Shape;687;p48"/>
          <p:cNvGrpSpPr/>
          <p:nvPr/>
        </p:nvGrpSpPr>
        <p:grpSpPr>
          <a:xfrm>
            <a:off x="7634196" y="2890118"/>
            <a:ext cx="607088" cy="694622"/>
            <a:chOff x="5072300" y="915026"/>
            <a:chExt cx="849075" cy="971499"/>
          </a:xfrm>
        </p:grpSpPr>
        <p:pic>
          <p:nvPicPr>
            <p:cNvPr id="688" name="Google Shape;688;p48"/>
            <p:cNvPicPr preferRelativeResize="0"/>
            <p:nvPr/>
          </p:nvPicPr>
          <p:blipFill>
            <a:blip r:embed="rId7">
              <a:alphaModFix/>
            </a:blip>
            <a:stretch>
              <a:fillRect/>
            </a:stretch>
          </p:blipFill>
          <p:spPr>
            <a:xfrm>
              <a:off x="5072300" y="1183725"/>
              <a:ext cx="849075" cy="702800"/>
            </a:xfrm>
            <a:prstGeom prst="rect">
              <a:avLst/>
            </a:prstGeom>
            <a:noFill/>
            <a:ln>
              <a:noFill/>
            </a:ln>
          </p:spPr>
        </p:pic>
        <p:pic>
          <p:nvPicPr>
            <p:cNvPr id="689" name="Google Shape;689;p48"/>
            <p:cNvPicPr preferRelativeResize="0"/>
            <p:nvPr/>
          </p:nvPicPr>
          <p:blipFill>
            <a:blip r:embed="rId8">
              <a:alphaModFix/>
            </a:blip>
            <a:stretch>
              <a:fillRect/>
            </a:stretch>
          </p:blipFill>
          <p:spPr>
            <a:xfrm>
              <a:off x="5233686" y="915026"/>
              <a:ext cx="526318" cy="237950"/>
            </a:xfrm>
            <a:prstGeom prst="rect">
              <a:avLst/>
            </a:prstGeom>
            <a:noFill/>
            <a:ln>
              <a:noFill/>
            </a:ln>
          </p:spPr>
        </p:pic>
      </p:grpSp>
      <p:sp>
        <p:nvSpPr>
          <p:cNvPr id="690" name="Google Shape;690;p48"/>
          <p:cNvSpPr txBox="1"/>
          <p:nvPr/>
        </p:nvSpPr>
        <p:spPr>
          <a:xfrm>
            <a:off x="7423591" y="3584824"/>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Testing</a:t>
            </a:r>
            <a:endParaRPr sz="665">
              <a:solidFill>
                <a:schemeClr val="dk1"/>
              </a:solidFill>
              <a:latin typeface="Montserrat"/>
              <a:ea typeface="Montserrat"/>
              <a:cs typeface="Montserrat"/>
              <a:sym typeface="Montserrat"/>
            </a:endParaRPr>
          </a:p>
        </p:txBody>
      </p:sp>
      <p:pic>
        <p:nvPicPr>
          <p:cNvPr id="691" name="Google Shape;691;p48"/>
          <p:cNvPicPr preferRelativeResize="0"/>
          <p:nvPr/>
        </p:nvPicPr>
        <p:blipFill>
          <a:blip r:embed="rId3">
            <a:alphaModFix/>
          </a:blip>
          <a:stretch>
            <a:fillRect/>
          </a:stretch>
        </p:blipFill>
        <p:spPr>
          <a:xfrm>
            <a:off x="8594514" y="3064471"/>
            <a:ext cx="492358" cy="416028"/>
          </a:xfrm>
          <a:prstGeom prst="rect">
            <a:avLst/>
          </a:prstGeom>
          <a:noFill/>
          <a:ln>
            <a:noFill/>
          </a:ln>
        </p:spPr>
      </p:pic>
      <p:sp>
        <p:nvSpPr>
          <p:cNvPr id="692" name="Google Shape;692;p48"/>
          <p:cNvSpPr txBox="1"/>
          <p:nvPr/>
        </p:nvSpPr>
        <p:spPr>
          <a:xfrm>
            <a:off x="8326319" y="3556834"/>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Freshdesk - route</a:t>
            </a:r>
            <a:endParaRPr sz="665">
              <a:solidFill>
                <a:schemeClr val="dk1"/>
              </a:solidFill>
              <a:latin typeface="Montserrat"/>
              <a:ea typeface="Montserrat"/>
              <a:cs typeface="Montserrat"/>
              <a:sym typeface="Montserrat"/>
            </a:endParaRPr>
          </a:p>
        </p:txBody>
      </p:sp>
      <p:pic>
        <p:nvPicPr>
          <p:cNvPr id="693" name="Google Shape;693;p48"/>
          <p:cNvPicPr preferRelativeResize="0"/>
          <p:nvPr/>
        </p:nvPicPr>
        <p:blipFill>
          <a:blip r:embed="rId12">
            <a:alphaModFix/>
          </a:blip>
          <a:stretch>
            <a:fillRect/>
          </a:stretch>
        </p:blipFill>
        <p:spPr>
          <a:xfrm>
            <a:off x="8731090" y="3759108"/>
            <a:ext cx="264916" cy="240336"/>
          </a:xfrm>
          <a:prstGeom prst="rect">
            <a:avLst/>
          </a:prstGeom>
          <a:noFill/>
          <a:ln cap="flat" cmpd="sng" w="4275">
            <a:solidFill>
              <a:srgbClr val="FF9900"/>
            </a:solidFill>
            <a:prstDash val="solid"/>
            <a:round/>
            <a:headEnd len="sm" w="sm" type="none"/>
            <a:tailEnd len="sm" w="sm" type="none"/>
          </a:ln>
        </p:spPr>
      </p:pic>
      <p:grpSp>
        <p:nvGrpSpPr>
          <p:cNvPr id="694" name="Google Shape;694;p48"/>
          <p:cNvGrpSpPr/>
          <p:nvPr/>
        </p:nvGrpSpPr>
        <p:grpSpPr>
          <a:xfrm>
            <a:off x="10388082" y="3097165"/>
            <a:ext cx="424401" cy="424967"/>
            <a:chOff x="5782500" y="3114675"/>
            <a:chExt cx="1236600" cy="1238250"/>
          </a:xfrm>
        </p:grpSpPr>
        <p:pic>
          <p:nvPicPr>
            <p:cNvPr id="695" name="Google Shape;695;p48"/>
            <p:cNvPicPr preferRelativeResize="0"/>
            <p:nvPr/>
          </p:nvPicPr>
          <p:blipFill>
            <a:blip r:embed="rId19">
              <a:alphaModFix/>
            </a:blip>
            <a:stretch>
              <a:fillRect/>
            </a:stretch>
          </p:blipFill>
          <p:spPr>
            <a:xfrm>
              <a:off x="5786438" y="3114675"/>
              <a:ext cx="1228725" cy="1238250"/>
            </a:xfrm>
            <a:prstGeom prst="rect">
              <a:avLst/>
            </a:prstGeom>
            <a:noFill/>
            <a:ln>
              <a:noFill/>
            </a:ln>
          </p:spPr>
        </p:pic>
        <p:sp>
          <p:nvSpPr>
            <p:cNvPr id="696" name="Google Shape;696;p48"/>
            <p:cNvSpPr txBox="1"/>
            <p:nvPr/>
          </p:nvSpPr>
          <p:spPr>
            <a:xfrm>
              <a:off x="5782500" y="3625650"/>
              <a:ext cx="1236600" cy="216300"/>
            </a:xfrm>
            <a:prstGeom prst="rect">
              <a:avLst/>
            </a:prstGeom>
            <a:noFill/>
            <a:ln>
              <a:noFill/>
            </a:ln>
          </p:spPr>
          <p:txBody>
            <a:bodyPr anchorCtr="0" anchor="ctr" bIns="31375" lIns="31375" spcFirstLastPara="1" rIns="31375" wrap="square" tIns="31375">
              <a:noAutofit/>
            </a:bodyPr>
            <a:lstStyle/>
            <a:p>
              <a:pPr indent="0" lvl="0" marL="0" rtl="0" algn="ctr">
                <a:spcBef>
                  <a:spcPts val="0"/>
                </a:spcBef>
                <a:spcAft>
                  <a:spcPts val="0"/>
                </a:spcAft>
                <a:buNone/>
              </a:pPr>
              <a:r>
                <a:rPr lang="en-US" sz="480">
                  <a:solidFill>
                    <a:schemeClr val="dk1"/>
                  </a:solidFill>
                  <a:latin typeface="Montserrat"/>
                  <a:ea typeface="Montserrat"/>
                  <a:cs typeface="Montserrat"/>
                  <a:sym typeface="Montserrat"/>
                </a:rPr>
                <a:t>Orcanos</a:t>
              </a:r>
              <a:endParaRPr sz="480">
                <a:solidFill>
                  <a:schemeClr val="dk1"/>
                </a:solidFill>
                <a:latin typeface="Montserrat"/>
                <a:ea typeface="Montserrat"/>
                <a:cs typeface="Montserrat"/>
                <a:sym typeface="Montserrat"/>
              </a:endParaRPr>
            </a:p>
          </p:txBody>
        </p:sp>
      </p:grpSp>
      <p:pic>
        <p:nvPicPr>
          <p:cNvPr id="697" name="Google Shape;697;p48"/>
          <p:cNvPicPr preferRelativeResize="0"/>
          <p:nvPr/>
        </p:nvPicPr>
        <p:blipFill>
          <a:blip r:embed="rId9">
            <a:alphaModFix/>
          </a:blip>
          <a:stretch>
            <a:fillRect/>
          </a:stretch>
        </p:blipFill>
        <p:spPr>
          <a:xfrm>
            <a:off x="9459475" y="2949611"/>
            <a:ext cx="556001" cy="556001"/>
          </a:xfrm>
          <a:prstGeom prst="rect">
            <a:avLst/>
          </a:prstGeom>
          <a:noFill/>
          <a:ln>
            <a:noFill/>
          </a:ln>
        </p:spPr>
      </p:pic>
      <p:sp>
        <p:nvSpPr>
          <p:cNvPr id="698" name="Google Shape;698;p48"/>
          <p:cNvSpPr txBox="1"/>
          <p:nvPr/>
        </p:nvSpPr>
        <p:spPr>
          <a:xfrm>
            <a:off x="9327947" y="3572743"/>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Approval</a:t>
            </a:r>
            <a:endParaRPr sz="665">
              <a:solidFill>
                <a:schemeClr val="dk1"/>
              </a:solidFill>
              <a:latin typeface="Montserrat"/>
              <a:ea typeface="Montserrat"/>
              <a:cs typeface="Montserrat"/>
              <a:sym typeface="Montserrat"/>
            </a:endParaRPr>
          </a:p>
        </p:txBody>
      </p:sp>
      <p:pic>
        <p:nvPicPr>
          <p:cNvPr id="699" name="Google Shape;699;p48"/>
          <p:cNvPicPr preferRelativeResize="0"/>
          <p:nvPr/>
        </p:nvPicPr>
        <p:blipFill>
          <a:blip r:embed="rId4">
            <a:alphaModFix/>
          </a:blip>
          <a:stretch>
            <a:fillRect/>
          </a:stretch>
        </p:blipFill>
        <p:spPr>
          <a:xfrm>
            <a:off x="9436391" y="3828061"/>
            <a:ext cx="231473" cy="223846"/>
          </a:xfrm>
          <a:prstGeom prst="rect">
            <a:avLst/>
          </a:prstGeom>
          <a:noFill/>
          <a:ln cap="flat" cmpd="sng" w="4275">
            <a:solidFill>
              <a:srgbClr val="FF9900"/>
            </a:solidFill>
            <a:prstDash val="solid"/>
            <a:round/>
            <a:headEnd len="sm" w="sm" type="none"/>
            <a:tailEnd len="sm" w="sm" type="none"/>
          </a:ln>
        </p:spPr>
      </p:pic>
      <p:pic>
        <p:nvPicPr>
          <p:cNvPr id="700" name="Google Shape;700;p48"/>
          <p:cNvPicPr preferRelativeResize="0"/>
          <p:nvPr/>
        </p:nvPicPr>
        <p:blipFill>
          <a:blip r:embed="rId12">
            <a:alphaModFix/>
          </a:blip>
          <a:stretch>
            <a:fillRect/>
          </a:stretch>
        </p:blipFill>
        <p:spPr>
          <a:xfrm>
            <a:off x="9731564" y="3819827"/>
            <a:ext cx="264916" cy="240336"/>
          </a:xfrm>
          <a:prstGeom prst="rect">
            <a:avLst/>
          </a:prstGeom>
          <a:noFill/>
          <a:ln cap="flat" cmpd="sng" w="4275">
            <a:solidFill>
              <a:srgbClr val="FF9900"/>
            </a:solidFill>
            <a:prstDash val="solid"/>
            <a:round/>
            <a:headEnd len="sm" w="sm" type="none"/>
            <a:tailEnd len="sm" w="sm" type="none"/>
          </a:ln>
        </p:spPr>
      </p:pic>
      <p:pic>
        <p:nvPicPr>
          <p:cNvPr id="701" name="Google Shape;701;p48"/>
          <p:cNvPicPr preferRelativeResize="0"/>
          <p:nvPr/>
        </p:nvPicPr>
        <p:blipFill>
          <a:blip r:embed="rId11">
            <a:alphaModFix/>
          </a:blip>
          <a:stretch>
            <a:fillRect/>
          </a:stretch>
        </p:blipFill>
        <p:spPr>
          <a:xfrm>
            <a:off x="10060195" y="3816351"/>
            <a:ext cx="231478" cy="231478"/>
          </a:xfrm>
          <a:prstGeom prst="rect">
            <a:avLst/>
          </a:prstGeom>
          <a:noFill/>
          <a:ln cap="flat" cmpd="sng" w="4275">
            <a:solidFill>
              <a:srgbClr val="FF9900"/>
            </a:solidFill>
            <a:prstDash val="solid"/>
            <a:round/>
            <a:headEnd len="sm" w="sm" type="none"/>
            <a:tailEnd len="sm" w="sm" type="none"/>
          </a:ln>
        </p:spPr>
      </p:pic>
      <p:sp>
        <p:nvSpPr>
          <p:cNvPr id="702" name="Google Shape;702;p48"/>
          <p:cNvSpPr txBox="1"/>
          <p:nvPr/>
        </p:nvSpPr>
        <p:spPr>
          <a:xfrm>
            <a:off x="7229375" y="4127238"/>
            <a:ext cx="2547000" cy="2403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200">
                <a:solidFill>
                  <a:schemeClr val="dk1"/>
                </a:solidFill>
                <a:latin typeface="Montserrat"/>
                <a:ea typeface="Montserrat"/>
                <a:cs typeface="Montserrat"/>
                <a:sym typeface="Montserrat"/>
              </a:rPr>
              <a:t>Repeat for each high risk test</a:t>
            </a:r>
            <a:endParaRPr i="1" sz="1200">
              <a:solidFill>
                <a:schemeClr val="dk1"/>
              </a:solidFill>
              <a:latin typeface="Montserrat"/>
              <a:ea typeface="Montserrat"/>
              <a:cs typeface="Montserrat"/>
              <a:sym typeface="Montserrat"/>
            </a:endParaRPr>
          </a:p>
        </p:txBody>
      </p:sp>
      <p:grpSp>
        <p:nvGrpSpPr>
          <p:cNvPr id="703" name="Google Shape;703;p48"/>
          <p:cNvGrpSpPr/>
          <p:nvPr/>
        </p:nvGrpSpPr>
        <p:grpSpPr>
          <a:xfrm>
            <a:off x="7667600" y="5205525"/>
            <a:ext cx="2146128" cy="1371537"/>
            <a:chOff x="5661075" y="4928363"/>
            <a:chExt cx="2146128" cy="1371537"/>
          </a:xfrm>
        </p:grpSpPr>
        <p:sp>
          <p:nvSpPr>
            <p:cNvPr id="704" name="Google Shape;704;p48"/>
            <p:cNvSpPr/>
            <p:nvPr/>
          </p:nvSpPr>
          <p:spPr>
            <a:xfrm>
              <a:off x="5661075" y="5483300"/>
              <a:ext cx="1920900" cy="8166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grpSp>
          <p:nvGrpSpPr>
            <p:cNvPr id="705" name="Google Shape;705;p48"/>
            <p:cNvGrpSpPr/>
            <p:nvPr/>
          </p:nvGrpSpPr>
          <p:grpSpPr>
            <a:xfrm>
              <a:off x="5708511" y="4928363"/>
              <a:ext cx="2098693" cy="1328840"/>
              <a:chOff x="9483551" y="4788430"/>
              <a:chExt cx="1662067" cy="1052380"/>
            </a:xfrm>
          </p:grpSpPr>
          <p:pic>
            <p:nvPicPr>
              <p:cNvPr id="706" name="Google Shape;706;p48"/>
              <p:cNvPicPr preferRelativeResize="0"/>
              <p:nvPr/>
            </p:nvPicPr>
            <p:blipFill>
              <a:blip r:embed="rId15">
                <a:alphaModFix/>
              </a:blip>
              <a:stretch>
                <a:fillRect/>
              </a:stretch>
            </p:blipFill>
            <p:spPr>
              <a:xfrm>
                <a:off x="9924950" y="5284805"/>
                <a:ext cx="553336" cy="167195"/>
              </a:xfrm>
              <a:prstGeom prst="rect">
                <a:avLst/>
              </a:prstGeom>
              <a:noFill/>
              <a:ln>
                <a:noFill/>
              </a:ln>
            </p:spPr>
          </p:pic>
          <p:sp>
            <p:nvSpPr>
              <p:cNvPr id="707" name="Google Shape;707;p48"/>
              <p:cNvSpPr txBox="1"/>
              <p:nvPr/>
            </p:nvSpPr>
            <p:spPr>
              <a:xfrm rot="-1196">
                <a:off x="9857216" y="5424712"/>
                <a:ext cx="1288403" cy="415874"/>
              </a:xfrm>
              <a:prstGeom prst="rect">
                <a:avLst/>
              </a:prstGeom>
              <a:noFill/>
              <a:ln>
                <a:noFill/>
              </a:ln>
            </p:spPr>
            <p:txBody>
              <a:bodyPr anchorCtr="0" anchor="t" bIns="88825" lIns="88825" spcFirstLastPara="1" rIns="88825" wrap="square" tIns="88825">
                <a:noAutofit/>
              </a:bodyPr>
              <a:lstStyle/>
              <a:p>
                <a:pPr indent="0" lvl="0" marL="0" rtl="0" algn="l">
                  <a:lnSpc>
                    <a:spcPct val="115000"/>
                  </a:lnSpc>
                  <a:spcBef>
                    <a:spcPts val="0"/>
                  </a:spcBef>
                  <a:spcAft>
                    <a:spcPts val="0"/>
                  </a:spcAft>
                  <a:buNone/>
                </a:pPr>
                <a:r>
                  <a:rPr b="1" lang="en-US" sz="1273">
                    <a:solidFill>
                      <a:srgbClr val="38761D"/>
                    </a:solidFill>
                    <a:latin typeface="Roboto"/>
                    <a:ea typeface="Roboto"/>
                    <a:cs typeface="Roboto"/>
                    <a:sym typeface="Roboto"/>
                  </a:rPr>
                  <a:t>Validation Summary Report</a:t>
                </a:r>
                <a:endParaRPr sz="1273">
                  <a:solidFill>
                    <a:srgbClr val="38761D"/>
                  </a:solidFill>
                </a:endParaRPr>
              </a:p>
            </p:txBody>
          </p:sp>
          <p:grpSp>
            <p:nvGrpSpPr>
              <p:cNvPr id="708" name="Google Shape;708;p48"/>
              <p:cNvGrpSpPr/>
              <p:nvPr/>
            </p:nvGrpSpPr>
            <p:grpSpPr>
              <a:xfrm>
                <a:off x="9483551" y="5327143"/>
                <a:ext cx="399902" cy="478010"/>
                <a:chOff x="9540211" y="5522823"/>
                <a:chExt cx="535415" cy="639992"/>
              </a:xfrm>
            </p:grpSpPr>
            <p:pic>
              <p:nvPicPr>
                <p:cNvPr id="709" name="Google Shape;709;p48"/>
                <p:cNvPicPr preferRelativeResize="0"/>
                <p:nvPr/>
              </p:nvPicPr>
              <p:blipFill>
                <a:blip r:embed="rId10">
                  <a:alphaModFix/>
                </a:blip>
                <a:stretch>
                  <a:fillRect/>
                </a:stretch>
              </p:blipFill>
              <p:spPr>
                <a:xfrm>
                  <a:off x="9540211" y="5522823"/>
                  <a:ext cx="478046" cy="639992"/>
                </a:xfrm>
                <a:prstGeom prst="rect">
                  <a:avLst/>
                </a:prstGeom>
                <a:noFill/>
                <a:ln>
                  <a:noFill/>
                </a:ln>
              </p:spPr>
            </p:pic>
            <p:sp>
              <p:nvSpPr>
                <p:cNvPr id="710" name="Google Shape;710;p48"/>
                <p:cNvSpPr txBox="1"/>
                <p:nvPr/>
              </p:nvSpPr>
              <p:spPr>
                <a:xfrm>
                  <a:off x="9553626" y="5815097"/>
                  <a:ext cx="522000" cy="190800"/>
                </a:xfrm>
                <a:prstGeom prst="rect">
                  <a:avLst/>
                </a:prstGeom>
                <a:solidFill>
                  <a:schemeClr val="lt1"/>
                </a:solidFill>
                <a:ln>
                  <a:noFill/>
                </a:ln>
              </p:spPr>
              <p:txBody>
                <a:bodyPr anchorCtr="0" anchor="ctr" bIns="62450" lIns="62450" spcFirstLastPara="1" rIns="62450" wrap="square" tIns="62450">
                  <a:noAutofit/>
                </a:bodyPr>
                <a:lstStyle/>
                <a:p>
                  <a:pPr indent="0" lvl="0" marL="0" rtl="0" algn="ctr">
                    <a:spcBef>
                      <a:spcPts val="0"/>
                    </a:spcBef>
                    <a:spcAft>
                      <a:spcPts val="0"/>
                    </a:spcAft>
                    <a:buNone/>
                  </a:pPr>
                  <a:r>
                    <a:rPr lang="en-US" sz="746">
                      <a:solidFill>
                        <a:schemeClr val="dk1"/>
                      </a:solidFill>
                      <a:latin typeface="Montserrat"/>
                      <a:ea typeface="Montserrat"/>
                      <a:cs typeface="Montserrat"/>
                      <a:sym typeface="Montserrat"/>
                    </a:rPr>
                    <a:t>Kaplan</a:t>
                  </a:r>
                  <a:endParaRPr sz="746">
                    <a:solidFill>
                      <a:schemeClr val="dk1"/>
                    </a:solidFill>
                    <a:latin typeface="Montserrat"/>
                    <a:ea typeface="Montserrat"/>
                    <a:cs typeface="Montserrat"/>
                    <a:sym typeface="Montserrat"/>
                  </a:endParaRPr>
                </a:p>
              </p:txBody>
            </p:sp>
          </p:grpSp>
          <p:pic>
            <p:nvPicPr>
              <p:cNvPr id="711" name="Google Shape;711;p48"/>
              <p:cNvPicPr preferRelativeResize="0"/>
              <p:nvPr/>
            </p:nvPicPr>
            <p:blipFill>
              <a:blip r:embed="rId3">
                <a:alphaModFix/>
              </a:blip>
              <a:stretch>
                <a:fillRect/>
              </a:stretch>
            </p:blipFill>
            <p:spPr>
              <a:xfrm>
                <a:off x="9975843" y="4788430"/>
                <a:ext cx="367742" cy="310731"/>
              </a:xfrm>
              <a:prstGeom prst="rect">
                <a:avLst/>
              </a:prstGeom>
              <a:noFill/>
              <a:ln>
                <a:noFill/>
              </a:ln>
            </p:spPr>
          </p:pic>
          <p:pic>
            <p:nvPicPr>
              <p:cNvPr id="712" name="Google Shape;712;p48"/>
              <p:cNvPicPr preferRelativeResize="0"/>
              <p:nvPr/>
            </p:nvPicPr>
            <p:blipFill>
              <a:blip r:embed="rId14">
                <a:alphaModFix/>
              </a:blip>
              <a:stretch>
                <a:fillRect/>
              </a:stretch>
            </p:blipFill>
            <p:spPr>
              <a:xfrm>
                <a:off x="10562649" y="5266176"/>
                <a:ext cx="357052" cy="391245"/>
              </a:xfrm>
              <a:prstGeom prst="rect">
                <a:avLst/>
              </a:prstGeom>
              <a:noFill/>
              <a:ln>
                <a:noFill/>
              </a:ln>
            </p:spPr>
          </p:pic>
        </p:grpSp>
      </p:grpSp>
      <p:sp>
        <p:nvSpPr>
          <p:cNvPr id="713" name="Google Shape;713;p48"/>
          <p:cNvSpPr txBox="1"/>
          <p:nvPr/>
        </p:nvSpPr>
        <p:spPr>
          <a:xfrm>
            <a:off x="8272875" y="4614975"/>
            <a:ext cx="591900" cy="28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1x</a:t>
            </a:r>
            <a:endParaRPr sz="1600">
              <a:solidFill>
                <a:schemeClr val="dk1"/>
              </a:solidFill>
              <a:latin typeface="Montserrat"/>
              <a:ea typeface="Montserrat"/>
              <a:cs typeface="Montserrat"/>
              <a:sym typeface="Montserrat"/>
            </a:endParaRPr>
          </a:p>
        </p:txBody>
      </p:sp>
      <p:grpSp>
        <p:nvGrpSpPr>
          <p:cNvPr id="714" name="Google Shape;714;p48"/>
          <p:cNvGrpSpPr/>
          <p:nvPr/>
        </p:nvGrpSpPr>
        <p:grpSpPr>
          <a:xfrm>
            <a:off x="10073600" y="4064025"/>
            <a:ext cx="1796400" cy="1804500"/>
            <a:chOff x="10055900" y="3962225"/>
            <a:chExt cx="1796400" cy="1804500"/>
          </a:xfrm>
        </p:grpSpPr>
        <p:sp>
          <p:nvSpPr>
            <p:cNvPr id="715" name="Google Shape;715;p48"/>
            <p:cNvSpPr/>
            <p:nvPr/>
          </p:nvSpPr>
          <p:spPr>
            <a:xfrm rot="7916461">
              <a:off x="10290241" y="4253409"/>
              <a:ext cx="1327717" cy="1222132"/>
            </a:xfrm>
            <a:prstGeom prst="wedgeEllipseCallout">
              <a:avLst>
                <a:gd fmla="val -20833" name="adj1"/>
                <a:gd fmla="val 62500" name="adj2"/>
              </a:avLst>
            </a:prstGeom>
            <a:no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16" name="Google Shape;716;p48"/>
            <p:cNvSpPr txBox="1"/>
            <p:nvPr/>
          </p:nvSpPr>
          <p:spPr>
            <a:xfrm>
              <a:off x="10328750" y="4509200"/>
              <a:ext cx="1303500" cy="83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800">
                  <a:solidFill>
                    <a:srgbClr val="980000"/>
                  </a:solidFill>
                  <a:latin typeface="Montserrat"/>
                  <a:ea typeface="Montserrat"/>
                  <a:cs typeface="Montserrat"/>
                  <a:sym typeface="Montserrat"/>
                </a:rPr>
                <a:t>Reduced by 4 steps! </a:t>
              </a:r>
              <a:endParaRPr b="1" sz="800">
                <a:solidFill>
                  <a:srgbClr val="980000"/>
                </a:solidFill>
                <a:latin typeface="Montserrat"/>
                <a:ea typeface="Montserrat"/>
                <a:cs typeface="Montserrat"/>
                <a:sym typeface="Montserrat"/>
              </a:endParaRPr>
            </a:p>
            <a:p>
              <a:pPr indent="0" lvl="0" marL="0" rtl="0" algn="ctr">
                <a:spcBef>
                  <a:spcPts val="0"/>
                </a:spcBef>
                <a:spcAft>
                  <a:spcPts val="0"/>
                </a:spcAft>
                <a:buNone/>
              </a:pPr>
              <a:r>
                <a:rPr b="1" lang="en-US" sz="800">
                  <a:solidFill>
                    <a:srgbClr val="980000"/>
                  </a:solidFill>
                  <a:latin typeface="Montserrat"/>
                  <a:ea typeface="Montserrat"/>
                  <a:cs typeface="Montserrat"/>
                  <a:sym typeface="Montserrat"/>
                </a:rPr>
                <a:t>Further reduce Dr. Kaplan’s signature each rotation!</a:t>
              </a:r>
              <a:r>
                <a:rPr lang="en-US" sz="700">
                  <a:solidFill>
                    <a:srgbClr val="980000"/>
                  </a:solidFill>
                  <a:latin typeface="Montserrat"/>
                  <a:ea typeface="Montserrat"/>
                  <a:cs typeface="Montserrat"/>
                  <a:sym typeface="Montserrat"/>
                </a:rPr>
                <a:t> </a:t>
              </a:r>
              <a:endParaRPr sz="700">
                <a:solidFill>
                  <a:srgbClr val="980000"/>
                </a:solidFill>
                <a:latin typeface="Montserrat"/>
                <a:ea typeface="Montserrat"/>
                <a:cs typeface="Montserrat"/>
                <a:sym typeface="Montserrat"/>
              </a:endParaRPr>
            </a:p>
            <a:p>
              <a:pPr indent="0" lvl="0" marL="0" rtl="0" algn="ctr">
                <a:spcBef>
                  <a:spcPts val="0"/>
                </a:spcBef>
                <a:spcAft>
                  <a:spcPts val="0"/>
                </a:spcAft>
                <a:buNone/>
              </a:pPr>
              <a:r>
                <a:rPr lang="en-US" sz="700">
                  <a:solidFill>
                    <a:srgbClr val="980000"/>
                  </a:solidFill>
                  <a:latin typeface="Montserrat"/>
                  <a:ea typeface="Montserrat"/>
                  <a:cs typeface="Montserrat"/>
                  <a:sym typeface="Montserrat"/>
                </a:rPr>
                <a:t>Reduce to (4) people </a:t>
              </a:r>
              <a:endParaRPr sz="700">
                <a:solidFill>
                  <a:srgbClr val="980000"/>
                </a:solidFill>
                <a:latin typeface="Montserrat"/>
                <a:ea typeface="Montserrat"/>
                <a:cs typeface="Montserrat"/>
                <a:sym typeface="Montserrat"/>
              </a:endParaRPr>
            </a:p>
            <a:p>
              <a:pPr indent="0" lvl="0" marL="0" rtl="0" algn="ctr">
                <a:spcBef>
                  <a:spcPts val="0"/>
                </a:spcBef>
                <a:spcAft>
                  <a:spcPts val="0"/>
                </a:spcAft>
                <a:buNone/>
              </a:pPr>
              <a:r>
                <a:rPr lang="en-US" sz="700">
                  <a:solidFill>
                    <a:srgbClr val="980000"/>
                  </a:solidFill>
                  <a:latin typeface="Montserrat"/>
                  <a:ea typeface="Montserrat"/>
                  <a:cs typeface="Montserrat"/>
                  <a:sym typeface="Montserrat"/>
                </a:rPr>
                <a:t>for test cycles</a:t>
              </a:r>
              <a:endParaRPr sz="700">
                <a:solidFill>
                  <a:srgbClr val="980000"/>
                </a:solidFill>
                <a:latin typeface="Montserrat"/>
                <a:ea typeface="Montserrat"/>
                <a:cs typeface="Montserrat"/>
                <a:sym typeface="Montserrat"/>
              </a:endParaRPr>
            </a:p>
          </p:txBody>
        </p:sp>
      </p:grpSp>
      <p:grpSp>
        <p:nvGrpSpPr>
          <p:cNvPr id="717" name="Google Shape;717;p48"/>
          <p:cNvGrpSpPr/>
          <p:nvPr/>
        </p:nvGrpSpPr>
        <p:grpSpPr>
          <a:xfrm>
            <a:off x="3204289" y="3443842"/>
            <a:ext cx="2047800" cy="1946100"/>
            <a:chOff x="3204289" y="3443842"/>
            <a:chExt cx="2047800" cy="1946100"/>
          </a:xfrm>
        </p:grpSpPr>
        <p:sp>
          <p:nvSpPr>
            <p:cNvPr id="718" name="Google Shape;718;p48"/>
            <p:cNvSpPr/>
            <p:nvPr/>
          </p:nvSpPr>
          <p:spPr>
            <a:xfrm rot="1914887">
              <a:off x="3423793" y="3771574"/>
              <a:ext cx="1608793" cy="1290634"/>
            </a:xfrm>
            <a:prstGeom prst="wedgeEllipseCallout">
              <a:avLst>
                <a:gd fmla="val -20833" name="adj1"/>
                <a:gd fmla="val 62500" name="adj2"/>
              </a:avLst>
            </a:prstGeom>
            <a:solidFill>
              <a:srgbClr val="F2F2F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19" name="Google Shape;719;p48"/>
            <p:cNvSpPr txBox="1"/>
            <p:nvPr/>
          </p:nvSpPr>
          <p:spPr>
            <a:xfrm>
              <a:off x="3374825" y="3999438"/>
              <a:ext cx="1546200" cy="83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1x set up for  (5) documents. Thereafter, revise only if change in intended use.</a:t>
              </a:r>
              <a:endParaRPr sz="1100">
                <a:solidFill>
                  <a:schemeClr val="dk1"/>
                </a:solidFill>
                <a:latin typeface="Montserrat"/>
                <a:ea typeface="Montserrat"/>
                <a:cs typeface="Montserrat"/>
                <a:sym typeface="Montserrat"/>
              </a:endParaRPr>
            </a:p>
          </p:txBody>
        </p:sp>
      </p:grpSp>
      <p:sp>
        <p:nvSpPr>
          <p:cNvPr id="720" name="Google Shape;720;p48"/>
          <p:cNvSpPr txBox="1"/>
          <p:nvPr/>
        </p:nvSpPr>
        <p:spPr>
          <a:xfrm>
            <a:off x="6279150" y="2314450"/>
            <a:ext cx="405600" cy="330900"/>
          </a:xfrm>
          <a:prstGeom prst="rect">
            <a:avLst/>
          </a:prstGeom>
          <a:noFill/>
          <a:ln>
            <a:noFill/>
          </a:ln>
        </p:spPr>
        <p:txBody>
          <a:bodyPr anchorCtr="0" anchor="ctr" bIns="72725" lIns="72725" spcFirstLastPara="1" rIns="72725" wrap="square" tIns="72725">
            <a:noAutofit/>
          </a:bodyPr>
          <a:lstStyle/>
          <a:p>
            <a:pPr indent="0" lvl="0" marL="0" rtl="0" algn="ctr">
              <a:spcBef>
                <a:spcPts val="0"/>
              </a:spcBef>
              <a:spcAft>
                <a:spcPts val="0"/>
              </a:spcAft>
              <a:buNone/>
            </a:pPr>
            <a:r>
              <a:rPr b="1" lang="en-US" sz="1272">
                <a:solidFill>
                  <a:srgbClr val="980000"/>
                </a:solidFill>
                <a:latin typeface="Montserrat"/>
                <a:ea typeface="Montserrat"/>
                <a:cs typeface="Montserrat"/>
                <a:sym typeface="Montserrat"/>
              </a:rPr>
              <a:t>X</a:t>
            </a:r>
            <a:endParaRPr b="1" sz="1272">
              <a:solidFill>
                <a:srgbClr val="980000"/>
              </a:solidFill>
              <a:latin typeface="Montserrat"/>
              <a:ea typeface="Montserrat"/>
              <a:cs typeface="Montserrat"/>
              <a:sym typeface="Montserrat"/>
            </a:endParaRPr>
          </a:p>
        </p:txBody>
      </p:sp>
      <p:sp>
        <p:nvSpPr>
          <p:cNvPr id="721" name="Google Shape;721;p48"/>
          <p:cNvSpPr txBox="1"/>
          <p:nvPr/>
        </p:nvSpPr>
        <p:spPr>
          <a:xfrm>
            <a:off x="9160877" y="2331825"/>
            <a:ext cx="492300" cy="330900"/>
          </a:xfrm>
          <a:prstGeom prst="rect">
            <a:avLst/>
          </a:prstGeom>
          <a:noFill/>
          <a:ln>
            <a:noFill/>
          </a:ln>
        </p:spPr>
        <p:txBody>
          <a:bodyPr anchorCtr="0" anchor="ctr" bIns="72725" lIns="72725" spcFirstLastPara="1" rIns="72725" wrap="square" tIns="72725">
            <a:noAutofit/>
          </a:bodyPr>
          <a:lstStyle/>
          <a:p>
            <a:pPr indent="0" lvl="0" marL="0" rtl="0" algn="ctr">
              <a:spcBef>
                <a:spcPts val="0"/>
              </a:spcBef>
              <a:spcAft>
                <a:spcPts val="0"/>
              </a:spcAft>
              <a:buNone/>
            </a:pPr>
            <a:r>
              <a:rPr b="1" lang="en-US" sz="1272">
                <a:solidFill>
                  <a:srgbClr val="980000"/>
                </a:solidFill>
                <a:latin typeface="Montserrat"/>
                <a:ea typeface="Montserrat"/>
                <a:cs typeface="Montserrat"/>
                <a:sym typeface="Montserrat"/>
              </a:rPr>
              <a:t>X X</a:t>
            </a:r>
            <a:endParaRPr b="1" sz="1272">
              <a:solidFill>
                <a:srgbClr val="980000"/>
              </a:solidFill>
              <a:latin typeface="Montserrat"/>
              <a:ea typeface="Montserrat"/>
              <a:cs typeface="Montserrat"/>
              <a:sym typeface="Montserrat"/>
            </a:endParaRPr>
          </a:p>
        </p:txBody>
      </p:sp>
      <p:sp>
        <p:nvSpPr>
          <p:cNvPr id="722" name="Google Shape;722;p48"/>
          <p:cNvSpPr txBox="1"/>
          <p:nvPr/>
        </p:nvSpPr>
        <p:spPr>
          <a:xfrm>
            <a:off x="7873139" y="2376225"/>
            <a:ext cx="582600" cy="330900"/>
          </a:xfrm>
          <a:prstGeom prst="rect">
            <a:avLst/>
          </a:prstGeom>
          <a:noFill/>
          <a:ln>
            <a:noFill/>
          </a:ln>
        </p:spPr>
        <p:txBody>
          <a:bodyPr anchorCtr="0" anchor="ctr" bIns="72725" lIns="72725" spcFirstLastPara="1" rIns="72725" wrap="square" tIns="72725">
            <a:noAutofit/>
          </a:bodyPr>
          <a:lstStyle/>
          <a:p>
            <a:pPr indent="0" lvl="0" marL="0" rtl="0" algn="ctr">
              <a:spcBef>
                <a:spcPts val="0"/>
              </a:spcBef>
              <a:spcAft>
                <a:spcPts val="0"/>
              </a:spcAft>
              <a:buNone/>
            </a:pPr>
            <a:r>
              <a:rPr b="1" lang="en-US" sz="1272">
                <a:solidFill>
                  <a:srgbClr val="980000"/>
                </a:solidFill>
                <a:latin typeface="Montserrat"/>
                <a:ea typeface="Montserrat"/>
                <a:cs typeface="Montserrat"/>
                <a:sym typeface="Montserrat"/>
              </a:rPr>
              <a:t>X X</a:t>
            </a:r>
            <a:endParaRPr b="1" sz="1272">
              <a:solidFill>
                <a:srgbClr val="980000"/>
              </a:solidFill>
              <a:latin typeface="Montserrat"/>
              <a:ea typeface="Montserrat"/>
              <a:cs typeface="Montserrat"/>
              <a:sym typeface="Montserrat"/>
            </a:endParaRPr>
          </a:p>
        </p:txBody>
      </p:sp>
      <p:sp>
        <p:nvSpPr>
          <p:cNvPr id="723" name="Google Shape;723;p48"/>
          <p:cNvSpPr txBox="1"/>
          <p:nvPr/>
        </p:nvSpPr>
        <p:spPr>
          <a:xfrm>
            <a:off x="1078450" y="5880588"/>
            <a:ext cx="2370300" cy="35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chemeClr val="dk1"/>
                </a:solidFill>
                <a:latin typeface="Montserrat"/>
                <a:ea typeface="Montserrat"/>
                <a:cs typeface="Montserrat"/>
                <a:sym typeface="Montserrat"/>
              </a:rPr>
              <a:t>Regulatory Statement</a:t>
            </a:r>
            <a:endParaRPr b="1" sz="1100">
              <a:solidFill>
                <a:schemeClr val="dk1"/>
              </a:solidFill>
              <a:latin typeface="Montserrat"/>
              <a:ea typeface="Montserrat"/>
              <a:cs typeface="Montserrat"/>
              <a:sym typeface="Montserrat"/>
            </a:endParaRPr>
          </a:p>
          <a:p>
            <a:pPr indent="0" lvl="0" marL="0" rtl="0" algn="ctr">
              <a:spcBef>
                <a:spcPts val="0"/>
              </a:spcBef>
              <a:spcAft>
                <a:spcPts val="0"/>
              </a:spcAft>
              <a:buNone/>
            </a:pPr>
            <a:r>
              <a:rPr b="1" lang="en-US" sz="1100">
                <a:solidFill>
                  <a:schemeClr val="dk1"/>
                </a:solidFill>
                <a:latin typeface="Montserrat"/>
                <a:ea typeface="Montserrat"/>
                <a:cs typeface="Montserrat"/>
                <a:sym typeface="Montserrat"/>
              </a:rPr>
              <a:t>“Intended use”</a:t>
            </a:r>
            <a:endParaRPr b="1" sz="1100">
              <a:solidFill>
                <a:schemeClr val="dk1"/>
              </a:solidFill>
              <a:latin typeface="Montserrat"/>
              <a:ea typeface="Montserrat"/>
              <a:cs typeface="Montserrat"/>
              <a:sym typeface="Montserrat"/>
            </a:endParaRPr>
          </a:p>
        </p:txBody>
      </p:sp>
      <p:grpSp>
        <p:nvGrpSpPr>
          <p:cNvPr id="724" name="Google Shape;724;p48"/>
          <p:cNvGrpSpPr/>
          <p:nvPr/>
        </p:nvGrpSpPr>
        <p:grpSpPr>
          <a:xfrm>
            <a:off x="1977163" y="2779201"/>
            <a:ext cx="1929900" cy="862800"/>
            <a:chOff x="2253688" y="2825401"/>
            <a:chExt cx="1929900" cy="862800"/>
          </a:xfrm>
        </p:grpSpPr>
        <p:sp>
          <p:nvSpPr>
            <p:cNvPr id="725" name="Google Shape;725;p48"/>
            <p:cNvSpPr/>
            <p:nvPr/>
          </p:nvSpPr>
          <p:spPr>
            <a:xfrm rot="321384">
              <a:off x="2281847" y="2911343"/>
              <a:ext cx="1873581" cy="690917"/>
            </a:xfrm>
            <a:prstGeom prst="wedgeEllipseCallout">
              <a:avLst>
                <a:gd fmla="val -20833" name="adj1"/>
                <a:gd fmla="val 62500" name="adj2"/>
              </a:avLst>
            </a:prstGeom>
            <a:solidFill>
              <a:srgbClr val="F4CC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26" name="Google Shape;726;p48"/>
            <p:cNvSpPr txBox="1"/>
            <p:nvPr/>
          </p:nvSpPr>
          <p:spPr>
            <a:xfrm>
              <a:off x="2411375" y="2894800"/>
              <a:ext cx="1564800" cy="694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DGX becomes a Quality driven service with supported risk assessments.</a:t>
              </a:r>
              <a:endParaRPr sz="800">
                <a:solidFill>
                  <a:srgbClr val="38761D"/>
                </a:solidFill>
                <a:latin typeface="Montserrat"/>
                <a:ea typeface="Montserrat"/>
                <a:cs typeface="Montserrat"/>
                <a:sym typeface="Montserrat"/>
              </a:endParaRPr>
            </a:p>
          </p:txBody>
        </p:sp>
      </p:grpSp>
      <p:pic>
        <p:nvPicPr>
          <p:cNvPr id="727" name="Google Shape;727;p48"/>
          <p:cNvPicPr preferRelativeResize="0"/>
          <p:nvPr/>
        </p:nvPicPr>
        <p:blipFill>
          <a:blip r:embed="rId6">
            <a:alphaModFix/>
          </a:blip>
          <a:stretch>
            <a:fillRect/>
          </a:stretch>
        </p:blipFill>
        <p:spPr>
          <a:xfrm>
            <a:off x="2133125" y="6272975"/>
            <a:ext cx="278250" cy="355300"/>
          </a:xfrm>
          <a:prstGeom prst="rect">
            <a:avLst/>
          </a:prstGeom>
          <a:noFill/>
          <a:ln>
            <a:noFill/>
          </a:ln>
        </p:spPr>
      </p:pic>
      <p:sp>
        <p:nvSpPr>
          <p:cNvPr id="728" name="Google Shape;728;p48"/>
          <p:cNvSpPr txBox="1"/>
          <p:nvPr/>
        </p:nvSpPr>
        <p:spPr>
          <a:xfrm>
            <a:off x="7722688" y="6577075"/>
            <a:ext cx="1871400" cy="28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200">
                <a:solidFill>
                  <a:schemeClr val="dk1"/>
                </a:solidFill>
                <a:latin typeface="Montserrat"/>
                <a:ea typeface="Montserrat"/>
                <a:cs typeface="Montserrat"/>
                <a:sym typeface="Montserrat"/>
              </a:rPr>
              <a:t>Medical statement</a:t>
            </a:r>
            <a:endParaRPr i="1" sz="1200">
              <a:solidFill>
                <a:schemeClr val="dk1"/>
              </a:solidFill>
              <a:latin typeface="Montserrat"/>
              <a:ea typeface="Montserrat"/>
              <a:cs typeface="Montserrat"/>
              <a:sym typeface="Montserrat"/>
            </a:endParaRPr>
          </a:p>
        </p:txBody>
      </p:sp>
      <p:grpSp>
        <p:nvGrpSpPr>
          <p:cNvPr id="729" name="Google Shape;729;p48"/>
          <p:cNvGrpSpPr/>
          <p:nvPr/>
        </p:nvGrpSpPr>
        <p:grpSpPr>
          <a:xfrm>
            <a:off x="9883669" y="5932117"/>
            <a:ext cx="510098" cy="510778"/>
            <a:chOff x="5462985" y="3114675"/>
            <a:chExt cx="1236600" cy="1238250"/>
          </a:xfrm>
        </p:grpSpPr>
        <p:pic>
          <p:nvPicPr>
            <p:cNvPr id="730" name="Google Shape;730;p48"/>
            <p:cNvPicPr preferRelativeResize="0"/>
            <p:nvPr/>
          </p:nvPicPr>
          <p:blipFill>
            <a:blip r:embed="rId19">
              <a:alphaModFix/>
            </a:blip>
            <a:stretch>
              <a:fillRect/>
            </a:stretch>
          </p:blipFill>
          <p:spPr>
            <a:xfrm>
              <a:off x="5466922" y="3114675"/>
              <a:ext cx="1228725" cy="1238250"/>
            </a:xfrm>
            <a:prstGeom prst="rect">
              <a:avLst/>
            </a:prstGeom>
            <a:noFill/>
            <a:ln>
              <a:noFill/>
            </a:ln>
          </p:spPr>
        </p:pic>
        <p:sp>
          <p:nvSpPr>
            <p:cNvPr id="731" name="Google Shape;731;p48"/>
            <p:cNvSpPr txBox="1"/>
            <p:nvPr/>
          </p:nvSpPr>
          <p:spPr>
            <a:xfrm>
              <a:off x="5462985" y="3655468"/>
              <a:ext cx="1236600" cy="216300"/>
            </a:xfrm>
            <a:prstGeom prst="rect">
              <a:avLst/>
            </a:prstGeom>
            <a:noFill/>
            <a:ln>
              <a:noFill/>
            </a:ln>
          </p:spPr>
          <p:txBody>
            <a:bodyPr anchorCtr="0" anchor="ctr" bIns="37725" lIns="37725" spcFirstLastPara="1" rIns="37725" wrap="square" tIns="37725">
              <a:noAutofit/>
            </a:bodyPr>
            <a:lstStyle/>
            <a:p>
              <a:pPr indent="0" lvl="0" marL="0" rtl="0" algn="ctr">
                <a:spcBef>
                  <a:spcPts val="0"/>
                </a:spcBef>
                <a:spcAft>
                  <a:spcPts val="0"/>
                </a:spcAft>
                <a:buNone/>
              </a:pPr>
              <a:r>
                <a:rPr lang="en-US" sz="577">
                  <a:solidFill>
                    <a:schemeClr val="dk1"/>
                  </a:solidFill>
                  <a:latin typeface="Montserrat"/>
                  <a:ea typeface="Montserrat"/>
                  <a:cs typeface="Montserrat"/>
                  <a:sym typeface="Montserrat"/>
                </a:rPr>
                <a:t>Orcanos</a:t>
              </a:r>
              <a:endParaRPr sz="577">
                <a:solidFill>
                  <a:schemeClr val="dk1"/>
                </a:solidFill>
                <a:latin typeface="Montserrat"/>
                <a:ea typeface="Montserrat"/>
                <a:cs typeface="Montserrat"/>
                <a:sym typeface="Montserrat"/>
              </a:endParaRPr>
            </a:p>
          </p:txBody>
        </p:sp>
      </p:grpSp>
      <p:pic>
        <p:nvPicPr>
          <p:cNvPr id="732" name="Google Shape;732;p48"/>
          <p:cNvPicPr preferRelativeResize="0"/>
          <p:nvPr/>
        </p:nvPicPr>
        <p:blipFill>
          <a:blip r:embed="rId18">
            <a:alphaModFix/>
          </a:blip>
          <a:stretch>
            <a:fillRect/>
          </a:stretch>
        </p:blipFill>
        <p:spPr>
          <a:xfrm>
            <a:off x="10685025" y="5988805"/>
            <a:ext cx="318425" cy="467988"/>
          </a:xfrm>
          <a:prstGeom prst="rect">
            <a:avLst/>
          </a:prstGeom>
          <a:noFill/>
          <a:ln>
            <a:noFill/>
          </a:ln>
        </p:spPr>
      </p:pic>
      <p:grpSp>
        <p:nvGrpSpPr>
          <p:cNvPr id="733" name="Google Shape;733;p48"/>
          <p:cNvGrpSpPr/>
          <p:nvPr/>
        </p:nvGrpSpPr>
        <p:grpSpPr>
          <a:xfrm>
            <a:off x="11457850" y="5844158"/>
            <a:ext cx="591800" cy="686711"/>
            <a:chOff x="11457850" y="5844158"/>
            <a:chExt cx="591800" cy="686711"/>
          </a:xfrm>
        </p:grpSpPr>
        <p:pic>
          <p:nvPicPr>
            <p:cNvPr id="734" name="Google Shape;734;p48"/>
            <p:cNvPicPr preferRelativeResize="0"/>
            <p:nvPr/>
          </p:nvPicPr>
          <p:blipFill>
            <a:blip r:embed="rId21">
              <a:alphaModFix/>
            </a:blip>
            <a:stretch>
              <a:fillRect/>
            </a:stretch>
          </p:blipFill>
          <p:spPr>
            <a:xfrm>
              <a:off x="11457850" y="5844158"/>
              <a:ext cx="591800" cy="686711"/>
            </a:xfrm>
            <a:prstGeom prst="rect">
              <a:avLst/>
            </a:prstGeom>
            <a:noFill/>
            <a:ln>
              <a:noFill/>
            </a:ln>
          </p:spPr>
        </p:pic>
        <p:pic>
          <p:nvPicPr>
            <p:cNvPr id="735" name="Google Shape;735;p48"/>
            <p:cNvPicPr preferRelativeResize="0"/>
            <p:nvPr/>
          </p:nvPicPr>
          <p:blipFill>
            <a:blip r:embed="rId22">
              <a:alphaModFix/>
            </a:blip>
            <a:stretch>
              <a:fillRect/>
            </a:stretch>
          </p:blipFill>
          <p:spPr>
            <a:xfrm>
              <a:off x="11681824" y="6126174"/>
              <a:ext cx="264900" cy="264900"/>
            </a:xfrm>
            <a:prstGeom prst="rect">
              <a:avLst/>
            </a:prstGeom>
            <a:noFill/>
            <a:ln>
              <a:noFill/>
            </a:ln>
          </p:spPr>
        </p:pic>
      </p:grpSp>
      <p:pic>
        <p:nvPicPr>
          <p:cNvPr id="736" name="Google Shape;736;p48"/>
          <p:cNvPicPr preferRelativeResize="0"/>
          <p:nvPr/>
        </p:nvPicPr>
        <p:blipFill>
          <a:blip r:embed="rId15">
            <a:alphaModFix/>
          </a:blip>
          <a:stretch>
            <a:fillRect/>
          </a:stretch>
        </p:blipFill>
        <p:spPr>
          <a:xfrm>
            <a:off x="7434913" y="809108"/>
            <a:ext cx="890510" cy="269075"/>
          </a:xfrm>
          <a:prstGeom prst="rect">
            <a:avLst/>
          </a:prstGeom>
          <a:noFill/>
          <a:ln>
            <a:noFill/>
          </a:ln>
        </p:spPr>
      </p:pic>
      <p:pic>
        <p:nvPicPr>
          <p:cNvPr id="737" name="Google Shape;737;p48"/>
          <p:cNvPicPr preferRelativeResize="0"/>
          <p:nvPr/>
        </p:nvPicPr>
        <p:blipFill>
          <a:blip r:embed="rId19">
            <a:alphaModFix/>
          </a:blip>
          <a:stretch>
            <a:fillRect/>
          </a:stretch>
        </p:blipFill>
        <p:spPr>
          <a:xfrm>
            <a:off x="9182222" y="3022321"/>
            <a:ext cx="264900" cy="266951"/>
          </a:xfrm>
          <a:prstGeom prst="rect">
            <a:avLst/>
          </a:prstGeom>
          <a:noFill/>
          <a:ln>
            <a:noFill/>
          </a:ln>
        </p:spPr>
      </p:pic>
      <p:sp>
        <p:nvSpPr>
          <p:cNvPr id="738" name="Google Shape;738;p48"/>
          <p:cNvSpPr txBox="1"/>
          <p:nvPr/>
        </p:nvSpPr>
        <p:spPr>
          <a:xfrm>
            <a:off x="10234034" y="3577018"/>
            <a:ext cx="1028700" cy="180000"/>
          </a:xfrm>
          <a:prstGeom prst="rect">
            <a:avLst/>
          </a:prstGeom>
          <a:noFill/>
          <a:ln>
            <a:noFill/>
          </a:ln>
        </p:spPr>
        <p:txBody>
          <a:bodyPr anchorCtr="0" anchor="ctr" bIns="76050" lIns="76050" spcFirstLastPara="1" rIns="76050" wrap="square" tIns="76050">
            <a:noAutofit/>
          </a:bodyPr>
          <a:lstStyle/>
          <a:p>
            <a:pPr indent="0" lvl="0" marL="0" rtl="0" algn="ctr">
              <a:spcBef>
                <a:spcPts val="0"/>
              </a:spcBef>
              <a:spcAft>
                <a:spcPts val="0"/>
              </a:spcAft>
              <a:buNone/>
            </a:pPr>
            <a:r>
              <a:rPr lang="en-US" sz="665">
                <a:solidFill>
                  <a:schemeClr val="dk1"/>
                </a:solidFill>
                <a:latin typeface="Montserrat"/>
                <a:ea typeface="Montserrat"/>
                <a:cs typeface="Montserrat"/>
                <a:sym typeface="Montserrat"/>
              </a:rPr>
              <a:t>Record retention</a:t>
            </a:r>
            <a:endParaRPr sz="665">
              <a:solidFill>
                <a:schemeClr val="dk1"/>
              </a:solidFill>
              <a:latin typeface="Montserrat"/>
              <a:ea typeface="Montserrat"/>
              <a:cs typeface="Montserrat"/>
              <a:sym typeface="Montserrat"/>
            </a:endParaRPr>
          </a:p>
        </p:txBody>
      </p:sp>
      <p:pic>
        <p:nvPicPr>
          <p:cNvPr id="739" name="Google Shape;739;p48"/>
          <p:cNvPicPr preferRelativeResize="0"/>
          <p:nvPr/>
        </p:nvPicPr>
        <p:blipFill>
          <a:blip r:embed="rId17">
            <a:alphaModFix/>
          </a:blip>
          <a:stretch>
            <a:fillRect/>
          </a:stretch>
        </p:blipFill>
        <p:spPr>
          <a:xfrm>
            <a:off x="9046800" y="426438"/>
            <a:ext cx="510150" cy="510150"/>
          </a:xfrm>
          <a:prstGeom prst="rect">
            <a:avLst/>
          </a:prstGeom>
          <a:noFill/>
          <a:ln>
            <a:noFill/>
          </a:ln>
        </p:spPr>
      </p:pic>
      <p:sp>
        <p:nvSpPr>
          <p:cNvPr id="740" name="Google Shape;740;p48"/>
          <p:cNvSpPr txBox="1"/>
          <p:nvPr/>
        </p:nvSpPr>
        <p:spPr>
          <a:xfrm>
            <a:off x="8788725" y="945175"/>
            <a:ext cx="1236600" cy="216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800">
                <a:solidFill>
                  <a:schemeClr val="dk1"/>
                </a:solidFill>
                <a:latin typeface="Montserrat"/>
                <a:ea typeface="Montserrat"/>
                <a:cs typeface="Montserrat"/>
                <a:sym typeface="Montserrat"/>
              </a:rPr>
              <a:t>IMS </a:t>
            </a:r>
            <a:r>
              <a:rPr lang="en-US" sz="800">
                <a:solidFill>
                  <a:schemeClr val="dk1"/>
                </a:solidFill>
                <a:latin typeface="Montserrat"/>
                <a:ea typeface="Montserrat"/>
                <a:cs typeface="Montserrat"/>
                <a:sym typeface="Montserrat"/>
              </a:rPr>
              <a:t> drive</a:t>
            </a:r>
            <a:endParaRPr sz="800">
              <a:solidFill>
                <a:schemeClr val="dk1"/>
              </a:solidFill>
              <a:latin typeface="Montserrat"/>
              <a:ea typeface="Montserrat"/>
              <a:cs typeface="Montserrat"/>
              <a:sym typeface="Montserrat"/>
            </a:endParaRPr>
          </a:p>
        </p:txBody>
      </p:sp>
      <p:pic>
        <p:nvPicPr>
          <p:cNvPr id="741" name="Google Shape;741;p48"/>
          <p:cNvPicPr preferRelativeResize="0"/>
          <p:nvPr/>
        </p:nvPicPr>
        <p:blipFill>
          <a:blip r:embed="rId23">
            <a:alphaModFix/>
          </a:blip>
          <a:stretch>
            <a:fillRect/>
          </a:stretch>
        </p:blipFill>
        <p:spPr>
          <a:xfrm>
            <a:off x="2009947" y="1998532"/>
            <a:ext cx="231475" cy="287867"/>
          </a:xfrm>
          <a:prstGeom prst="rect">
            <a:avLst/>
          </a:prstGeom>
          <a:noFill/>
          <a:ln cap="flat" cmpd="sng" w="7275">
            <a:solidFill>
              <a:srgbClr val="FF9900"/>
            </a:solidFill>
            <a:prstDash val="solid"/>
            <a:round/>
            <a:headEnd len="sm" w="sm" type="none"/>
            <a:tailEnd len="sm" w="sm" type="none"/>
          </a:ln>
        </p:spPr>
      </p:pic>
      <p:pic>
        <p:nvPicPr>
          <p:cNvPr id="742" name="Google Shape;742;p48"/>
          <p:cNvPicPr preferRelativeResize="0"/>
          <p:nvPr/>
        </p:nvPicPr>
        <p:blipFill>
          <a:blip r:embed="rId23">
            <a:alphaModFix/>
          </a:blip>
          <a:stretch>
            <a:fillRect/>
          </a:stretch>
        </p:blipFill>
        <p:spPr>
          <a:xfrm>
            <a:off x="4471847" y="2022295"/>
            <a:ext cx="193275" cy="240341"/>
          </a:xfrm>
          <a:prstGeom prst="rect">
            <a:avLst/>
          </a:prstGeom>
          <a:noFill/>
          <a:ln cap="flat" cmpd="sng" w="7275">
            <a:solidFill>
              <a:srgbClr val="FF9900"/>
            </a:solidFill>
            <a:prstDash val="solid"/>
            <a:round/>
            <a:headEnd len="sm" w="sm" type="none"/>
            <a:tailEnd len="sm" w="sm" type="none"/>
          </a:ln>
        </p:spPr>
      </p:pic>
      <p:pic>
        <p:nvPicPr>
          <p:cNvPr id="743" name="Google Shape;743;p48"/>
          <p:cNvPicPr preferRelativeResize="0"/>
          <p:nvPr/>
        </p:nvPicPr>
        <p:blipFill>
          <a:blip r:embed="rId23">
            <a:alphaModFix/>
          </a:blip>
          <a:stretch>
            <a:fillRect/>
          </a:stretch>
        </p:blipFill>
        <p:spPr>
          <a:xfrm>
            <a:off x="5951125" y="3650588"/>
            <a:ext cx="193266" cy="240350"/>
          </a:xfrm>
          <a:prstGeom prst="rect">
            <a:avLst/>
          </a:prstGeom>
          <a:noFill/>
          <a:ln cap="flat" cmpd="sng" w="7275">
            <a:solidFill>
              <a:srgbClr val="FF9900"/>
            </a:solidFill>
            <a:prstDash val="solid"/>
            <a:round/>
            <a:headEnd len="sm" w="sm" type="none"/>
            <a:tailEnd len="sm" w="sm" type="none"/>
          </a:ln>
        </p:spPr>
      </p:pic>
      <p:pic>
        <p:nvPicPr>
          <p:cNvPr id="744" name="Google Shape;744;p48"/>
          <p:cNvPicPr preferRelativeResize="0"/>
          <p:nvPr/>
        </p:nvPicPr>
        <p:blipFill>
          <a:blip r:embed="rId23">
            <a:alphaModFix/>
          </a:blip>
          <a:stretch>
            <a:fillRect/>
          </a:stretch>
        </p:blipFill>
        <p:spPr>
          <a:xfrm>
            <a:off x="8797498" y="5205531"/>
            <a:ext cx="242999" cy="302191"/>
          </a:xfrm>
          <a:prstGeom prst="rect">
            <a:avLst/>
          </a:prstGeom>
          <a:noFill/>
          <a:ln cap="flat" cmpd="sng" w="7275">
            <a:solidFill>
              <a:srgbClr val="FF9900"/>
            </a:solidFill>
            <a:prstDash val="solid"/>
            <a:round/>
            <a:headEnd len="sm" w="sm" type="none"/>
            <a:tailEnd len="sm" w="sm" type="none"/>
          </a:ln>
        </p:spPr>
      </p:pic>
      <p:pic>
        <p:nvPicPr>
          <p:cNvPr id="745" name="Google Shape;745;p48"/>
          <p:cNvPicPr preferRelativeResize="0"/>
          <p:nvPr/>
        </p:nvPicPr>
        <p:blipFill>
          <a:blip r:embed="rId23">
            <a:alphaModFix/>
          </a:blip>
          <a:stretch>
            <a:fillRect/>
          </a:stretch>
        </p:blipFill>
        <p:spPr>
          <a:xfrm>
            <a:off x="9667874" y="641597"/>
            <a:ext cx="193275" cy="240341"/>
          </a:xfrm>
          <a:prstGeom prst="rect">
            <a:avLst/>
          </a:prstGeom>
          <a:noFill/>
          <a:ln cap="flat" cmpd="sng" w="7275">
            <a:solidFill>
              <a:srgbClr val="FF9900"/>
            </a:solidFill>
            <a:prstDash val="solid"/>
            <a:round/>
            <a:headEnd len="sm" w="sm" type="none"/>
            <a:tailEnd len="sm" w="sm" type="none"/>
          </a:ln>
        </p:spPr>
      </p:pic>
      <p:pic>
        <p:nvPicPr>
          <p:cNvPr id="746" name="Google Shape;746;p48"/>
          <p:cNvPicPr preferRelativeResize="0"/>
          <p:nvPr/>
        </p:nvPicPr>
        <p:blipFill>
          <a:blip r:embed="rId23">
            <a:alphaModFix/>
          </a:blip>
          <a:stretch>
            <a:fillRect/>
          </a:stretch>
        </p:blipFill>
        <p:spPr>
          <a:xfrm>
            <a:off x="7732834" y="1991371"/>
            <a:ext cx="243000" cy="302189"/>
          </a:xfrm>
          <a:prstGeom prst="rect">
            <a:avLst/>
          </a:prstGeom>
          <a:noFill/>
          <a:ln cap="flat" cmpd="sng" w="7275">
            <a:solidFill>
              <a:srgbClr val="FF9900"/>
            </a:solidFill>
            <a:prstDash val="solid"/>
            <a:round/>
            <a:headEnd len="sm" w="sm" type="none"/>
            <a:tailEnd len="sm" w="sm" type="none"/>
          </a:ln>
        </p:spPr>
      </p:pic>
      <p:pic>
        <p:nvPicPr>
          <p:cNvPr id="747" name="Google Shape;747;p48"/>
          <p:cNvPicPr preferRelativeResize="0"/>
          <p:nvPr/>
        </p:nvPicPr>
        <p:blipFill>
          <a:blip r:embed="rId23">
            <a:alphaModFix/>
          </a:blip>
          <a:stretch>
            <a:fillRect/>
          </a:stretch>
        </p:blipFill>
        <p:spPr>
          <a:xfrm>
            <a:off x="7012400" y="3737963"/>
            <a:ext cx="193266" cy="240350"/>
          </a:xfrm>
          <a:prstGeom prst="rect">
            <a:avLst/>
          </a:prstGeom>
          <a:noFill/>
          <a:ln cap="flat" cmpd="sng" w="7275">
            <a:solidFill>
              <a:srgbClr val="FF9900"/>
            </a:solidFill>
            <a:prstDash val="solid"/>
            <a:round/>
            <a:headEnd len="sm" w="sm" type="none"/>
            <a:tailEnd len="sm" w="sm" type="none"/>
          </a:ln>
        </p:spPr>
      </p:pic>
      <p:pic>
        <p:nvPicPr>
          <p:cNvPr id="748" name="Google Shape;748;p48"/>
          <p:cNvPicPr preferRelativeResize="0"/>
          <p:nvPr/>
        </p:nvPicPr>
        <p:blipFill>
          <a:blip r:embed="rId23">
            <a:alphaModFix/>
          </a:blip>
          <a:stretch>
            <a:fillRect/>
          </a:stretch>
        </p:blipFill>
        <p:spPr>
          <a:xfrm>
            <a:off x="8495061" y="3749597"/>
            <a:ext cx="193275" cy="240341"/>
          </a:xfrm>
          <a:prstGeom prst="rect">
            <a:avLst/>
          </a:prstGeom>
          <a:noFill/>
          <a:ln cap="flat" cmpd="sng" w="7275">
            <a:solidFill>
              <a:srgbClr val="FF9900"/>
            </a:solidFill>
            <a:prstDash val="solid"/>
            <a:round/>
            <a:headEnd len="sm" w="sm" type="none"/>
            <a:tailEnd len="sm" w="sm" type="none"/>
          </a:ln>
        </p:spPr>
      </p:pic>
      <p:pic>
        <p:nvPicPr>
          <p:cNvPr id="749" name="Google Shape;749;p48"/>
          <p:cNvPicPr preferRelativeResize="0"/>
          <p:nvPr/>
        </p:nvPicPr>
        <p:blipFill>
          <a:blip r:embed="rId13">
            <a:alphaModFix/>
          </a:blip>
          <a:stretch>
            <a:fillRect/>
          </a:stretch>
        </p:blipFill>
        <p:spPr>
          <a:xfrm>
            <a:off x="7249475" y="5774703"/>
            <a:ext cx="278242" cy="286669"/>
          </a:xfrm>
          <a:prstGeom prst="rect">
            <a:avLst/>
          </a:prstGeom>
          <a:noFill/>
          <a:ln cap="flat" cmpd="sng" w="5125">
            <a:solidFill>
              <a:srgbClr val="FF9900"/>
            </a:solidFill>
            <a:prstDash val="solid"/>
            <a:round/>
            <a:headEnd len="sm" w="sm" type="none"/>
            <a:tailEnd len="sm" w="sm" type="none"/>
          </a:ln>
        </p:spPr>
      </p:pic>
      <p:pic>
        <p:nvPicPr>
          <p:cNvPr id="750" name="Google Shape;750;p48"/>
          <p:cNvPicPr preferRelativeResize="0"/>
          <p:nvPr/>
        </p:nvPicPr>
        <p:blipFill>
          <a:blip r:embed="rId12">
            <a:alphaModFix/>
          </a:blip>
          <a:stretch>
            <a:fillRect/>
          </a:stretch>
        </p:blipFill>
        <p:spPr>
          <a:xfrm>
            <a:off x="7082739" y="6091277"/>
            <a:ext cx="264916" cy="240336"/>
          </a:xfrm>
          <a:prstGeom prst="rect">
            <a:avLst/>
          </a:prstGeom>
          <a:noFill/>
          <a:ln cap="flat" cmpd="sng" w="4275">
            <a:solidFill>
              <a:srgbClr val="FF9900"/>
            </a:solidFill>
            <a:prstDash val="solid"/>
            <a:round/>
            <a:headEnd len="sm" w="sm" type="none"/>
            <a:tailEnd len="sm" w="sm" type="none"/>
          </a:ln>
        </p:spPr>
      </p:pic>
      <p:pic>
        <p:nvPicPr>
          <p:cNvPr id="751" name="Google Shape;751;p48"/>
          <p:cNvPicPr preferRelativeResize="0"/>
          <p:nvPr/>
        </p:nvPicPr>
        <p:blipFill>
          <a:blip r:embed="rId11">
            <a:alphaModFix/>
          </a:blip>
          <a:stretch>
            <a:fillRect/>
          </a:stretch>
        </p:blipFill>
        <p:spPr>
          <a:xfrm>
            <a:off x="7366170" y="6107063"/>
            <a:ext cx="231478" cy="231478"/>
          </a:xfrm>
          <a:prstGeom prst="rect">
            <a:avLst/>
          </a:prstGeom>
          <a:noFill/>
          <a:ln cap="flat" cmpd="sng" w="4275">
            <a:solidFill>
              <a:srgbClr val="FF9900"/>
            </a:solidFill>
            <a:prstDash val="solid"/>
            <a:round/>
            <a:headEnd len="sm" w="sm" type="none"/>
            <a:tailEnd len="sm" w="sm" type="none"/>
          </a:ln>
        </p:spPr>
      </p:pic>
      <p:pic>
        <p:nvPicPr>
          <p:cNvPr id="752" name="Google Shape;752;p48"/>
          <p:cNvPicPr preferRelativeResize="0"/>
          <p:nvPr/>
        </p:nvPicPr>
        <p:blipFill>
          <a:blip r:embed="rId5">
            <a:alphaModFix/>
          </a:blip>
          <a:stretch>
            <a:fillRect/>
          </a:stretch>
        </p:blipFill>
        <p:spPr>
          <a:xfrm>
            <a:off x="11512936" y="5570037"/>
            <a:ext cx="318450" cy="282399"/>
          </a:xfrm>
          <a:prstGeom prst="rect">
            <a:avLst/>
          </a:prstGeom>
          <a:noFill/>
          <a:ln cap="flat" cmpd="sng" w="5125">
            <a:solidFill>
              <a:srgbClr val="FF9900"/>
            </a:solidFill>
            <a:prstDash val="solid"/>
            <a:round/>
            <a:headEnd len="sm" w="sm" type="none"/>
            <a:tailEnd len="sm" w="sm" type="none"/>
          </a:ln>
        </p:spPr>
      </p:pic>
      <p:pic>
        <p:nvPicPr>
          <p:cNvPr id="753" name="Google Shape;753;p48"/>
          <p:cNvPicPr preferRelativeResize="0"/>
          <p:nvPr/>
        </p:nvPicPr>
        <p:blipFill>
          <a:blip r:embed="rId24">
            <a:alphaModFix/>
          </a:blip>
          <a:stretch>
            <a:fillRect/>
          </a:stretch>
        </p:blipFill>
        <p:spPr>
          <a:xfrm>
            <a:off x="872328" y="1996261"/>
            <a:ext cx="278225" cy="276101"/>
          </a:xfrm>
          <a:prstGeom prst="rect">
            <a:avLst/>
          </a:prstGeom>
          <a:noFill/>
          <a:ln cap="flat" cmpd="sng" w="9525">
            <a:solidFill>
              <a:srgbClr val="FF9900"/>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49"/>
          <p:cNvSpPr txBox="1"/>
          <p:nvPr>
            <p:ph type="title"/>
          </p:nvPr>
        </p:nvSpPr>
        <p:spPr>
          <a:xfrm>
            <a:off x="593725" y="5476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Next Steps - </a:t>
            </a:r>
            <a:r>
              <a:rPr b="0" i="1" lang="en-US">
                <a:solidFill>
                  <a:srgbClr val="434343"/>
                </a:solidFill>
              </a:rPr>
              <a:t>document collaboration &amp; input</a:t>
            </a:r>
            <a:endParaRPr b="0" i="1">
              <a:solidFill>
                <a:srgbClr val="434343"/>
              </a:solidFill>
            </a:endParaRPr>
          </a:p>
        </p:txBody>
      </p:sp>
      <p:pic>
        <p:nvPicPr>
          <p:cNvPr id="760" name="Google Shape;760;p49"/>
          <p:cNvPicPr preferRelativeResize="0"/>
          <p:nvPr/>
        </p:nvPicPr>
        <p:blipFill>
          <a:blip r:embed="rId3">
            <a:alphaModFix/>
          </a:blip>
          <a:stretch>
            <a:fillRect/>
          </a:stretch>
        </p:blipFill>
        <p:spPr>
          <a:xfrm>
            <a:off x="11457850" y="171800"/>
            <a:ext cx="428625" cy="457200"/>
          </a:xfrm>
          <a:prstGeom prst="rect">
            <a:avLst/>
          </a:prstGeom>
          <a:noFill/>
          <a:ln>
            <a:noFill/>
          </a:ln>
        </p:spPr>
      </p:pic>
      <p:pic>
        <p:nvPicPr>
          <p:cNvPr id="761" name="Google Shape;761;p49"/>
          <p:cNvPicPr preferRelativeResize="0"/>
          <p:nvPr/>
        </p:nvPicPr>
        <p:blipFill>
          <a:blip r:embed="rId4">
            <a:alphaModFix/>
          </a:blip>
          <a:stretch>
            <a:fillRect/>
          </a:stretch>
        </p:blipFill>
        <p:spPr>
          <a:xfrm>
            <a:off x="9118179" y="1372747"/>
            <a:ext cx="428625" cy="388848"/>
          </a:xfrm>
          <a:prstGeom prst="rect">
            <a:avLst/>
          </a:prstGeom>
          <a:noFill/>
          <a:ln cap="flat" cmpd="sng" w="5125">
            <a:solidFill>
              <a:srgbClr val="FF9900"/>
            </a:solidFill>
            <a:prstDash val="solid"/>
            <a:round/>
            <a:headEnd len="sm" w="sm" type="none"/>
            <a:tailEnd len="sm" w="sm" type="none"/>
          </a:ln>
        </p:spPr>
      </p:pic>
      <p:pic>
        <p:nvPicPr>
          <p:cNvPr id="762" name="Google Shape;762;p49"/>
          <p:cNvPicPr preferRelativeResize="0"/>
          <p:nvPr/>
        </p:nvPicPr>
        <p:blipFill>
          <a:blip r:embed="rId5">
            <a:alphaModFix/>
          </a:blip>
          <a:stretch>
            <a:fillRect/>
          </a:stretch>
        </p:blipFill>
        <p:spPr>
          <a:xfrm>
            <a:off x="3859025" y="1187445"/>
            <a:ext cx="4657725" cy="2286000"/>
          </a:xfrm>
          <a:prstGeom prst="rect">
            <a:avLst/>
          </a:prstGeom>
          <a:noFill/>
          <a:ln>
            <a:noFill/>
          </a:ln>
        </p:spPr>
      </p:pic>
      <p:grpSp>
        <p:nvGrpSpPr>
          <p:cNvPr id="763" name="Google Shape;763;p49"/>
          <p:cNvGrpSpPr/>
          <p:nvPr/>
        </p:nvGrpSpPr>
        <p:grpSpPr>
          <a:xfrm>
            <a:off x="5749380" y="2693219"/>
            <a:ext cx="691785" cy="467259"/>
            <a:chOff x="8156269" y="4492367"/>
            <a:chExt cx="1827220" cy="1234175"/>
          </a:xfrm>
        </p:grpSpPr>
        <p:pic>
          <p:nvPicPr>
            <p:cNvPr id="764" name="Google Shape;764;p49"/>
            <p:cNvPicPr preferRelativeResize="0"/>
            <p:nvPr/>
          </p:nvPicPr>
          <p:blipFill>
            <a:blip r:embed="rId6">
              <a:alphaModFix/>
            </a:blip>
            <a:stretch>
              <a:fillRect/>
            </a:stretch>
          </p:blipFill>
          <p:spPr>
            <a:xfrm>
              <a:off x="8156269" y="4492367"/>
              <a:ext cx="1827220" cy="1234175"/>
            </a:xfrm>
            <a:prstGeom prst="rect">
              <a:avLst/>
            </a:prstGeom>
            <a:noFill/>
            <a:ln>
              <a:noFill/>
            </a:ln>
          </p:spPr>
        </p:pic>
        <p:pic>
          <p:nvPicPr>
            <p:cNvPr id="765" name="Google Shape;765;p49"/>
            <p:cNvPicPr preferRelativeResize="0"/>
            <p:nvPr/>
          </p:nvPicPr>
          <p:blipFill>
            <a:blip r:embed="rId3">
              <a:alphaModFix/>
            </a:blip>
            <a:stretch>
              <a:fillRect/>
            </a:stretch>
          </p:blipFill>
          <p:spPr>
            <a:xfrm>
              <a:off x="8732626" y="4648249"/>
              <a:ext cx="674525" cy="719493"/>
            </a:xfrm>
            <a:prstGeom prst="rect">
              <a:avLst/>
            </a:prstGeom>
            <a:noFill/>
            <a:ln>
              <a:noFill/>
            </a:ln>
          </p:spPr>
        </p:pic>
      </p:grpSp>
      <p:pic>
        <p:nvPicPr>
          <p:cNvPr id="766" name="Google Shape;766;p49"/>
          <p:cNvPicPr preferRelativeResize="0"/>
          <p:nvPr/>
        </p:nvPicPr>
        <p:blipFill>
          <a:blip r:embed="rId7">
            <a:alphaModFix/>
          </a:blip>
          <a:stretch>
            <a:fillRect/>
          </a:stretch>
        </p:blipFill>
        <p:spPr>
          <a:xfrm>
            <a:off x="5702087" y="4038979"/>
            <a:ext cx="786225" cy="586645"/>
          </a:xfrm>
          <a:prstGeom prst="rect">
            <a:avLst/>
          </a:prstGeom>
          <a:noFill/>
          <a:ln>
            <a:noFill/>
          </a:ln>
        </p:spPr>
      </p:pic>
      <p:pic>
        <p:nvPicPr>
          <p:cNvPr id="767" name="Google Shape;767;p49"/>
          <p:cNvPicPr preferRelativeResize="0"/>
          <p:nvPr/>
        </p:nvPicPr>
        <p:blipFill>
          <a:blip r:embed="rId8">
            <a:alphaModFix/>
          </a:blip>
          <a:stretch>
            <a:fillRect/>
          </a:stretch>
        </p:blipFill>
        <p:spPr>
          <a:xfrm>
            <a:off x="1482850" y="4125057"/>
            <a:ext cx="691825" cy="415093"/>
          </a:xfrm>
          <a:prstGeom prst="rect">
            <a:avLst/>
          </a:prstGeom>
          <a:noFill/>
          <a:ln>
            <a:noFill/>
          </a:ln>
        </p:spPr>
      </p:pic>
      <p:pic>
        <p:nvPicPr>
          <p:cNvPr id="768" name="Google Shape;768;p49"/>
          <p:cNvPicPr preferRelativeResize="0"/>
          <p:nvPr/>
        </p:nvPicPr>
        <p:blipFill>
          <a:blip r:embed="rId9">
            <a:alphaModFix/>
          </a:blip>
          <a:stretch>
            <a:fillRect/>
          </a:stretch>
        </p:blipFill>
        <p:spPr>
          <a:xfrm>
            <a:off x="10293748" y="4124752"/>
            <a:ext cx="786216" cy="415100"/>
          </a:xfrm>
          <a:prstGeom prst="rect">
            <a:avLst/>
          </a:prstGeom>
          <a:noFill/>
          <a:ln>
            <a:noFill/>
          </a:ln>
        </p:spPr>
      </p:pic>
      <p:pic>
        <p:nvPicPr>
          <p:cNvPr id="769" name="Google Shape;769;p49"/>
          <p:cNvPicPr preferRelativeResize="0"/>
          <p:nvPr/>
        </p:nvPicPr>
        <p:blipFill>
          <a:blip r:embed="rId10">
            <a:alphaModFix/>
          </a:blip>
          <a:stretch>
            <a:fillRect/>
          </a:stretch>
        </p:blipFill>
        <p:spPr>
          <a:xfrm>
            <a:off x="7961460" y="4135738"/>
            <a:ext cx="786225" cy="393112"/>
          </a:xfrm>
          <a:prstGeom prst="rect">
            <a:avLst/>
          </a:prstGeom>
          <a:noFill/>
          <a:ln>
            <a:noFill/>
          </a:ln>
        </p:spPr>
      </p:pic>
      <p:pic>
        <p:nvPicPr>
          <p:cNvPr id="770" name="Google Shape;770;p49"/>
          <p:cNvPicPr preferRelativeResize="0"/>
          <p:nvPr/>
        </p:nvPicPr>
        <p:blipFill>
          <a:blip r:embed="rId11">
            <a:alphaModFix/>
          </a:blip>
          <a:stretch>
            <a:fillRect/>
          </a:stretch>
        </p:blipFill>
        <p:spPr>
          <a:xfrm>
            <a:off x="3512576" y="4052294"/>
            <a:ext cx="573250" cy="560618"/>
          </a:xfrm>
          <a:prstGeom prst="rect">
            <a:avLst/>
          </a:prstGeom>
          <a:noFill/>
          <a:ln>
            <a:noFill/>
          </a:ln>
        </p:spPr>
      </p:pic>
      <p:sp>
        <p:nvSpPr>
          <p:cNvPr id="771" name="Google Shape;771;p49"/>
          <p:cNvSpPr txBox="1"/>
          <p:nvPr/>
        </p:nvSpPr>
        <p:spPr>
          <a:xfrm>
            <a:off x="8176000" y="1793075"/>
            <a:ext cx="2312400" cy="27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9900"/>
                </a:solidFill>
                <a:latin typeface="Montserrat"/>
                <a:ea typeface="Montserrat"/>
                <a:cs typeface="Montserrat"/>
                <a:sym typeface="Montserrat"/>
              </a:rPr>
              <a:t>Policy</a:t>
            </a:r>
            <a:r>
              <a:rPr b="1" lang="en-US" sz="1600">
                <a:solidFill>
                  <a:schemeClr val="dk1"/>
                </a:solidFill>
                <a:latin typeface="Montserrat"/>
                <a:ea typeface="Montserrat"/>
                <a:cs typeface="Montserrat"/>
                <a:sym typeface="Montserrat"/>
              </a:rPr>
              <a:t>: Validation</a:t>
            </a:r>
            <a:endParaRPr b="1" sz="1600">
              <a:solidFill>
                <a:schemeClr val="dk1"/>
              </a:solidFill>
              <a:latin typeface="Montserrat"/>
              <a:ea typeface="Montserrat"/>
              <a:cs typeface="Montserrat"/>
              <a:sym typeface="Montserrat"/>
            </a:endParaRPr>
          </a:p>
        </p:txBody>
      </p:sp>
      <p:sp>
        <p:nvSpPr>
          <p:cNvPr id="772" name="Google Shape;772;p49"/>
          <p:cNvSpPr txBox="1"/>
          <p:nvPr/>
        </p:nvSpPr>
        <p:spPr>
          <a:xfrm>
            <a:off x="624381" y="1793075"/>
            <a:ext cx="3723300" cy="272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rgbClr val="FF9900"/>
                </a:solidFill>
                <a:latin typeface="Montserrat"/>
                <a:ea typeface="Montserrat"/>
                <a:cs typeface="Montserrat"/>
                <a:sym typeface="Montserrat"/>
              </a:rPr>
              <a:t>Policy</a:t>
            </a:r>
            <a:r>
              <a:rPr b="1" lang="en-US" sz="1600">
                <a:solidFill>
                  <a:schemeClr val="dk1"/>
                </a:solidFill>
                <a:latin typeface="Montserrat"/>
                <a:ea typeface="Montserrat"/>
                <a:cs typeface="Montserrat"/>
                <a:sym typeface="Montserrat"/>
              </a:rPr>
              <a:t>: Regulatory Statement</a:t>
            </a:r>
            <a:endParaRPr b="1" sz="1600">
              <a:solidFill>
                <a:schemeClr val="dk1"/>
              </a:solidFill>
              <a:latin typeface="Montserrat"/>
              <a:ea typeface="Montserrat"/>
              <a:cs typeface="Montserrat"/>
              <a:sym typeface="Montserrat"/>
            </a:endParaRPr>
          </a:p>
        </p:txBody>
      </p:sp>
      <p:pic>
        <p:nvPicPr>
          <p:cNvPr id="773" name="Google Shape;773;p49"/>
          <p:cNvPicPr preferRelativeResize="0"/>
          <p:nvPr/>
        </p:nvPicPr>
        <p:blipFill>
          <a:blip r:embed="rId12">
            <a:alphaModFix/>
          </a:blip>
          <a:stretch>
            <a:fillRect/>
          </a:stretch>
        </p:blipFill>
        <p:spPr>
          <a:xfrm>
            <a:off x="5923825" y="1760976"/>
            <a:ext cx="344368" cy="336600"/>
          </a:xfrm>
          <a:prstGeom prst="rect">
            <a:avLst/>
          </a:prstGeom>
          <a:noFill/>
          <a:ln>
            <a:noFill/>
          </a:ln>
        </p:spPr>
      </p:pic>
      <p:cxnSp>
        <p:nvCxnSpPr>
          <p:cNvPr id="774" name="Google Shape;774;p49"/>
          <p:cNvCxnSpPr>
            <a:stCxn id="771" idx="1"/>
            <a:endCxn id="773" idx="3"/>
          </p:cNvCxnSpPr>
          <p:nvPr/>
        </p:nvCxnSpPr>
        <p:spPr>
          <a:xfrm rot="10800000">
            <a:off x="6268300" y="1929275"/>
            <a:ext cx="1907700" cy="0"/>
          </a:xfrm>
          <a:prstGeom prst="straightConnector1">
            <a:avLst/>
          </a:prstGeom>
          <a:noFill/>
          <a:ln cap="flat" cmpd="sng" w="9525">
            <a:solidFill>
              <a:schemeClr val="dk2"/>
            </a:solidFill>
            <a:prstDash val="solid"/>
            <a:round/>
            <a:headEnd len="med" w="med" type="none"/>
            <a:tailEnd len="med" w="med" type="triangle"/>
          </a:ln>
        </p:spPr>
      </p:cxnSp>
      <p:cxnSp>
        <p:nvCxnSpPr>
          <p:cNvPr id="775" name="Google Shape;775;p49"/>
          <p:cNvCxnSpPr>
            <a:stCxn id="772" idx="3"/>
            <a:endCxn id="773" idx="1"/>
          </p:cNvCxnSpPr>
          <p:nvPr/>
        </p:nvCxnSpPr>
        <p:spPr>
          <a:xfrm>
            <a:off x="4347681" y="1929275"/>
            <a:ext cx="1576200" cy="0"/>
          </a:xfrm>
          <a:prstGeom prst="straightConnector1">
            <a:avLst/>
          </a:prstGeom>
          <a:noFill/>
          <a:ln cap="flat" cmpd="sng" w="9525">
            <a:solidFill>
              <a:schemeClr val="dk2"/>
            </a:solidFill>
            <a:prstDash val="solid"/>
            <a:round/>
            <a:headEnd len="med" w="med" type="none"/>
            <a:tailEnd len="med" w="med" type="triangle"/>
          </a:ln>
        </p:spPr>
      </p:cxnSp>
      <p:cxnSp>
        <p:nvCxnSpPr>
          <p:cNvPr id="776" name="Google Shape;776;p49"/>
          <p:cNvCxnSpPr>
            <a:stCxn id="773" idx="2"/>
            <a:endCxn id="764" idx="0"/>
          </p:cNvCxnSpPr>
          <p:nvPr/>
        </p:nvCxnSpPr>
        <p:spPr>
          <a:xfrm flipH="1">
            <a:off x="6095409" y="2097576"/>
            <a:ext cx="600" cy="595500"/>
          </a:xfrm>
          <a:prstGeom prst="straightConnector1">
            <a:avLst/>
          </a:prstGeom>
          <a:noFill/>
          <a:ln cap="flat" cmpd="sng" w="9525">
            <a:solidFill>
              <a:schemeClr val="dk2"/>
            </a:solidFill>
            <a:prstDash val="solid"/>
            <a:round/>
            <a:headEnd len="med" w="med" type="none"/>
            <a:tailEnd len="med" w="med" type="triangle"/>
          </a:ln>
        </p:spPr>
      </p:cxnSp>
      <p:sp>
        <p:nvSpPr>
          <p:cNvPr id="777" name="Google Shape;777;p49"/>
          <p:cNvSpPr txBox="1"/>
          <p:nvPr/>
        </p:nvSpPr>
        <p:spPr>
          <a:xfrm>
            <a:off x="8026003" y="2672900"/>
            <a:ext cx="2612400" cy="508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Procedure: </a:t>
            </a:r>
            <a:endParaRPr b="1" sz="1200">
              <a:solidFill>
                <a:schemeClr val="dk1"/>
              </a:solidFill>
              <a:latin typeface="Montserrat"/>
              <a:ea typeface="Montserrat"/>
              <a:cs typeface="Montserrat"/>
              <a:sym typeface="Montserrat"/>
            </a:endParaRPr>
          </a:p>
          <a:p>
            <a:pPr indent="0" lvl="0" marL="0" rtl="0" algn="ctr">
              <a:spcBef>
                <a:spcPts val="0"/>
              </a:spcBef>
              <a:spcAft>
                <a:spcPts val="0"/>
              </a:spcAft>
              <a:buNone/>
            </a:pPr>
            <a:r>
              <a:rPr b="1" i="1" lang="en-US" sz="1200">
                <a:solidFill>
                  <a:srgbClr val="858585"/>
                </a:solidFill>
                <a:latin typeface="Montserrat"/>
                <a:ea typeface="Montserrat"/>
                <a:cs typeface="Montserrat"/>
                <a:sym typeface="Montserrat"/>
              </a:rPr>
              <a:t>Validation Master Plan</a:t>
            </a:r>
            <a:endParaRPr b="1" i="1" sz="1200">
              <a:solidFill>
                <a:srgbClr val="858585"/>
              </a:solidFill>
              <a:latin typeface="Montserrat"/>
              <a:ea typeface="Montserrat"/>
              <a:cs typeface="Montserrat"/>
              <a:sym typeface="Montserrat"/>
            </a:endParaRPr>
          </a:p>
          <a:p>
            <a:pPr indent="0" lvl="0" marL="0" rtl="0" algn="ctr">
              <a:spcBef>
                <a:spcPts val="0"/>
              </a:spcBef>
              <a:spcAft>
                <a:spcPts val="0"/>
              </a:spcAft>
              <a:buNone/>
            </a:pPr>
            <a:r>
              <a:rPr b="1" i="1" lang="en-US" sz="1200">
                <a:solidFill>
                  <a:srgbClr val="858585"/>
                </a:solidFill>
                <a:latin typeface="Montserrat"/>
                <a:ea typeface="Montserrat"/>
                <a:cs typeface="Montserrat"/>
                <a:sym typeface="Montserrat"/>
              </a:rPr>
              <a:t>for Diagnexia</a:t>
            </a:r>
            <a:endParaRPr b="1" i="1" sz="1200">
              <a:solidFill>
                <a:srgbClr val="858585"/>
              </a:solidFill>
              <a:latin typeface="Montserrat"/>
              <a:ea typeface="Montserrat"/>
              <a:cs typeface="Montserrat"/>
              <a:sym typeface="Montserrat"/>
            </a:endParaRPr>
          </a:p>
        </p:txBody>
      </p:sp>
      <p:grpSp>
        <p:nvGrpSpPr>
          <p:cNvPr id="778" name="Google Shape;778;p49"/>
          <p:cNvGrpSpPr/>
          <p:nvPr/>
        </p:nvGrpSpPr>
        <p:grpSpPr>
          <a:xfrm>
            <a:off x="5652655" y="5264510"/>
            <a:ext cx="1070467" cy="1140143"/>
            <a:chOff x="4964713" y="5825766"/>
            <a:chExt cx="1609725" cy="1714500"/>
          </a:xfrm>
        </p:grpSpPr>
        <p:pic>
          <p:nvPicPr>
            <p:cNvPr id="779" name="Google Shape;779;p49"/>
            <p:cNvPicPr preferRelativeResize="0"/>
            <p:nvPr/>
          </p:nvPicPr>
          <p:blipFill>
            <a:blip r:embed="rId13">
              <a:alphaModFix/>
            </a:blip>
            <a:stretch>
              <a:fillRect/>
            </a:stretch>
          </p:blipFill>
          <p:spPr>
            <a:xfrm>
              <a:off x="4964713" y="5825766"/>
              <a:ext cx="1609725" cy="1714500"/>
            </a:xfrm>
            <a:prstGeom prst="rect">
              <a:avLst/>
            </a:prstGeom>
            <a:noFill/>
            <a:ln>
              <a:noFill/>
            </a:ln>
          </p:spPr>
        </p:pic>
        <p:grpSp>
          <p:nvGrpSpPr>
            <p:cNvPr id="780" name="Google Shape;780;p49"/>
            <p:cNvGrpSpPr/>
            <p:nvPr/>
          </p:nvGrpSpPr>
          <p:grpSpPr>
            <a:xfrm>
              <a:off x="5448650" y="6745697"/>
              <a:ext cx="641831" cy="592255"/>
              <a:chOff x="5582613" y="5548938"/>
              <a:chExt cx="1341900" cy="1238250"/>
            </a:xfrm>
          </p:grpSpPr>
          <p:pic>
            <p:nvPicPr>
              <p:cNvPr id="781" name="Google Shape;781;p49"/>
              <p:cNvPicPr preferRelativeResize="0"/>
              <p:nvPr/>
            </p:nvPicPr>
            <p:blipFill>
              <a:blip r:embed="rId14">
                <a:alphaModFix/>
              </a:blip>
              <a:stretch>
                <a:fillRect/>
              </a:stretch>
            </p:blipFill>
            <p:spPr>
              <a:xfrm>
                <a:off x="5639212" y="5548938"/>
                <a:ext cx="1228725" cy="1238250"/>
              </a:xfrm>
              <a:prstGeom prst="rect">
                <a:avLst/>
              </a:prstGeom>
              <a:noFill/>
              <a:ln>
                <a:noFill/>
              </a:ln>
            </p:spPr>
          </p:pic>
          <p:sp>
            <p:nvSpPr>
              <p:cNvPr id="782" name="Google Shape;782;p49"/>
              <p:cNvSpPr txBox="1"/>
              <p:nvPr/>
            </p:nvSpPr>
            <p:spPr>
              <a:xfrm>
                <a:off x="5582613" y="5947815"/>
                <a:ext cx="1341900" cy="492600"/>
              </a:xfrm>
              <a:prstGeom prst="rect">
                <a:avLst/>
              </a:prstGeom>
              <a:noFill/>
              <a:ln>
                <a:noFill/>
              </a:ln>
            </p:spPr>
            <p:txBody>
              <a:bodyPr anchorCtr="0" anchor="ctr" bIns="29075" lIns="29075" spcFirstLastPara="1" rIns="29075" wrap="square" tIns="29075">
                <a:noAutofit/>
              </a:bodyPr>
              <a:lstStyle/>
              <a:p>
                <a:pPr indent="0" lvl="0" marL="0" rtl="0" algn="ctr">
                  <a:spcBef>
                    <a:spcPts val="0"/>
                  </a:spcBef>
                  <a:spcAft>
                    <a:spcPts val="0"/>
                  </a:spcAft>
                  <a:buNone/>
                </a:pPr>
                <a:r>
                  <a:rPr lang="en-US" sz="445">
                    <a:solidFill>
                      <a:schemeClr val="dk1"/>
                    </a:solidFill>
                    <a:latin typeface="Montserrat"/>
                    <a:ea typeface="Montserrat"/>
                    <a:cs typeface="Montserrat"/>
                    <a:sym typeface="Montserrat"/>
                  </a:rPr>
                  <a:t>Orcanos</a:t>
                </a:r>
                <a:endParaRPr sz="445">
                  <a:solidFill>
                    <a:schemeClr val="dk1"/>
                  </a:solidFill>
                  <a:latin typeface="Montserrat"/>
                  <a:ea typeface="Montserrat"/>
                  <a:cs typeface="Montserrat"/>
                  <a:sym typeface="Montserrat"/>
                </a:endParaRPr>
              </a:p>
            </p:txBody>
          </p:sp>
        </p:grpSp>
      </p:grpSp>
      <p:sp>
        <p:nvSpPr>
          <p:cNvPr id="783" name="Google Shape;783;p49"/>
          <p:cNvSpPr txBox="1"/>
          <p:nvPr/>
        </p:nvSpPr>
        <p:spPr>
          <a:xfrm>
            <a:off x="1392213" y="2646500"/>
            <a:ext cx="2187600" cy="560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Procedure: </a:t>
            </a:r>
            <a:endParaRPr b="1" sz="1200">
              <a:solidFill>
                <a:schemeClr val="dk1"/>
              </a:solidFill>
              <a:latin typeface="Montserrat"/>
              <a:ea typeface="Montserrat"/>
              <a:cs typeface="Montserrat"/>
              <a:sym typeface="Montserrat"/>
            </a:endParaRPr>
          </a:p>
          <a:p>
            <a:pPr indent="0" lvl="0" marL="0" rtl="0" algn="ctr">
              <a:spcBef>
                <a:spcPts val="0"/>
              </a:spcBef>
              <a:spcAft>
                <a:spcPts val="0"/>
              </a:spcAft>
              <a:buNone/>
            </a:pPr>
            <a:r>
              <a:rPr b="1" i="1" lang="en-US" sz="1200">
                <a:solidFill>
                  <a:srgbClr val="858585"/>
                </a:solidFill>
                <a:latin typeface="Montserrat"/>
                <a:ea typeface="Montserrat"/>
                <a:cs typeface="Montserrat"/>
                <a:sym typeface="Montserrat"/>
              </a:rPr>
              <a:t>Regulatory Statement for Diagnexia</a:t>
            </a:r>
            <a:endParaRPr b="1" i="1" sz="1200">
              <a:solidFill>
                <a:srgbClr val="858585"/>
              </a:solidFill>
              <a:latin typeface="Montserrat"/>
              <a:ea typeface="Montserrat"/>
              <a:cs typeface="Montserrat"/>
              <a:sym typeface="Montserrat"/>
            </a:endParaRPr>
          </a:p>
        </p:txBody>
      </p:sp>
      <p:cxnSp>
        <p:nvCxnSpPr>
          <p:cNvPr id="784" name="Google Shape;784;p49"/>
          <p:cNvCxnSpPr>
            <a:stCxn id="764" idx="1"/>
            <a:endCxn id="783" idx="3"/>
          </p:cNvCxnSpPr>
          <p:nvPr/>
        </p:nvCxnSpPr>
        <p:spPr>
          <a:xfrm flipH="1">
            <a:off x="3579780" y="2926848"/>
            <a:ext cx="2169600" cy="600"/>
          </a:xfrm>
          <a:prstGeom prst="bentConnector3">
            <a:avLst>
              <a:gd fmla="val 49999" name="adj1"/>
            </a:avLst>
          </a:prstGeom>
          <a:noFill/>
          <a:ln cap="flat" cmpd="sng" w="9525">
            <a:solidFill>
              <a:schemeClr val="dk2"/>
            </a:solidFill>
            <a:prstDash val="solid"/>
            <a:round/>
            <a:headEnd len="med" w="med" type="none"/>
            <a:tailEnd len="med" w="med" type="triangle"/>
          </a:ln>
        </p:spPr>
      </p:cxnSp>
      <p:cxnSp>
        <p:nvCxnSpPr>
          <p:cNvPr id="785" name="Google Shape;785;p49"/>
          <p:cNvCxnSpPr>
            <a:stCxn id="772" idx="2"/>
            <a:endCxn id="783" idx="0"/>
          </p:cNvCxnSpPr>
          <p:nvPr/>
        </p:nvCxnSpPr>
        <p:spPr>
          <a:xfrm flipH="1" rot="-5400000">
            <a:off x="2195781" y="2355725"/>
            <a:ext cx="581100" cy="600"/>
          </a:xfrm>
          <a:prstGeom prst="bentConnector3">
            <a:avLst>
              <a:gd fmla="val 49994" name="adj1"/>
            </a:avLst>
          </a:prstGeom>
          <a:noFill/>
          <a:ln cap="flat" cmpd="sng" w="9525">
            <a:solidFill>
              <a:srgbClr val="9E9E9E"/>
            </a:solidFill>
            <a:prstDash val="dash"/>
            <a:round/>
            <a:headEnd len="med" w="med" type="none"/>
            <a:tailEnd len="med" w="med" type="triangle"/>
          </a:ln>
        </p:spPr>
      </p:cxnSp>
      <p:sp>
        <p:nvSpPr>
          <p:cNvPr id="786" name="Google Shape;786;p49"/>
          <p:cNvSpPr txBox="1"/>
          <p:nvPr/>
        </p:nvSpPr>
        <p:spPr>
          <a:xfrm>
            <a:off x="9702300" y="4663900"/>
            <a:ext cx="2120100" cy="7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Form</a:t>
            </a:r>
            <a:r>
              <a:rPr b="1" lang="en-US" sz="1200">
                <a:solidFill>
                  <a:schemeClr val="dk1"/>
                </a:solidFill>
                <a:latin typeface="Montserrat"/>
                <a:ea typeface="Montserrat"/>
                <a:cs typeface="Montserrat"/>
                <a:sym typeface="Montserrat"/>
              </a:rPr>
              <a:t>: </a:t>
            </a:r>
            <a:r>
              <a:rPr b="1" i="1" lang="en-US" sz="1200">
                <a:solidFill>
                  <a:srgbClr val="858585"/>
                </a:solidFill>
                <a:latin typeface="Montserrat"/>
                <a:ea typeface="Montserrat"/>
                <a:cs typeface="Montserrat"/>
                <a:sym typeface="Montserrat"/>
              </a:rPr>
              <a:t>Regulatory Statement Diagnexia USA</a:t>
            </a:r>
            <a:endParaRPr b="1" i="1" sz="1200">
              <a:solidFill>
                <a:srgbClr val="858585"/>
              </a:solidFill>
              <a:latin typeface="Montserrat"/>
              <a:ea typeface="Montserrat"/>
              <a:cs typeface="Montserrat"/>
              <a:sym typeface="Montserrat"/>
            </a:endParaRPr>
          </a:p>
        </p:txBody>
      </p:sp>
      <p:cxnSp>
        <p:nvCxnSpPr>
          <p:cNvPr id="787" name="Google Shape;787;p49"/>
          <p:cNvCxnSpPr>
            <a:stCxn id="764" idx="3"/>
            <a:endCxn id="777" idx="1"/>
          </p:cNvCxnSpPr>
          <p:nvPr/>
        </p:nvCxnSpPr>
        <p:spPr>
          <a:xfrm>
            <a:off x="6441166" y="2926848"/>
            <a:ext cx="1584900" cy="600"/>
          </a:xfrm>
          <a:prstGeom prst="bentConnector3">
            <a:avLst>
              <a:gd fmla="val 49998" name="adj1"/>
            </a:avLst>
          </a:prstGeom>
          <a:noFill/>
          <a:ln cap="flat" cmpd="sng" w="9525">
            <a:solidFill>
              <a:schemeClr val="dk2"/>
            </a:solidFill>
            <a:prstDash val="solid"/>
            <a:round/>
            <a:headEnd len="med" w="med" type="none"/>
            <a:tailEnd len="med" w="med" type="triangle"/>
          </a:ln>
        </p:spPr>
      </p:cxnSp>
      <p:cxnSp>
        <p:nvCxnSpPr>
          <p:cNvPr id="788" name="Google Shape;788;p49"/>
          <p:cNvCxnSpPr>
            <a:stCxn id="771" idx="2"/>
            <a:endCxn id="777" idx="0"/>
          </p:cNvCxnSpPr>
          <p:nvPr/>
        </p:nvCxnSpPr>
        <p:spPr>
          <a:xfrm flipH="1" rot="-5400000">
            <a:off x="9028750" y="2368925"/>
            <a:ext cx="607500" cy="600"/>
          </a:xfrm>
          <a:prstGeom prst="bentConnector3">
            <a:avLst>
              <a:gd fmla="val 49994" name="adj1"/>
            </a:avLst>
          </a:prstGeom>
          <a:noFill/>
          <a:ln cap="flat" cmpd="sng" w="9525">
            <a:solidFill>
              <a:schemeClr val="dk1"/>
            </a:solidFill>
            <a:prstDash val="dash"/>
            <a:round/>
            <a:headEnd len="med" w="med" type="none"/>
            <a:tailEnd len="med" w="med" type="triangle"/>
          </a:ln>
        </p:spPr>
      </p:cxnSp>
      <p:sp>
        <p:nvSpPr>
          <p:cNvPr id="789" name="Google Shape;789;p49"/>
          <p:cNvSpPr txBox="1"/>
          <p:nvPr/>
        </p:nvSpPr>
        <p:spPr>
          <a:xfrm>
            <a:off x="768725" y="4755450"/>
            <a:ext cx="2120100" cy="7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Form: </a:t>
            </a:r>
            <a:r>
              <a:rPr b="1" i="1" lang="en-US" sz="1200">
                <a:solidFill>
                  <a:srgbClr val="858585"/>
                </a:solidFill>
                <a:latin typeface="Montserrat"/>
                <a:ea typeface="Montserrat"/>
                <a:cs typeface="Montserrat"/>
                <a:sym typeface="Montserrat"/>
              </a:rPr>
              <a:t>Regulatory Statement Diagnexia UK</a:t>
            </a:r>
            <a:endParaRPr b="1" i="1" sz="1200">
              <a:solidFill>
                <a:srgbClr val="858585"/>
              </a:solidFill>
              <a:latin typeface="Montserrat"/>
              <a:ea typeface="Montserrat"/>
              <a:cs typeface="Montserrat"/>
              <a:sym typeface="Montserrat"/>
            </a:endParaRPr>
          </a:p>
        </p:txBody>
      </p:sp>
      <p:sp>
        <p:nvSpPr>
          <p:cNvPr id="790" name="Google Shape;790;p49"/>
          <p:cNvSpPr txBox="1"/>
          <p:nvPr/>
        </p:nvSpPr>
        <p:spPr>
          <a:xfrm>
            <a:off x="2968513" y="4755450"/>
            <a:ext cx="2120100" cy="7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Form: </a:t>
            </a:r>
            <a:r>
              <a:rPr b="1" i="1" lang="en-US" sz="1200">
                <a:solidFill>
                  <a:srgbClr val="858585"/>
                </a:solidFill>
                <a:latin typeface="Montserrat"/>
                <a:ea typeface="Montserrat"/>
                <a:cs typeface="Montserrat"/>
                <a:sym typeface="Montserrat"/>
              </a:rPr>
              <a:t>Regulatory Statement Diagnexia ROW</a:t>
            </a:r>
            <a:endParaRPr b="1" i="1" sz="1200">
              <a:solidFill>
                <a:srgbClr val="858585"/>
              </a:solidFill>
              <a:latin typeface="Montserrat"/>
              <a:ea typeface="Montserrat"/>
              <a:cs typeface="Montserrat"/>
              <a:sym typeface="Montserrat"/>
            </a:endParaRPr>
          </a:p>
        </p:txBody>
      </p:sp>
      <p:sp>
        <p:nvSpPr>
          <p:cNvPr id="791" name="Google Shape;791;p49"/>
          <p:cNvSpPr txBox="1"/>
          <p:nvPr/>
        </p:nvSpPr>
        <p:spPr>
          <a:xfrm>
            <a:off x="7363900" y="4663900"/>
            <a:ext cx="2120100" cy="723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solidFill>
                  <a:schemeClr val="dk1"/>
                </a:solidFill>
                <a:latin typeface="Montserrat"/>
                <a:ea typeface="Montserrat"/>
                <a:cs typeface="Montserrat"/>
                <a:sym typeface="Montserrat"/>
              </a:rPr>
              <a:t>Form: </a:t>
            </a:r>
            <a:r>
              <a:rPr b="1" i="1" lang="en-US" sz="1200">
                <a:solidFill>
                  <a:srgbClr val="858585"/>
                </a:solidFill>
                <a:latin typeface="Montserrat"/>
                <a:ea typeface="Montserrat"/>
                <a:cs typeface="Montserrat"/>
                <a:sym typeface="Montserrat"/>
              </a:rPr>
              <a:t>Regulatory Statement Diagnexia CA</a:t>
            </a:r>
            <a:endParaRPr b="1" i="1" sz="1200">
              <a:solidFill>
                <a:srgbClr val="858585"/>
              </a:solidFill>
              <a:latin typeface="Montserrat"/>
              <a:ea typeface="Montserrat"/>
              <a:cs typeface="Montserrat"/>
              <a:sym typeface="Montserrat"/>
            </a:endParaRPr>
          </a:p>
        </p:txBody>
      </p:sp>
      <p:cxnSp>
        <p:nvCxnSpPr>
          <p:cNvPr id="792" name="Google Shape;792;p49"/>
          <p:cNvCxnSpPr>
            <a:stCxn id="764" idx="2"/>
            <a:endCxn id="766" idx="0"/>
          </p:cNvCxnSpPr>
          <p:nvPr/>
        </p:nvCxnSpPr>
        <p:spPr>
          <a:xfrm flipH="1" rot="-5400000">
            <a:off x="5656373" y="3599378"/>
            <a:ext cx="878400" cy="600"/>
          </a:xfrm>
          <a:prstGeom prst="bentConnector3">
            <a:avLst>
              <a:gd fmla="val 50006" name="adj1"/>
            </a:avLst>
          </a:prstGeom>
          <a:noFill/>
          <a:ln cap="flat" cmpd="sng" w="9525">
            <a:solidFill>
              <a:schemeClr val="dk2"/>
            </a:solidFill>
            <a:prstDash val="solid"/>
            <a:round/>
            <a:headEnd len="med" w="med" type="none"/>
            <a:tailEnd len="med" w="med" type="triangle"/>
          </a:ln>
        </p:spPr>
      </p:cxnSp>
      <p:pic>
        <p:nvPicPr>
          <p:cNvPr id="793" name="Google Shape;793;p49"/>
          <p:cNvPicPr preferRelativeResize="0"/>
          <p:nvPr/>
        </p:nvPicPr>
        <p:blipFill>
          <a:blip r:embed="rId15">
            <a:alphaModFix/>
          </a:blip>
          <a:stretch>
            <a:fillRect/>
          </a:stretch>
        </p:blipFill>
        <p:spPr>
          <a:xfrm>
            <a:off x="9348748" y="4434078"/>
            <a:ext cx="428625" cy="380099"/>
          </a:xfrm>
          <a:prstGeom prst="rect">
            <a:avLst/>
          </a:prstGeom>
          <a:noFill/>
          <a:ln cap="flat" cmpd="sng" w="5125">
            <a:solidFill>
              <a:srgbClr val="FF9900"/>
            </a:solidFill>
            <a:prstDash val="solid"/>
            <a:round/>
            <a:headEnd len="sm" w="sm" type="none"/>
            <a:tailEnd len="sm" w="sm" type="none"/>
          </a:ln>
        </p:spPr>
      </p:pic>
      <p:pic>
        <p:nvPicPr>
          <p:cNvPr id="794" name="Google Shape;794;p49"/>
          <p:cNvPicPr preferRelativeResize="0"/>
          <p:nvPr/>
        </p:nvPicPr>
        <p:blipFill>
          <a:blip r:embed="rId15">
            <a:alphaModFix/>
          </a:blip>
          <a:stretch>
            <a:fillRect/>
          </a:stretch>
        </p:blipFill>
        <p:spPr>
          <a:xfrm>
            <a:off x="2378548" y="1376828"/>
            <a:ext cx="428625" cy="380099"/>
          </a:xfrm>
          <a:prstGeom prst="rect">
            <a:avLst/>
          </a:prstGeom>
          <a:noFill/>
          <a:ln cap="flat" cmpd="sng" w="5125">
            <a:solidFill>
              <a:srgbClr val="FF9900"/>
            </a:solidFill>
            <a:prstDash val="solid"/>
            <a:round/>
            <a:headEnd len="sm" w="sm" type="none"/>
            <a:tailEnd len="sm" w="sm" type="none"/>
          </a:ln>
        </p:spPr>
      </p:pic>
      <p:pic>
        <p:nvPicPr>
          <p:cNvPr id="795" name="Google Shape;795;p49"/>
          <p:cNvPicPr preferRelativeResize="0"/>
          <p:nvPr/>
        </p:nvPicPr>
        <p:blipFill>
          <a:blip r:embed="rId16">
            <a:alphaModFix/>
          </a:blip>
          <a:stretch>
            <a:fillRect/>
          </a:stretch>
        </p:blipFill>
        <p:spPr>
          <a:xfrm>
            <a:off x="10364050" y="2097575"/>
            <a:ext cx="1129536" cy="595500"/>
          </a:xfrm>
          <a:prstGeom prst="rect">
            <a:avLst/>
          </a:prstGeom>
          <a:noFill/>
          <a:ln>
            <a:noFill/>
          </a:ln>
        </p:spPr>
      </p:pic>
      <p:sp>
        <p:nvSpPr>
          <p:cNvPr id="796" name="Google Shape;796;p49"/>
          <p:cNvSpPr txBox="1"/>
          <p:nvPr/>
        </p:nvSpPr>
        <p:spPr>
          <a:xfrm>
            <a:off x="10364063" y="2259125"/>
            <a:ext cx="1129500" cy="27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900">
                <a:solidFill>
                  <a:schemeClr val="dk1"/>
                </a:solidFill>
                <a:latin typeface="Montserrat"/>
                <a:ea typeface="Montserrat"/>
                <a:cs typeface="Montserrat"/>
                <a:sym typeface="Montserrat"/>
              </a:rPr>
              <a:t>All Products</a:t>
            </a:r>
            <a:endParaRPr b="1" sz="900">
              <a:solidFill>
                <a:schemeClr val="dk1"/>
              </a:solidFill>
              <a:latin typeface="Montserrat"/>
              <a:ea typeface="Montserrat"/>
              <a:cs typeface="Montserrat"/>
              <a:sym typeface="Montserrat"/>
            </a:endParaRPr>
          </a:p>
        </p:txBody>
      </p:sp>
      <p:pic>
        <p:nvPicPr>
          <p:cNvPr id="797" name="Google Shape;797;p49"/>
          <p:cNvPicPr preferRelativeResize="0"/>
          <p:nvPr/>
        </p:nvPicPr>
        <p:blipFill>
          <a:blip r:embed="rId17">
            <a:alphaModFix/>
          </a:blip>
          <a:stretch>
            <a:fillRect/>
          </a:stretch>
        </p:blipFill>
        <p:spPr>
          <a:xfrm>
            <a:off x="1758975" y="2159437"/>
            <a:ext cx="379411" cy="393100"/>
          </a:xfrm>
          <a:prstGeom prst="rect">
            <a:avLst/>
          </a:prstGeom>
          <a:noFill/>
          <a:ln cap="flat" cmpd="sng" w="9525">
            <a:solidFill>
              <a:srgbClr val="FF9900"/>
            </a:solidFill>
            <a:prstDash val="solid"/>
            <a:round/>
            <a:headEnd len="sm" w="sm" type="none"/>
            <a:tailEnd len="sm" w="sm" type="none"/>
          </a:ln>
        </p:spPr>
      </p:pic>
      <p:pic>
        <p:nvPicPr>
          <p:cNvPr id="798" name="Google Shape;798;p49"/>
          <p:cNvPicPr preferRelativeResize="0"/>
          <p:nvPr/>
        </p:nvPicPr>
        <p:blipFill>
          <a:blip r:embed="rId17">
            <a:alphaModFix/>
          </a:blip>
          <a:stretch>
            <a:fillRect/>
          </a:stretch>
        </p:blipFill>
        <p:spPr>
          <a:xfrm>
            <a:off x="2705125" y="4427575"/>
            <a:ext cx="379411" cy="393100"/>
          </a:xfrm>
          <a:prstGeom prst="rect">
            <a:avLst/>
          </a:prstGeom>
          <a:noFill/>
          <a:ln cap="flat" cmpd="sng" w="9525">
            <a:solidFill>
              <a:srgbClr val="FF9900"/>
            </a:solidFill>
            <a:prstDash val="solid"/>
            <a:round/>
            <a:headEnd len="sm" w="sm" type="none"/>
            <a:tailEnd len="sm" w="sm" type="none"/>
          </a:ln>
        </p:spPr>
      </p:pic>
      <p:pic>
        <p:nvPicPr>
          <p:cNvPr id="799" name="Google Shape;799;p49"/>
          <p:cNvPicPr preferRelativeResize="0"/>
          <p:nvPr/>
        </p:nvPicPr>
        <p:blipFill>
          <a:blip r:embed="rId18">
            <a:alphaModFix/>
          </a:blip>
          <a:stretch>
            <a:fillRect/>
          </a:stretch>
        </p:blipFill>
        <p:spPr>
          <a:xfrm>
            <a:off x="7528797" y="2546059"/>
            <a:ext cx="872073" cy="272400"/>
          </a:xfrm>
          <a:prstGeom prst="rect">
            <a:avLst/>
          </a:prstGeom>
          <a:noFill/>
          <a:ln>
            <a:noFill/>
          </a:ln>
        </p:spPr>
      </p:pic>
      <p:sp>
        <p:nvSpPr>
          <p:cNvPr id="800" name="Google Shape;800;p49"/>
          <p:cNvSpPr txBox="1"/>
          <p:nvPr/>
        </p:nvSpPr>
        <p:spPr>
          <a:xfrm>
            <a:off x="7134875" y="2200875"/>
            <a:ext cx="1659900" cy="33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DMS-8765</a:t>
            </a:r>
            <a:endParaRPr i="1" sz="10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Equipment validation</a:t>
            </a:r>
            <a:endParaRPr i="1" sz="1000">
              <a:solidFill>
                <a:schemeClr val="dk1"/>
              </a:solidFill>
              <a:latin typeface="Montserrat"/>
              <a:ea typeface="Montserrat"/>
              <a:cs typeface="Montserrat"/>
              <a:sym typeface="Montserrat"/>
            </a:endParaRPr>
          </a:p>
        </p:txBody>
      </p:sp>
      <p:cxnSp>
        <p:nvCxnSpPr>
          <p:cNvPr id="801" name="Google Shape;801;p49"/>
          <p:cNvCxnSpPr>
            <a:stCxn id="766" idx="3"/>
            <a:endCxn id="769" idx="1"/>
          </p:cNvCxnSpPr>
          <p:nvPr/>
        </p:nvCxnSpPr>
        <p:spPr>
          <a:xfrm>
            <a:off x="6488312" y="4332301"/>
            <a:ext cx="1473000" cy="600"/>
          </a:xfrm>
          <a:prstGeom prst="bentConnector3">
            <a:avLst>
              <a:gd fmla="val 50005" name="adj1"/>
            </a:avLst>
          </a:prstGeom>
          <a:noFill/>
          <a:ln cap="flat" cmpd="sng" w="9525">
            <a:solidFill>
              <a:schemeClr val="dk2"/>
            </a:solidFill>
            <a:prstDash val="solid"/>
            <a:round/>
            <a:headEnd len="med" w="med" type="none"/>
            <a:tailEnd len="med" w="med" type="none"/>
          </a:ln>
        </p:spPr>
      </p:cxnSp>
      <p:cxnSp>
        <p:nvCxnSpPr>
          <p:cNvPr id="802" name="Google Shape;802;p49"/>
          <p:cNvCxnSpPr>
            <a:stCxn id="769" idx="3"/>
            <a:endCxn id="768" idx="1"/>
          </p:cNvCxnSpPr>
          <p:nvPr/>
        </p:nvCxnSpPr>
        <p:spPr>
          <a:xfrm>
            <a:off x="8747685" y="4332294"/>
            <a:ext cx="1546200" cy="600"/>
          </a:xfrm>
          <a:prstGeom prst="bentConnector3">
            <a:avLst>
              <a:gd fmla="val 49996" name="adj1"/>
            </a:avLst>
          </a:prstGeom>
          <a:noFill/>
          <a:ln cap="flat" cmpd="sng" w="9525">
            <a:solidFill>
              <a:schemeClr val="dk2"/>
            </a:solidFill>
            <a:prstDash val="solid"/>
            <a:round/>
            <a:headEnd len="med" w="med" type="none"/>
            <a:tailEnd len="med" w="med" type="triangle"/>
          </a:ln>
        </p:spPr>
      </p:cxnSp>
      <p:cxnSp>
        <p:nvCxnSpPr>
          <p:cNvPr id="803" name="Google Shape;803;p49"/>
          <p:cNvCxnSpPr>
            <a:stCxn id="766" idx="1"/>
            <a:endCxn id="770" idx="3"/>
          </p:cNvCxnSpPr>
          <p:nvPr/>
        </p:nvCxnSpPr>
        <p:spPr>
          <a:xfrm flipH="1">
            <a:off x="4085687" y="4332301"/>
            <a:ext cx="1616400" cy="600"/>
          </a:xfrm>
          <a:prstGeom prst="bentConnector3">
            <a:avLst>
              <a:gd fmla="val 49996" name="adj1"/>
            </a:avLst>
          </a:prstGeom>
          <a:noFill/>
          <a:ln cap="flat" cmpd="sng" w="9525">
            <a:solidFill>
              <a:schemeClr val="dk2"/>
            </a:solidFill>
            <a:prstDash val="solid"/>
            <a:round/>
            <a:headEnd len="med" w="med" type="none"/>
            <a:tailEnd len="med" w="med" type="none"/>
          </a:ln>
        </p:spPr>
      </p:cxnSp>
      <p:cxnSp>
        <p:nvCxnSpPr>
          <p:cNvPr id="804" name="Google Shape;804;p49"/>
          <p:cNvCxnSpPr>
            <a:stCxn id="770" idx="1"/>
            <a:endCxn id="767" idx="3"/>
          </p:cNvCxnSpPr>
          <p:nvPr/>
        </p:nvCxnSpPr>
        <p:spPr>
          <a:xfrm flipH="1">
            <a:off x="2174576" y="4332603"/>
            <a:ext cx="1338000" cy="600"/>
          </a:xfrm>
          <a:prstGeom prst="bentConnector3">
            <a:avLst>
              <a:gd fmla="val 49996" name="adj1"/>
            </a:avLst>
          </a:prstGeom>
          <a:noFill/>
          <a:ln cap="flat" cmpd="sng" w="9525">
            <a:solidFill>
              <a:schemeClr val="dk2"/>
            </a:solidFill>
            <a:prstDash val="solid"/>
            <a:round/>
            <a:headEnd len="med" w="med" type="none"/>
            <a:tailEnd len="med" w="med" type="triangle"/>
          </a:ln>
        </p:spPr>
      </p:cxnSp>
      <p:sp>
        <p:nvSpPr>
          <p:cNvPr id="805" name="Google Shape;805;p49"/>
          <p:cNvSpPr txBox="1"/>
          <p:nvPr/>
        </p:nvSpPr>
        <p:spPr>
          <a:xfrm>
            <a:off x="8272450" y="3929075"/>
            <a:ext cx="2120100" cy="14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Validation Summary Report</a:t>
            </a:r>
            <a:endParaRPr i="1" sz="1000">
              <a:solidFill>
                <a:schemeClr val="dk1"/>
              </a:solidFill>
              <a:latin typeface="Montserrat"/>
              <a:ea typeface="Montserrat"/>
              <a:cs typeface="Montserrat"/>
              <a:sym typeface="Montserrat"/>
            </a:endParaRPr>
          </a:p>
        </p:txBody>
      </p:sp>
      <p:cxnSp>
        <p:nvCxnSpPr>
          <p:cNvPr id="806" name="Google Shape;806;p49"/>
          <p:cNvCxnSpPr>
            <a:stCxn id="777" idx="2"/>
            <a:endCxn id="805" idx="0"/>
          </p:cNvCxnSpPr>
          <p:nvPr/>
        </p:nvCxnSpPr>
        <p:spPr>
          <a:xfrm flipH="1" rot="-5400000">
            <a:off x="8958703" y="3554900"/>
            <a:ext cx="747600" cy="600"/>
          </a:xfrm>
          <a:prstGeom prst="bentConnector3">
            <a:avLst>
              <a:gd fmla="val 50005" name="adj1"/>
            </a:avLst>
          </a:prstGeom>
          <a:noFill/>
          <a:ln cap="flat" cmpd="sng" w="9525">
            <a:solidFill>
              <a:schemeClr val="dk2"/>
            </a:solidFill>
            <a:prstDash val="solid"/>
            <a:round/>
            <a:headEnd len="med" w="med" type="none"/>
            <a:tailEnd len="med" w="med" type="triangle"/>
          </a:ln>
        </p:spPr>
      </p:cxnSp>
      <p:cxnSp>
        <p:nvCxnSpPr>
          <p:cNvPr id="807" name="Google Shape;807;p49"/>
          <p:cNvCxnSpPr>
            <a:stCxn id="771" idx="2"/>
            <a:endCxn id="800" idx="3"/>
          </p:cNvCxnSpPr>
          <p:nvPr/>
        </p:nvCxnSpPr>
        <p:spPr>
          <a:xfrm rot="5400000">
            <a:off x="8911750" y="1948625"/>
            <a:ext cx="303600" cy="537300"/>
          </a:xfrm>
          <a:prstGeom prst="bentConnector2">
            <a:avLst/>
          </a:prstGeom>
          <a:noFill/>
          <a:ln cap="flat" cmpd="sng" w="9525">
            <a:solidFill>
              <a:schemeClr val="dk2"/>
            </a:solidFill>
            <a:prstDash val="dash"/>
            <a:round/>
            <a:headEnd len="med" w="med" type="none"/>
            <a:tailEnd len="med" w="med" type="triangle"/>
          </a:ln>
        </p:spPr>
      </p:cxnSp>
      <p:cxnSp>
        <p:nvCxnSpPr>
          <p:cNvPr id="808" name="Google Shape;808;p49"/>
          <p:cNvCxnSpPr>
            <a:stCxn id="771" idx="2"/>
            <a:endCxn id="796" idx="1"/>
          </p:cNvCxnSpPr>
          <p:nvPr/>
        </p:nvCxnSpPr>
        <p:spPr>
          <a:xfrm flipH="1" rot="-5400000">
            <a:off x="9683200" y="1714475"/>
            <a:ext cx="330000" cy="1032000"/>
          </a:xfrm>
          <a:prstGeom prst="bentConnector2">
            <a:avLst/>
          </a:prstGeom>
          <a:noFill/>
          <a:ln cap="flat" cmpd="sng" w="9525">
            <a:solidFill>
              <a:schemeClr val="dk2"/>
            </a:solidFill>
            <a:prstDash val="dash"/>
            <a:round/>
            <a:headEnd len="med" w="med" type="none"/>
            <a:tailEnd len="med" w="med" type="triangle"/>
          </a:ln>
        </p:spPr>
      </p:cxnSp>
      <p:sp>
        <p:nvSpPr>
          <p:cNvPr id="809" name="Google Shape;809;p49"/>
          <p:cNvSpPr txBox="1"/>
          <p:nvPr/>
        </p:nvSpPr>
        <p:spPr>
          <a:xfrm>
            <a:off x="624375" y="960600"/>
            <a:ext cx="4877700" cy="380100"/>
          </a:xfrm>
          <a:prstGeom prst="rect">
            <a:avLst/>
          </a:prstGeom>
          <a:noFill/>
          <a:ln>
            <a:noFill/>
          </a:ln>
        </p:spPr>
        <p:txBody>
          <a:bodyPr anchorCtr="0" anchor="ctr" bIns="91425" lIns="91425" spcFirstLastPara="1" rIns="91425" wrap="square" tIns="91425">
            <a:noAutofit/>
          </a:bodyPr>
          <a:lstStyle/>
          <a:p>
            <a:pPr indent="-292100" lvl="0" marL="457200" rtl="0" algn="l">
              <a:lnSpc>
                <a:spcPct val="110000"/>
              </a:lnSpc>
              <a:spcBef>
                <a:spcPts val="0"/>
              </a:spcBef>
              <a:spcAft>
                <a:spcPts val="0"/>
              </a:spcAft>
              <a:buClr>
                <a:schemeClr val="dk1"/>
              </a:buClr>
              <a:buSzPts val="1000"/>
              <a:buChar char="●"/>
            </a:pPr>
            <a:r>
              <a:rPr lang="en-US" sz="1000">
                <a:solidFill>
                  <a:schemeClr val="dk1"/>
                </a:solidFill>
                <a:latin typeface="Montserrat"/>
                <a:ea typeface="Montserrat"/>
                <a:cs typeface="Montserrat"/>
                <a:sym typeface="Montserrat"/>
              </a:rPr>
              <a:t>CAPA-107823 → Validation, Reg Statement for Diagnexia (USA)</a:t>
            </a:r>
            <a:endParaRPr sz="1000">
              <a:solidFill>
                <a:schemeClr val="dk1"/>
              </a:solidFill>
              <a:latin typeface="Montserrat"/>
              <a:ea typeface="Montserrat"/>
              <a:cs typeface="Montserrat"/>
              <a:sym typeface="Montserrat"/>
            </a:endParaRPr>
          </a:p>
          <a:p>
            <a:pPr indent="-292100" lvl="0" marL="457200" rtl="0" algn="l">
              <a:lnSpc>
                <a:spcPct val="110000"/>
              </a:lnSpc>
              <a:spcBef>
                <a:spcPts val="0"/>
              </a:spcBef>
              <a:spcAft>
                <a:spcPts val="0"/>
              </a:spcAft>
              <a:buClr>
                <a:schemeClr val="dk1"/>
              </a:buClr>
              <a:buSzPts val="1000"/>
              <a:buChar char="●"/>
            </a:pPr>
            <a:r>
              <a:rPr lang="en-US" sz="1000">
                <a:solidFill>
                  <a:schemeClr val="dk1"/>
                </a:solidFill>
                <a:latin typeface="Montserrat"/>
                <a:ea typeface="Montserrat"/>
                <a:cs typeface="Montserrat"/>
                <a:sym typeface="Montserrat"/>
              </a:rPr>
              <a:t>CAPA-107829 → Validation records</a:t>
            </a:r>
            <a:endParaRPr sz="1600">
              <a:solidFill>
                <a:schemeClr val="dk1"/>
              </a:solidFill>
              <a:latin typeface="Montserrat"/>
              <a:ea typeface="Montserrat"/>
              <a:cs typeface="Montserrat"/>
              <a:sym typeface="Montserrat"/>
            </a:endParaRPr>
          </a:p>
        </p:txBody>
      </p:sp>
      <p:pic>
        <p:nvPicPr>
          <p:cNvPr id="810" name="Google Shape;810;p49"/>
          <p:cNvPicPr preferRelativeResize="0"/>
          <p:nvPr/>
        </p:nvPicPr>
        <p:blipFill>
          <a:blip r:embed="rId19">
            <a:alphaModFix/>
          </a:blip>
          <a:stretch>
            <a:fillRect/>
          </a:stretch>
        </p:blipFill>
        <p:spPr>
          <a:xfrm>
            <a:off x="10416434" y="5703706"/>
            <a:ext cx="691825" cy="565466"/>
          </a:xfrm>
          <a:prstGeom prst="rect">
            <a:avLst/>
          </a:prstGeom>
          <a:noFill/>
          <a:ln>
            <a:noFill/>
          </a:ln>
        </p:spPr>
      </p:pic>
      <p:sp>
        <p:nvSpPr>
          <p:cNvPr id="811" name="Google Shape;811;p49"/>
          <p:cNvSpPr txBox="1"/>
          <p:nvPr/>
        </p:nvSpPr>
        <p:spPr>
          <a:xfrm>
            <a:off x="9977675" y="6269125"/>
            <a:ext cx="1729200" cy="206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Med director sign</a:t>
            </a:r>
            <a:endParaRPr sz="1100">
              <a:solidFill>
                <a:schemeClr val="dk1"/>
              </a:solidFill>
              <a:latin typeface="Montserrat"/>
              <a:ea typeface="Montserrat"/>
              <a:cs typeface="Montserrat"/>
              <a:sym typeface="Montserrat"/>
            </a:endParaRPr>
          </a:p>
        </p:txBody>
      </p:sp>
      <p:cxnSp>
        <p:nvCxnSpPr>
          <p:cNvPr id="812" name="Google Shape;812;p49"/>
          <p:cNvCxnSpPr>
            <a:stCxn id="786" idx="2"/>
            <a:endCxn id="810" idx="0"/>
          </p:cNvCxnSpPr>
          <p:nvPr/>
        </p:nvCxnSpPr>
        <p:spPr>
          <a:xfrm flipH="1" rot="-5400000">
            <a:off x="10604700" y="5545450"/>
            <a:ext cx="315900" cy="600"/>
          </a:xfrm>
          <a:prstGeom prst="bentConnector3">
            <a:avLst>
              <a:gd fmla="val 50001" name="adj1"/>
            </a:avLst>
          </a:prstGeom>
          <a:noFill/>
          <a:ln cap="flat" cmpd="sng" w="9525">
            <a:solidFill>
              <a:schemeClr val="dk2"/>
            </a:solidFill>
            <a:prstDash val="solid"/>
            <a:round/>
            <a:headEnd len="med" w="med" type="none"/>
            <a:tailEnd len="med" w="med" type="triangle"/>
          </a:ln>
        </p:spPr>
      </p:cxnSp>
      <p:pic>
        <p:nvPicPr>
          <p:cNvPr id="813" name="Google Shape;813;p49"/>
          <p:cNvPicPr preferRelativeResize="0"/>
          <p:nvPr/>
        </p:nvPicPr>
        <p:blipFill>
          <a:blip r:embed="rId20">
            <a:alphaModFix/>
          </a:blip>
          <a:stretch>
            <a:fillRect/>
          </a:stretch>
        </p:blipFill>
        <p:spPr>
          <a:xfrm>
            <a:off x="11169575" y="5660728"/>
            <a:ext cx="537300" cy="555617"/>
          </a:xfrm>
          <a:prstGeom prst="rect">
            <a:avLst/>
          </a:prstGeom>
          <a:noFill/>
          <a:ln>
            <a:noFill/>
          </a:ln>
        </p:spPr>
      </p:pic>
      <p:sp>
        <p:nvSpPr>
          <p:cNvPr id="814" name="Google Shape;814;p49"/>
          <p:cNvSpPr txBox="1"/>
          <p:nvPr/>
        </p:nvSpPr>
        <p:spPr>
          <a:xfrm>
            <a:off x="6983725" y="5737156"/>
            <a:ext cx="1659900" cy="508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DMS-8069</a:t>
            </a:r>
            <a:endParaRPr i="1" sz="10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Document Retention</a:t>
            </a:r>
            <a:endParaRPr i="1" sz="10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000">
                <a:solidFill>
                  <a:schemeClr val="dk1"/>
                </a:solidFill>
                <a:latin typeface="Montserrat"/>
                <a:ea typeface="Montserrat"/>
                <a:cs typeface="Montserrat"/>
                <a:sym typeface="Montserrat"/>
              </a:rPr>
              <a:t>lifetime +2 years</a:t>
            </a:r>
            <a:endParaRPr i="1" sz="1000">
              <a:solidFill>
                <a:schemeClr val="dk1"/>
              </a:solidFill>
              <a:latin typeface="Montserrat"/>
              <a:ea typeface="Montserrat"/>
              <a:cs typeface="Montserrat"/>
              <a:sym typeface="Montserrat"/>
            </a:endParaRPr>
          </a:p>
        </p:txBody>
      </p:sp>
      <p:cxnSp>
        <p:nvCxnSpPr>
          <p:cNvPr id="815" name="Google Shape;815;p49"/>
          <p:cNvCxnSpPr>
            <a:stCxn id="810" idx="1"/>
            <a:endCxn id="814" idx="3"/>
          </p:cNvCxnSpPr>
          <p:nvPr/>
        </p:nvCxnSpPr>
        <p:spPr>
          <a:xfrm flipH="1">
            <a:off x="8643734" y="5986439"/>
            <a:ext cx="1772700" cy="5100"/>
          </a:xfrm>
          <a:prstGeom prst="bentConnector3">
            <a:avLst>
              <a:gd fmla="val 50003" name="adj1"/>
            </a:avLst>
          </a:prstGeom>
          <a:noFill/>
          <a:ln cap="flat" cmpd="sng" w="9525">
            <a:solidFill>
              <a:schemeClr val="dk2"/>
            </a:solidFill>
            <a:prstDash val="solid"/>
            <a:round/>
            <a:headEnd len="med" w="med" type="none"/>
            <a:tailEnd len="med" w="med" type="triangle"/>
          </a:ln>
        </p:spPr>
      </p:cxnSp>
      <p:cxnSp>
        <p:nvCxnSpPr>
          <p:cNvPr id="816" name="Google Shape;816;p49"/>
          <p:cNvCxnSpPr>
            <a:stCxn id="814" idx="1"/>
          </p:cNvCxnSpPr>
          <p:nvPr/>
        </p:nvCxnSpPr>
        <p:spPr>
          <a:xfrm flipH="1">
            <a:off x="6708325" y="5991406"/>
            <a:ext cx="275400" cy="600"/>
          </a:xfrm>
          <a:prstGeom prst="bentConnector3">
            <a:avLst>
              <a:gd fmla="val 50000" name="adj1"/>
            </a:avLst>
          </a:prstGeom>
          <a:noFill/>
          <a:ln cap="flat" cmpd="sng" w="9525">
            <a:solidFill>
              <a:schemeClr val="dk2"/>
            </a:solidFill>
            <a:prstDash val="solid"/>
            <a:round/>
            <a:headEnd len="med" w="med" type="none"/>
            <a:tailEnd len="med" w="med" type="triangle"/>
          </a:ln>
        </p:spPr>
      </p:cxnSp>
      <p:sp>
        <p:nvSpPr>
          <p:cNvPr id="817" name="Google Shape;817;p49"/>
          <p:cNvSpPr txBox="1"/>
          <p:nvPr/>
        </p:nvSpPr>
        <p:spPr>
          <a:xfrm>
            <a:off x="4482675" y="1276325"/>
            <a:ext cx="3225000" cy="581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DIVIDE AND CONQUER</a:t>
            </a:r>
            <a:endParaRPr b="1" sz="1600">
              <a:solidFill>
                <a:schemeClr val="dk1"/>
              </a:solidFill>
              <a:latin typeface="Montserrat"/>
              <a:ea typeface="Montserrat"/>
              <a:cs typeface="Montserrat"/>
              <a:sym typeface="Montserrat"/>
            </a:endParaRPr>
          </a:p>
        </p:txBody>
      </p:sp>
      <p:cxnSp>
        <p:nvCxnSpPr>
          <p:cNvPr id="818" name="Google Shape;818;p49"/>
          <p:cNvCxnSpPr>
            <a:stCxn id="817" idx="1"/>
            <a:endCxn id="794" idx="3"/>
          </p:cNvCxnSpPr>
          <p:nvPr/>
        </p:nvCxnSpPr>
        <p:spPr>
          <a:xfrm flipH="1">
            <a:off x="2807175" y="1566875"/>
            <a:ext cx="1675500" cy="600"/>
          </a:xfrm>
          <a:prstGeom prst="bentConnector3">
            <a:avLst>
              <a:gd fmla="val 50000" name="adj1"/>
            </a:avLst>
          </a:prstGeom>
          <a:noFill/>
          <a:ln cap="flat" cmpd="sng" w="9525">
            <a:solidFill>
              <a:schemeClr val="dk2"/>
            </a:solidFill>
            <a:prstDash val="solid"/>
            <a:round/>
            <a:headEnd len="med" w="med" type="none"/>
            <a:tailEnd len="med" w="med" type="triangle"/>
          </a:ln>
        </p:spPr>
      </p:cxnSp>
      <p:cxnSp>
        <p:nvCxnSpPr>
          <p:cNvPr id="819" name="Google Shape;819;p49"/>
          <p:cNvCxnSpPr>
            <a:stCxn id="817" idx="3"/>
            <a:endCxn id="761" idx="1"/>
          </p:cNvCxnSpPr>
          <p:nvPr/>
        </p:nvCxnSpPr>
        <p:spPr>
          <a:xfrm>
            <a:off x="7707675" y="1566875"/>
            <a:ext cx="1410600" cy="600"/>
          </a:xfrm>
          <a:prstGeom prst="bentConnector3">
            <a:avLst>
              <a:gd fmla="val 49997" name="adj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50"/>
          <p:cNvSpPr txBox="1"/>
          <p:nvPr>
            <p:ph type="title"/>
          </p:nvPr>
        </p:nvSpPr>
        <p:spPr>
          <a:xfrm>
            <a:off x="593725" y="5476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Expected Milestones</a:t>
            </a:r>
            <a:endParaRPr/>
          </a:p>
        </p:txBody>
      </p:sp>
      <p:pic>
        <p:nvPicPr>
          <p:cNvPr id="826" name="Google Shape;826;p50"/>
          <p:cNvPicPr preferRelativeResize="0"/>
          <p:nvPr/>
        </p:nvPicPr>
        <p:blipFill>
          <a:blip r:embed="rId3">
            <a:alphaModFix/>
          </a:blip>
          <a:stretch>
            <a:fillRect/>
          </a:stretch>
        </p:blipFill>
        <p:spPr>
          <a:xfrm>
            <a:off x="11457850" y="171800"/>
            <a:ext cx="428625" cy="457200"/>
          </a:xfrm>
          <a:prstGeom prst="rect">
            <a:avLst/>
          </a:prstGeom>
          <a:noFill/>
          <a:ln>
            <a:noFill/>
          </a:ln>
        </p:spPr>
      </p:pic>
      <p:grpSp>
        <p:nvGrpSpPr>
          <p:cNvPr id="827" name="Google Shape;827;p50"/>
          <p:cNvGrpSpPr/>
          <p:nvPr/>
        </p:nvGrpSpPr>
        <p:grpSpPr>
          <a:xfrm>
            <a:off x="531087" y="1626953"/>
            <a:ext cx="2857306" cy="3589026"/>
            <a:chOff x="1083025" y="1574025"/>
            <a:chExt cx="1834900" cy="2304795"/>
          </a:xfrm>
        </p:grpSpPr>
        <p:sp>
          <p:nvSpPr>
            <p:cNvPr id="828" name="Google Shape;828;p50"/>
            <p:cNvSpPr txBox="1"/>
            <p:nvPr/>
          </p:nvSpPr>
          <p:spPr>
            <a:xfrm>
              <a:off x="1604274" y="1574025"/>
              <a:ext cx="624300" cy="241200"/>
            </a:xfrm>
            <a:prstGeom prst="rect">
              <a:avLst/>
            </a:prstGeom>
            <a:noFill/>
            <a:ln>
              <a:noFill/>
            </a:ln>
          </p:spPr>
          <p:txBody>
            <a:bodyPr anchorCtr="0" anchor="t" bIns="142375" lIns="142375" spcFirstLastPara="1" rIns="142375" wrap="square" tIns="142375">
              <a:noAutofit/>
            </a:bodyPr>
            <a:lstStyle/>
            <a:p>
              <a:pPr indent="0" lvl="0" marL="0" rtl="0" algn="r">
                <a:lnSpc>
                  <a:spcPct val="115000"/>
                </a:lnSpc>
                <a:spcBef>
                  <a:spcPts val="0"/>
                </a:spcBef>
                <a:spcAft>
                  <a:spcPts val="2453"/>
                </a:spcAft>
                <a:buNone/>
              </a:pPr>
              <a:r>
                <a:rPr b="1" lang="en-US" sz="984">
                  <a:solidFill>
                    <a:schemeClr val="dk1"/>
                  </a:solidFill>
                  <a:latin typeface="Roboto"/>
                  <a:ea typeface="Roboto"/>
                  <a:cs typeface="Roboto"/>
                  <a:sym typeface="Roboto"/>
                </a:rPr>
                <a:t>Milestone 1</a:t>
              </a:r>
              <a:endParaRPr b="1" sz="984">
                <a:solidFill>
                  <a:schemeClr val="dk1"/>
                </a:solidFill>
                <a:latin typeface="Roboto"/>
                <a:ea typeface="Roboto"/>
                <a:cs typeface="Roboto"/>
                <a:sym typeface="Roboto"/>
              </a:endParaRPr>
            </a:p>
          </p:txBody>
        </p:sp>
        <p:sp>
          <p:nvSpPr>
            <p:cNvPr id="829" name="Google Shape;829;p50"/>
            <p:cNvSpPr txBox="1"/>
            <p:nvPr/>
          </p:nvSpPr>
          <p:spPr>
            <a:xfrm>
              <a:off x="1235825" y="2695025"/>
              <a:ext cx="1505100" cy="446400"/>
            </a:xfrm>
            <a:prstGeom prst="rect">
              <a:avLst/>
            </a:prstGeom>
            <a:noFill/>
            <a:ln>
              <a:noFill/>
            </a:ln>
          </p:spPr>
          <p:txBody>
            <a:bodyPr anchorCtr="0" anchor="b" bIns="142375" lIns="142375" spcFirstLastPara="1" rIns="142375" wrap="square" tIns="142375">
              <a:noAutofit/>
            </a:bodyPr>
            <a:lstStyle/>
            <a:p>
              <a:pPr indent="0" lvl="0" marL="0" rtl="0" algn="l">
                <a:lnSpc>
                  <a:spcPct val="115000"/>
                </a:lnSpc>
                <a:spcBef>
                  <a:spcPts val="0"/>
                </a:spcBef>
                <a:spcAft>
                  <a:spcPts val="0"/>
                </a:spcAft>
                <a:buNone/>
              </a:pPr>
              <a:r>
                <a:rPr b="1" lang="en-US" sz="1518">
                  <a:solidFill>
                    <a:schemeClr val="dk1"/>
                  </a:solidFill>
                  <a:latin typeface="Roboto"/>
                  <a:ea typeface="Roboto"/>
                  <a:cs typeface="Roboto"/>
                  <a:sym typeface="Roboto"/>
                </a:rPr>
                <a:t>Corrections</a:t>
              </a:r>
              <a:endParaRPr b="1" sz="1518">
                <a:solidFill>
                  <a:schemeClr val="dk1"/>
                </a:solidFill>
                <a:latin typeface="Roboto"/>
                <a:ea typeface="Roboto"/>
                <a:cs typeface="Roboto"/>
                <a:sym typeface="Roboto"/>
              </a:endParaRPr>
            </a:p>
          </p:txBody>
        </p:sp>
        <p:sp>
          <p:nvSpPr>
            <p:cNvPr id="830" name="Google Shape;830;p50"/>
            <p:cNvSpPr txBox="1"/>
            <p:nvPr/>
          </p:nvSpPr>
          <p:spPr>
            <a:xfrm>
              <a:off x="1156659" y="3141420"/>
              <a:ext cx="1717200" cy="737400"/>
            </a:xfrm>
            <a:prstGeom prst="rect">
              <a:avLst/>
            </a:prstGeom>
            <a:noFill/>
            <a:ln>
              <a:noFill/>
            </a:ln>
          </p:spPr>
          <p:txBody>
            <a:bodyPr anchorCtr="0" anchor="t" bIns="142375" lIns="142375" spcFirstLastPara="1" rIns="142375" wrap="square" tIns="142375">
              <a:noAutofit/>
            </a:bodyPr>
            <a:lstStyle/>
            <a:p>
              <a:pPr indent="-297477" lvl="0" marL="457200" rtl="0" algn="l">
                <a:lnSpc>
                  <a:spcPct val="115000"/>
                </a:lnSpc>
                <a:spcBef>
                  <a:spcPts val="0"/>
                </a:spcBef>
                <a:spcAft>
                  <a:spcPts val="0"/>
                </a:spcAft>
                <a:buClr>
                  <a:schemeClr val="dk1"/>
                </a:buClr>
                <a:buSzPts val="1085"/>
                <a:buFont typeface="Roboto"/>
                <a:buChar char="●"/>
              </a:pPr>
              <a:r>
                <a:rPr lang="en-US" sz="1084">
                  <a:solidFill>
                    <a:schemeClr val="dk1"/>
                  </a:solidFill>
                  <a:latin typeface="Roboto"/>
                  <a:ea typeface="Roboto"/>
                  <a:cs typeface="Roboto"/>
                  <a:sym typeface="Roboto"/>
                </a:rPr>
                <a:t>Validation </a:t>
              </a:r>
              <a:r>
                <a:rPr lang="en-US" sz="1084">
                  <a:solidFill>
                    <a:schemeClr val="dk1"/>
                  </a:solidFill>
                  <a:latin typeface="Roboto"/>
                  <a:ea typeface="Roboto"/>
                  <a:cs typeface="Roboto"/>
                  <a:sym typeface="Roboto"/>
                </a:rPr>
                <a:t>summary</a:t>
              </a:r>
              <a:r>
                <a:rPr lang="en-US" sz="1084">
                  <a:solidFill>
                    <a:schemeClr val="dk1"/>
                  </a:solidFill>
                  <a:latin typeface="Roboto"/>
                  <a:ea typeface="Roboto"/>
                  <a:cs typeface="Roboto"/>
                  <a:sym typeface="Roboto"/>
                </a:rPr>
                <a:t> report</a:t>
              </a:r>
              <a:endParaRPr sz="1084">
                <a:solidFill>
                  <a:schemeClr val="dk1"/>
                </a:solidFill>
                <a:latin typeface="Roboto"/>
                <a:ea typeface="Roboto"/>
                <a:cs typeface="Roboto"/>
                <a:sym typeface="Roboto"/>
              </a:endParaRPr>
            </a:p>
            <a:p>
              <a:pPr indent="-297477" lvl="0" marL="457200" rtl="0" algn="l">
                <a:lnSpc>
                  <a:spcPct val="115000"/>
                </a:lnSpc>
                <a:spcBef>
                  <a:spcPts val="0"/>
                </a:spcBef>
                <a:spcAft>
                  <a:spcPts val="0"/>
                </a:spcAft>
                <a:buClr>
                  <a:schemeClr val="dk1"/>
                </a:buClr>
                <a:buSzPts val="1085"/>
                <a:buFont typeface="Roboto"/>
                <a:buChar char="●"/>
              </a:pPr>
              <a:r>
                <a:rPr lang="en-US" sz="1084">
                  <a:solidFill>
                    <a:schemeClr val="dk1"/>
                  </a:solidFill>
                  <a:latin typeface="Roboto"/>
                  <a:ea typeface="Roboto"/>
                  <a:cs typeface="Roboto"/>
                  <a:sym typeface="Roboto"/>
                </a:rPr>
                <a:t>Records into Orcanos</a:t>
              </a:r>
              <a:endParaRPr sz="1084">
                <a:solidFill>
                  <a:schemeClr val="dk1"/>
                </a:solidFill>
                <a:latin typeface="Roboto"/>
                <a:ea typeface="Roboto"/>
                <a:cs typeface="Roboto"/>
                <a:sym typeface="Roboto"/>
              </a:endParaRPr>
            </a:p>
            <a:p>
              <a:pPr indent="-297477" lvl="1" marL="914400" rtl="0" algn="l">
                <a:lnSpc>
                  <a:spcPct val="115000"/>
                </a:lnSpc>
                <a:spcBef>
                  <a:spcPts val="0"/>
                </a:spcBef>
                <a:spcAft>
                  <a:spcPts val="0"/>
                </a:spcAft>
                <a:buClr>
                  <a:schemeClr val="dk1"/>
                </a:buClr>
                <a:buSzPts val="1085"/>
                <a:buFont typeface="Roboto"/>
                <a:buChar char="○"/>
              </a:pPr>
              <a:r>
                <a:rPr i="1" lang="en-US" sz="1084">
                  <a:solidFill>
                    <a:schemeClr val="dk1"/>
                  </a:solidFill>
                  <a:latin typeface="Roboto"/>
                  <a:ea typeface="Roboto"/>
                  <a:cs typeface="Roboto"/>
                  <a:sym typeface="Roboto"/>
                </a:rPr>
                <a:t>LIS records, DocUsign</a:t>
              </a:r>
              <a:endParaRPr i="1" sz="1084">
                <a:solidFill>
                  <a:schemeClr val="dk1"/>
                </a:solidFill>
                <a:latin typeface="Roboto"/>
                <a:ea typeface="Roboto"/>
                <a:cs typeface="Roboto"/>
                <a:sym typeface="Roboto"/>
              </a:endParaRPr>
            </a:p>
            <a:p>
              <a:pPr indent="-297477" lvl="1" marL="914400" rtl="0" algn="l">
                <a:lnSpc>
                  <a:spcPct val="115000"/>
                </a:lnSpc>
                <a:spcBef>
                  <a:spcPts val="0"/>
                </a:spcBef>
                <a:spcAft>
                  <a:spcPts val="0"/>
                </a:spcAft>
                <a:buClr>
                  <a:schemeClr val="dk1"/>
                </a:buClr>
                <a:buSzPts val="1085"/>
                <a:buFont typeface="Roboto"/>
                <a:buChar char="○"/>
              </a:pPr>
              <a:r>
                <a:rPr i="1" lang="en-US" sz="1084">
                  <a:solidFill>
                    <a:schemeClr val="dk1"/>
                  </a:solidFill>
                  <a:latin typeface="Roboto"/>
                  <a:ea typeface="Roboto"/>
                  <a:cs typeface="Roboto"/>
                  <a:sym typeface="Roboto"/>
                </a:rPr>
                <a:t>Chicago records</a:t>
              </a:r>
              <a:endParaRPr i="1" sz="1084">
                <a:solidFill>
                  <a:schemeClr val="dk1"/>
                </a:solidFill>
                <a:latin typeface="Roboto"/>
                <a:ea typeface="Roboto"/>
                <a:cs typeface="Roboto"/>
                <a:sym typeface="Roboto"/>
              </a:endParaRPr>
            </a:p>
            <a:p>
              <a:pPr indent="-297477" lvl="0" marL="457200" rtl="0" algn="l">
                <a:lnSpc>
                  <a:spcPct val="115000"/>
                </a:lnSpc>
                <a:spcBef>
                  <a:spcPts val="0"/>
                </a:spcBef>
                <a:spcAft>
                  <a:spcPts val="0"/>
                </a:spcAft>
                <a:buClr>
                  <a:schemeClr val="dk1"/>
                </a:buClr>
                <a:buSzPts val="1085"/>
                <a:buFont typeface="Roboto"/>
                <a:buChar char="●"/>
              </a:pPr>
              <a:r>
                <a:rPr lang="en-US" sz="1084">
                  <a:solidFill>
                    <a:schemeClr val="dk1"/>
                  </a:solidFill>
                  <a:latin typeface="Roboto"/>
                  <a:ea typeface="Roboto"/>
                  <a:cs typeface="Roboto"/>
                  <a:sym typeface="Roboto"/>
                </a:rPr>
                <a:t>DMS-8069</a:t>
              </a:r>
              <a:endParaRPr sz="1084">
                <a:solidFill>
                  <a:schemeClr val="dk1"/>
                </a:solidFill>
                <a:latin typeface="Roboto"/>
                <a:ea typeface="Roboto"/>
                <a:cs typeface="Roboto"/>
                <a:sym typeface="Roboto"/>
              </a:endParaRPr>
            </a:p>
          </p:txBody>
        </p:sp>
        <p:cxnSp>
          <p:nvCxnSpPr>
            <p:cNvPr id="831" name="Google Shape;831;p50"/>
            <p:cNvCxnSpPr/>
            <p:nvPr/>
          </p:nvCxnSpPr>
          <p:spPr>
            <a:xfrm>
              <a:off x="2180202" y="1695421"/>
              <a:ext cx="718500" cy="741900"/>
            </a:xfrm>
            <a:prstGeom prst="straightConnector1">
              <a:avLst/>
            </a:prstGeom>
            <a:noFill/>
            <a:ln cap="flat" cmpd="sng" w="9525">
              <a:solidFill>
                <a:schemeClr val="dk1"/>
              </a:solidFill>
              <a:prstDash val="solid"/>
              <a:round/>
              <a:headEnd len="sm" w="sm" type="none"/>
              <a:tailEnd len="sm" w="sm" type="none"/>
            </a:ln>
          </p:spPr>
        </p:cxnSp>
        <p:sp>
          <p:nvSpPr>
            <p:cNvPr id="832" name="Google Shape;832;p50"/>
            <p:cNvSpPr/>
            <p:nvPr/>
          </p:nvSpPr>
          <p:spPr>
            <a:xfrm flipH="1">
              <a:off x="1083025" y="2306625"/>
              <a:ext cx="1834800" cy="143400"/>
            </a:xfrm>
            <a:prstGeom prst="parallelogram">
              <a:avLst>
                <a:gd fmla="val 96952" name="adj"/>
              </a:avLst>
            </a:prstGeom>
            <a:solidFill>
              <a:srgbClr val="EAD1DC"/>
            </a:solidFill>
            <a:ln>
              <a:noFill/>
            </a:ln>
          </p:spPr>
          <p:txBody>
            <a:bodyPr anchorCtr="0" anchor="ctr" bIns="142375" lIns="142375" spcFirstLastPara="1" rIns="142375" wrap="square" tIns="142375">
              <a:noAutofit/>
            </a:bodyPr>
            <a:lstStyle/>
            <a:p>
              <a:pPr indent="0" lvl="0" marL="0" rtl="0" algn="r">
                <a:spcBef>
                  <a:spcPts val="0"/>
                </a:spcBef>
                <a:spcAft>
                  <a:spcPts val="0"/>
                </a:spcAft>
                <a:buNone/>
              </a:pPr>
              <a:r>
                <a:rPr lang="en-US" sz="1219">
                  <a:solidFill>
                    <a:schemeClr val="dk1"/>
                  </a:solidFill>
                </a:rPr>
                <a:t>Mid Jan 2026</a:t>
              </a:r>
              <a:r>
                <a:rPr lang="en-US" sz="2219"/>
                <a:t>  </a:t>
              </a:r>
              <a:endParaRPr sz="2219"/>
            </a:p>
          </p:txBody>
        </p:sp>
        <p:sp>
          <p:nvSpPr>
            <p:cNvPr id="833" name="Google Shape;833;p50"/>
            <p:cNvSpPr/>
            <p:nvPr/>
          </p:nvSpPr>
          <p:spPr>
            <a:xfrm>
              <a:off x="1083125" y="2460449"/>
              <a:ext cx="1834800" cy="143400"/>
            </a:xfrm>
            <a:prstGeom prst="parallelogram">
              <a:avLst>
                <a:gd fmla="val 96952" name="adj"/>
              </a:avLst>
            </a:prstGeom>
            <a:solidFill>
              <a:schemeClr val="dk1"/>
            </a:solidFill>
            <a:ln>
              <a:noFill/>
            </a:ln>
          </p:spPr>
          <p:txBody>
            <a:bodyPr anchorCtr="0" anchor="ctr" bIns="142375" lIns="142375" spcFirstLastPara="1" rIns="142375" wrap="square" tIns="142375">
              <a:noAutofit/>
            </a:bodyPr>
            <a:lstStyle/>
            <a:p>
              <a:pPr indent="0" lvl="0" marL="0" rtl="0" algn="l">
                <a:spcBef>
                  <a:spcPts val="0"/>
                </a:spcBef>
                <a:spcAft>
                  <a:spcPts val="0"/>
                </a:spcAft>
                <a:buNone/>
              </a:pPr>
              <a:r>
                <a:t/>
              </a:r>
              <a:endParaRPr/>
            </a:p>
          </p:txBody>
        </p:sp>
      </p:grpSp>
      <p:grpSp>
        <p:nvGrpSpPr>
          <p:cNvPr id="834" name="Google Shape;834;p50"/>
          <p:cNvGrpSpPr/>
          <p:nvPr/>
        </p:nvGrpSpPr>
        <p:grpSpPr>
          <a:xfrm>
            <a:off x="3192271" y="1626953"/>
            <a:ext cx="2857306" cy="3859361"/>
            <a:chOff x="1083025" y="1574025"/>
            <a:chExt cx="1834900" cy="2478398"/>
          </a:xfrm>
        </p:grpSpPr>
        <p:sp>
          <p:nvSpPr>
            <p:cNvPr id="835" name="Google Shape;835;p50"/>
            <p:cNvSpPr txBox="1"/>
            <p:nvPr/>
          </p:nvSpPr>
          <p:spPr>
            <a:xfrm>
              <a:off x="1604274" y="1574025"/>
              <a:ext cx="624300" cy="241200"/>
            </a:xfrm>
            <a:prstGeom prst="rect">
              <a:avLst/>
            </a:prstGeom>
            <a:noFill/>
            <a:ln>
              <a:noFill/>
            </a:ln>
          </p:spPr>
          <p:txBody>
            <a:bodyPr anchorCtr="0" anchor="t" bIns="142375" lIns="142375" spcFirstLastPara="1" rIns="142375" wrap="square" tIns="142375">
              <a:noAutofit/>
            </a:bodyPr>
            <a:lstStyle/>
            <a:p>
              <a:pPr indent="0" lvl="0" marL="0" rtl="0" algn="r">
                <a:lnSpc>
                  <a:spcPct val="115000"/>
                </a:lnSpc>
                <a:spcBef>
                  <a:spcPts val="0"/>
                </a:spcBef>
                <a:spcAft>
                  <a:spcPts val="2453"/>
                </a:spcAft>
                <a:buNone/>
              </a:pPr>
              <a:r>
                <a:rPr b="1" lang="en-US" sz="984">
                  <a:solidFill>
                    <a:schemeClr val="dk1"/>
                  </a:solidFill>
                  <a:latin typeface="Roboto"/>
                  <a:ea typeface="Roboto"/>
                  <a:cs typeface="Roboto"/>
                  <a:sym typeface="Roboto"/>
                </a:rPr>
                <a:t>Milestone 2</a:t>
              </a:r>
              <a:endParaRPr b="1" sz="984">
                <a:solidFill>
                  <a:schemeClr val="dk1"/>
                </a:solidFill>
                <a:latin typeface="Roboto"/>
                <a:ea typeface="Roboto"/>
                <a:cs typeface="Roboto"/>
                <a:sym typeface="Roboto"/>
              </a:endParaRPr>
            </a:p>
          </p:txBody>
        </p:sp>
        <p:sp>
          <p:nvSpPr>
            <p:cNvPr id="836" name="Google Shape;836;p50"/>
            <p:cNvSpPr txBox="1"/>
            <p:nvPr/>
          </p:nvSpPr>
          <p:spPr>
            <a:xfrm>
              <a:off x="1235825" y="2695025"/>
              <a:ext cx="1505100" cy="446400"/>
            </a:xfrm>
            <a:prstGeom prst="rect">
              <a:avLst/>
            </a:prstGeom>
            <a:noFill/>
            <a:ln>
              <a:noFill/>
            </a:ln>
          </p:spPr>
          <p:txBody>
            <a:bodyPr anchorCtr="0" anchor="b" bIns="142375" lIns="142375" spcFirstLastPara="1" rIns="142375" wrap="square" tIns="142375">
              <a:noAutofit/>
            </a:bodyPr>
            <a:lstStyle/>
            <a:p>
              <a:pPr indent="0" lvl="0" marL="0" rtl="0" algn="l">
                <a:lnSpc>
                  <a:spcPct val="115000"/>
                </a:lnSpc>
                <a:spcBef>
                  <a:spcPts val="0"/>
                </a:spcBef>
                <a:spcAft>
                  <a:spcPts val="0"/>
                </a:spcAft>
                <a:buNone/>
              </a:pPr>
              <a:r>
                <a:rPr b="1" lang="en-US" sz="1518">
                  <a:solidFill>
                    <a:schemeClr val="dk1"/>
                  </a:solidFill>
                  <a:latin typeface="Roboto"/>
                  <a:ea typeface="Roboto"/>
                  <a:cs typeface="Roboto"/>
                  <a:sym typeface="Roboto"/>
                </a:rPr>
                <a:t>Preventative Quality</a:t>
              </a:r>
              <a:endParaRPr b="1" sz="1518">
                <a:solidFill>
                  <a:schemeClr val="dk1"/>
                </a:solidFill>
                <a:latin typeface="Roboto"/>
                <a:ea typeface="Roboto"/>
                <a:cs typeface="Roboto"/>
                <a:sym typeface="Roboto"/>
              </a:endParaRPr>
            </a:p>
          </p:txBody>
        </p:sp>
        <p:sp>
          <p:nvSpPr>
            <p:cNvPr id="837" name="Google Shape;837;p50"/>
            <p:cNvSpPr txBox="1"/>
            <p:nvPr/>
          </p:nvSpPr>
          <p:spPr>
            <a:xfrm>
              <a:off x="1147037" y="3151823"/>
              <a:ext cx="1726800" cy="900600"/>
            </a:xfrm>
            <a:prstGeom prst="rect">
              <a:avLst/>
            </a:prstGeom>
            <a:noFill/>
            <a:ln>
              <a:noFill/>
            </a:ln>
          </p:spPr>
          <p:txBody>
            <a:bodyPr anchorCtr="0" anchor="t" bIns="142375" lIns="142375" spcFirstLastPara="1" rIns="142375" wrap="square" tIns="142375">
              <a:noAutofit/>
            </a:bodyPr>
            <a:lstStyle/>
            <a:p>
              <a:pPr indent="-297477" lvl="0" marL="457200" rtl="0" algn="l">
                <a:lnSpc>
                  <a:spcPct val="115000"/>
                </a:lnSpc>
                <a:spcBef>
                  <a:spcPts val="0"/>
                </a:spcBef>
                <a:spcAft>
                  <a:spcPts val="0"/>
                </a:spcAft>
                <a:buClr>
                  <a:schemeClr val="dk1"/>
                </a:buClr>
                <a:buSzPts val="1085"/>
                <a:buFont typeface="Roboto"/>
                <a:buChar char="●"/>
              </a:pPr>
              <a:r>
                <a:rPr lang="en-US" sz="1084">
                  <a:solidFill>
                    <a:schemeClr val="dk1"/>
                  </a:solidFill>
                  <a:latin typeface="Roboto"/>
                  <a:ea typeface="Roboto"/>
                  <a:cs typeface="Roboto"/>
                  <a:sym typeface="Roboto"/>
                </a:rPr>
                <a:t>Approve</a:t>
              </a:r>
              <a:endParaRPr sz="1084">
                <a:solidFill>
                  <a:schemeClr val="dk1"/>
                </a:solidFill>
                <a:latin typeface="Roboto"/>
                <a:ea typeface="Roboto"/>
                <a:cs typeface="Roboto"/>
                <a:sym typeface="Roboto"/>
              </a:endParaRPr>
            </a:p>
            <a:p>
              <a:pPr indent="-291127" lvl="1" marL="628650" rtl="0" algn="l">
                <a:lnSpc>
                  <a:spcPct val="115000"/>
                </a:lnSpc>
                <a:spcBef>
                  <a:spcPts val="0"/>
                </a:spcBef>
                <a:spcAft>
                  <a:spcPts val="0"/>
                </a:spcAft>
                <a:buClr>
                  <a:schemeClr val="dk1"/>
                </a:buClr>
                <a:buSzPts val="985"/>
                <a:buFont typeface="Roboto"/>
                <a:buChar char="○"/>
              </a:pPr>
              <a:r>
                <a:rPr i="1" lang="en-US" sz="984">
                  <a:solidFill>
                    <a:schemeClr val="dk1"/>
                  </a:solidFill>
                  <a:latin typeface="Roboto"/>
                  <a:ea typeface="Roboto"/>
                  <a:cs typeface="Roboto"/>
                  <a:sym typeface="Roboto"/>
                </a:rPr>
                <a:t>Risk Plan for Diagnexia</a:t>
              </a:r>
              <a:endParaRPr i="1" sz="984">
                <a:solidFill>
                  <a:schemeClr val="dk1"/>
                </a:solidFill>
                <a:latin typeface="Roboto"/>
                <a:ea typeface="Roboto"/>
                <a:cs typeface="Roboto"/>
                <a:sym typeface="Roboto"/>
              </a:endParaRPr>
            </a:p>
            <a:p>
              <a:pPr indent="-291127" lvl="1" marL="628650" rtl="0" algn="l">
                <a:lnSpc>
                  <a:spcPct val="115000"/>
                </a:lnSpc>
                <a:spcBef>
                  <a:spcPts val="0"/>
                </a:spcBef>
                <a:spcAft>
                  <a:spcPts val="0"/>
                </a:spcAft>
                <a:buClr>
                  <a:schemeClr val="dk1"/>
                </a:buClr>
                <a:buSzPts val="985"/>
                <a:buFont typeface="Roboto"/>
                <a:buChar char="○"/>
              </a:pPr>
              <a:r>
                <a:rPr i="1" lang="en-US" sz="984">
                  <a:solidFill>
                    <a:schemeClr val="dk1"/>
                  </a:solidFill>
                  <a:latin typeface="Roboto"/>
                  <a:ea typeface="Roboto"/>
                  <a:cs typeface="Roboto"/>
                  <a:sym typeface="Roboto"/>
                </a:rPr>
                <a:t>Validation Plan - USA</a:t>
              </a:r>
              <a:endParaRPr i="1" sz="984">
                <a:solidFill>
                  <a:schemeClr val="dk1"/>
                </a:solidFill>
                <a:latin typeface="Roboto"/>
                <a:ea typeface="Roboto"/>
                <a:cs typeface="Roboto"/>
                <a:sym typeface="Roboto"/>
              </a:endParaRPr>
            </a:p>
            <a:p>
              <a:pPr indent="-291127" lvl="1" marL="628650" rtl="0" algn="l">
                <a:lnSpc>
                  <a:spcPct val="115000"/>
                </a:lnSpc>
                <a:spcBef>
                  <a:spcPts val="0"/>
                </a:spcBef>
                <a:spcAft>
                  <a:spcPts val="0"/>
                </a:spcAft>
                <a:buClr>
                  <a:schemeClr val="dk1"/>
                </a:buClr>
                <a:buSzPts val="985"/>
                <a:buFont typeface="Roboto"/>
                <a:buChar char="○"/>
              </a:pPr>
              <a:r>
                <a:rPr i="1" lang="en-US" sz="984">
                  <a:solidFill>
                    <a:schemeClr val="dk1"/>
                  </a:solidFill>
                  <a:latin typeface="Roboto"/>
                  <a:ea typeface="Roboto"/>
                  <a:cs typeface="Roboto"/>
                  <a:sym typeface="Roboto"/>
                </a:rPr>
                <a:t>Validation template - USA</a:t>
              </a:r>
              <a:endParaRPr i="1" sz="984">
                <a:solidFill>
                  <a:schemeClr val="dk1"/>
                </a:solidFill>
                <a:latin typeface="Roboto"/>
                <a:ea typeface="Roboto"/>
                <a:cs typeface="Roboto"/>
                <a:sym typeface="Roboto"/>
              </a:endParaRPr>
            </a:p>
            <a:p>
              <a:pPr indent="-291127" lvl="1" marL="628650" rtl="0" algn="l">
                <a:lnSpc>
                  <a:spcPct val="115000"/>
                </a:lnSpc>
                <a:spcBef>
                  <a:spcPts val="0"/>
                </a:spcBef>
                <a:spcAft>
                  <a:spcPts val="0"/>
                </a:spcAft>
                <a:buClr>
                  <a:schemeClr val="dk1"/>
                </a:buClr>
                <a:buSzPts val="985"/>
                <a:buFont typeface="Roboto"/>
                <a:buChar char="○"/>
              </a:pPr>
              <a:r>
                <a:rPr i="1" lang="en-US" sz="984">
                  <a:solidFill>
                    <a:schemeClr val="dk1"/>
                  </a:solidFill>
                  <a:latin typeface="Roboto"/>
                  <a:ea typeface="Roboto"/>
                  <a:cs typeface="Roboto"/>
                  <a:sym typeface="Roboto"/>
                </a:rPr>
                <a:t>Regulatory Statement - USA </a:t>
              </a:r>
              <a:endParaRPr i="1" sz="984">
                <a:solidFill>
                  <a:schemeClr val="dk1"/>
                </a:solidFill>
                <a:latin typeface="Roboto"/>
                <a:ea typeface="Roboto"/>
                <a:cs typeface="Roboto"/>
                <a:sym typeface="Roboto"/>
              </a:endParaRPr>
            </a:p>
          </p:txBody>
        </p:sp>
        <p:cxnSp>
          <p:nvCxnSpPr>
            <p:cNvPr id="838" name="Google Shape;838;p50"/>
            <p:cNvCxnSpPr/>
            <p:nvPr/>
          </p:nvCxnSpPr>
          <p:spPr>
            <a:xfrm>
              <a:off x="2180202" y="1695421"/>
              <a:ext cx="718500" cy="741900"/>
            </a:xfrm>
            <a:prstGeom prst="straightConnector1">
              <a:avLst/>
            </a:prstGeom>
            <a:noFill/>
            <a:ln cap="flat" cmpd="sng" w="9525">
              <a:solidFill>
                <a:schemeClr val="dk1"/>
              </a:solidFill>
              <a:prstDash val="solid"/>
              <a:round/>
              <a:headEnd len="sm" w="sm" type="none"/>
              <a:tailEnd len="sm" w="sm" type="none"/>
            </a:ln>
          </p:spPr>
        </p:cxnSp>
        <p:sp>
          <p:nvSpPr>
            <p:cNvPr id="839" name="Google Shape;839;p50"/>
            <p:cNvSpPr/>
            <p:nvPr/>
          </p:nvSpPr>
          <p:spPr>
            <a:xfrm flipH="1">
              <a:off x="1083025" y="2306625"/>
              <a:ext cx="1834800" cy="143400"/>
            </a:xfrm>
            <a:prstGeom prst="parallelogram">
              <a:avLst>
                <a:gd fmla="val 96952" name="adj"/>
              </a:avLst>
            </a:prstGeom>
            <a:solidFill>
              <a:srgbClr val="EAD1DC"/>
            </a:solidFill>
            <a:ln>
              <a:noFill/>
            </a:ln>
          </p:spPr>
          <p:txBody>
            <a:bodyPr anchorCtr="0" anchor="ctr" bIns="142375" lIns="142375" spcFirstLastPara="1" rIns="142375" wrap="square" tIns="142375">
              <a:noAutofit/>
            </a:bodyPr>
            <a:lstStyle/>
            <a:p>
              <a:pPr indent="0" lvl="0" marL="0" rtl="0" algn="r">
                <a:spcBef>
                  <a:spcPts val="0"/>
                </a:spcBef>
                <a:spcAft>
                  <a:spcPts val="0"/>
                </a:spcAft>
                <a:buNone/>
              </a:pPr>
              <a:r>
                <a:rPr lang="en-US" sz="1219">
                  <a:solidFill>
                    <a:schemeClr val="dk1"/>
                  </a:solidFill>
                </a:rPr>
                <a:t>February</a:t>
              </a:r>
              <a:r>
                <a:rPr lang="en-US" sz="2219">
                  <a:solidFill>
                    <a:schemeClr val="lt1"/>
                  </a:solidFill>
                </a:rPr>
                <a:t>  </a:t>
              </a:r>
              <a:endParaRPr sz="2219">
                <a:solidFill>
                  <a:schemeClr val="lt1"/>
                </a:solidFill>
              </a:endParaRPr>
            </a:p>
          </p:txBody>
        </p:sp>
        <p:sp>
          <p:nvSpPr>
            <p:cNvPr id="840" name="Google Shape;840;p50"/>
            <p:cNvSpPr/>
            <p:nvPr/>
          </p:nvSpPr>
          <p:spPr>
            <a:xfrm>
              <a:off x="1083125" y="2460449"/>
              <a:ext cx="1834800" cy="143400"/>
            </a:xfrm>
            <a:prstGeom prst="parallelogram">
              <a:avLst>
                <a:gd fmla="val 96952" name="adj"/>
              </a:avLst>
            </a:prstGeom>
            <a:solidFill>
              <a:schemeClr val="dk1"/>
            </a:solidFill>
            <a:ln>
              <a:noFill/>
            </a:ln>
          </p:spPr>
          <p:txBody>
            <a:bodyPr anchorCtr="0" anchor="ctr" bIns="142375" lIns="142375" spcFirstLastPara="1" rIns="142375" wrap="square" tIns="142375">
              <a:noAutofit/>
            </a:bodyPr>
            <a:lstStyle/>
            <a:p>
              <a:pPr indent="0" lvl="0" marL="0" rtl="0" algn="l">
                <a:spcBef>
                  <a:spcPts val="0"/>
                </a:spcBef>
                <a:spcAft>
                  <a:spcPts val="0"/>
                </a:spcAft>
                <a:buNone/>
              </a:pPr>
              <a:r>
                <a:t/>
              </a:r>
              <a:endParaRPr/>
            </a:p>
          </p:txBody>
        </p:sp>
      </p:grpSp>
      <p:grpSp>
        <p:nvGrpSpPr>
          <p:cNvPr id="841" name="Google Shape;841;p50"/>
          <p:cNvGrpSpPr/>
          <p:nvPr/>
        </p:nvGrpSpPr>
        <p:grpSpPr>
          <a:xfrm>
            <a:off x="5857974" y="1625846"/>
            <a:ext cx="2857297" cy="3605234"/>
            <a:chOff x="1083031" y="1574025"/>
            <a:chExt cx="1834894" cy="2315203"/>
          </a:xfrm>
        </p:grpSpPr>
        <p:sp>
          <p:nvSpPr>
            <p:cNvPr id="842" name="Google Shape;842;p50"/>
            <p:cNvSpPr txBox="1"/>
            <p:nvPr/>
          </p:nvSpPr>
          <p:spPr>
            <a:xfrm>
              <a:off x="1604274" y="1574025"/>
              <a:ext cx="624300" cy="241200"/>
            </a:xfrm>
            <a:prstGeom prst="rect">
              <a:avLst/>
            </a:prstGeom>
            <a:noFill/>
            <a:ln>
              <a:noFill/>
            </a:ln>
          </p:spPr>
          <p:txBody>
            <a:bodyPr anchorCtr="0" anchor="t" bIns="142375" lIns="142375" spcFirstLastPara="1" rIns="142375" wrap="square" tIns="142375">
              <a:noAutofit/>
            </a:bodyPr>
            <a:lstStyle/>
            <a:p>
              <a:pPr indent="0" lvl="0" marL="0" rtl="0" algn="r">
                <a:lnSpc>
                  <a:spcPct val="115000"/>
                </a:lnSpc>
                <a:spcBef>
                  <a:spcPts val="0"/>
                </a:spcBef>
                <a:spcAft>
                  <a:spcPts val="2453"/>
                </a:spcAft>
                <a:buNone/>
              </a:pPr>
              <a:r>
                <a:rPr b="1" lang="en-US" sz="984">
                  <a:solidFill>
                    <a:srgbClr val="9E9E9E"/>
                  </a:solidFill>
                  <a:latin typeface="Roboto"/>
                  <a:ea typeface="Roboto"/>
                  <a:cs typeface="Roboto"/>
                  <a:sym typeface="Roboto"/>
                </a:rPr>
                <a:t>Milestone 3</a:t>
              </a:r>
              <a:endParaRPr b="1" sz="984">
                <a:solidFill>
                  <a:srgbClr val="9E9E9E"/>
                </a:solidFill>
                <a:latin typeface="Roboto"/>
                <a:ea typeface="Roboto"/>
                <a:cs typeface="Roboto"/>
                <a:sym typeface="Roboto"/>
              </a:endParaRPr>
            </a:p>
          </p:txBody>
        </p:sp>
        <p:sp>
          <p:nvSpPr>
            <p:cNvPr id="843" name="Google Shape;843;p50"/>
            <p:cNvSpPr txBox="1"/>
            <p:nvPr/>
          </p:nvSpPr>
          <p:spPr>
            <a:xfrm>
              <a:off x="1235825" y="2695025"/>
              <a:ext cx="1505100" cy="446400"/>
            </a:xfrm>
            <a:prstGeom prst="rect">
              <a:avLst/>
            </a:prstGeom>
            <a:noFill/>
            <a:ln>
              <a:noFill/>
            </a:ln>
          </p:spPr>
          <p:txBody>
            <a:bodyPr anchorCtr="0" anchor="b" bIns="142375" lIns="142375" spcFirstLastPara="1" rIns="142375" wrap="square" tIns="142375">
              <a:noAutofit/>
            </a:bodyPr>
            <a:lstStyle/>
            <a:p>
              <a:pPr indent="0" lvl="0" marL="0" rtl="0" algn="l">
                <a:lnSpc>
                  <a:spcPct val="115000"/>
                </a:lnSpc>
                <a:spcBef>
                  <a:spcPts val="0"/>
                </a:spcBef>
                <a:spcAft>
                  <a:spcPts val="0"/>
                </a:spcAft>
                <a:buNone/>
              </a:pPr>
              <a:r>
                <a:rPr b="1" lang="en-US" sz="1318">
                  <a:solidFill>
                    <a:srgbClr val="858585"/>
                  </a:solidFill>
                  <a:latin typeface="Roboto"/>
                  <a:ea typeface="Roboto"/>
                  <a:cs typeface="Roboto"/>
                  <a:sym typeface="Roboto"/>
                </a:rPr>
                <a:t>CAPA closure / effectivity</a:t>
              </a:r>
              <a:endParaRPr b="1" sz="1318">
                <a:solidFill>
                  <a:srgbClr val="858585"/>
                </a:solidFill>
                <a:latin typeface="Roboto"/>
                <a:ea typeface="Roboto"/>
                <a:cs typeface="Roboto"/>
                <a:sym typeface="Roboto"/>
              </a:endParaRPr>
            </a:p>
          </p:txBody>
        </p:sp>
        <p:sp>
          <p:nvSpPr>
            <p:cNvPr id="844" name="Google Shape;844;p50"/>
            <p:cNvSpPr txBox="1"/>
            <p:nvPr/>
          </p:nvSpPr>
          <p:spPr>
            <a:xfrm>
              <a:off x="1215706" y="3151828"/>
              <a:ext cx="1683000" cy="737400"/>
            </a:xfrm>
            <a:prstGeom prst="rect">
              <a:avLst/>
            </a:prstGeom>
            <a:noFill/>
            <a:ln>
              <a:noFill/>
            </a:ln>
          </p:spPr>
          <p:txBody>
            <a:bodyPr anchorCtr="0" anchor="t" bIns="142375" lIns="142375" spcFirstLastPara="1" rIns="142375" wrap="square" tIns="142375">
              <a:noAutofit/>
            </a:bodyPr>
            <a:lstStyle/>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Validation</a:t>
              </a:r>
              <a:r>
                <a:rPr lang="en-US" sz="1084">
                  <a:solidFill>
                    <a:srgbClr val="858585"/>
                  </a:solidFill>
                  <a:latin typeface="Roboto"/>
                  <a:ea typeface="Roboto"/>
                  <a:cs typeface="Roboto"/>
                  <a:sym typeface="Roboto"/>
                </a:rPr>
                <a:t> Policy</a:t>
              </a:r>
              <a:endParaRPr sz="1084">
                <a:solidFill>
                  <a:srgbClr val="858585"/>
                </a:solidFill>
                <a:latin typeface="Roboto"/>
                <a:ea typeface="Roboto"/>
                <a:cs typeface="Roboto"/>
                <a:sym typeface="Roboto"/>
              </a:endParaRPr>
            </a:p>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Support Regional docs</a:t>
              </a:r>
              <a:endParaRPr sz="1084">
                <a:solidFill>
                  <a:srgbClr val="858585"/>
                </a:solidFill>
                <a:latin typeface="Roboto"/>
                <a:ea typeface="Roboto"/>
                <a:cs typeface="Roboto"/>
                <a:sym typeface="Roboto"/>
              </a:endParaRPr>
            </a:p>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Close out CAPAs</a:t>
              </a:r>
              <a:endParaRPr sz="1084">
                <a:solidFill>
                  <a:srgbClr val="858585"/>
                </a:solidFill>
                <a:latin typeface="Roboto"/>
                <a:ea typeface="Roboto"/>
                <a:cs typeface="Roboto"/>
                <a:sym typeface="Roboto"/>
              </a:endParaRPr>
            </a:p>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Regulatory Statement Policy</a:t>
              </a:r>
              <a:endParaRPr sz="1084">
                <a:solidFill>
                  <a:srgbClr val="858585"/>
                </a:solidFill>
                <a:latin typeface="Roboto"/>
                <a:ea typeface="Roboto"/>
                <a:cs typeface="Roboto"/>
                <a:sym typeface="Roboto"/>
              </a:endParaRPr>
            </a:p>
          </p:txBody>
        </p:sp>
        <p:cxnSp>
          <p:nvCxnSpPr>
            <p:cNvPr id="845" name="Google Shape;845;p50"/>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846" name="Google Shape;846;p50"/>
            <p:cNvSpPr/>
            <p:nvPr/>
          </p:nvSpPr>
          <p:spPr>
            <a:xfrm flipH="1">
              <a:off x="1083031" y="2306625"/>
              <a:ext cx="1834800" cy="143400"/>
            </a:xfrm>
            <a:prstGeom prst="parallelogram">
              <a:avLst>
                <a:gd fmla="val 96952" name="adj"/>
              </a:avLst>
            </a:prstGeom>
            <a:solidFill>
              <a:srgbClr val="C2C2C2"/>
            </a:solidFill>
            <a:ln>
              <a:noFill/>
            </a:ln>
          </p:spPr>
          <p:txBody>
            <a:bodyPr anchorCtr="0" anchor="ctr" bIns="142375" lIns="142375" spcFirstLastPara="1" rIns="142375" wrap="square" tIns="142375">
              <a:noAutofit/>
            </a:bodyPr>
            <a:lstStyle/>
            <a:p>
              <a:pPr indent="0" lvl="0" marL="0" rtl="0" algn="r">
                <a:spcBef>
                  <a:spcPts val="0"/>
                </a:spcBef>
                <a:spcAft>
                  <a:spcPts val="0"/>
                </a:spcAft>
                <a:buNone/>
              </a:pPr>
              <a:r>
                <a:rPr b="1" lang="en-US" sz="1619">
                  <a:solidFill>
                    <a:srgbClr val="666666"/>
                  </a:solidFill>
                </a:rPr>
                <a:t>  TBD</a:t>
              </a:r>
              <a:endParaRPr b="1" sz="1619">
                <a:solidFill>
                  <a:srgbClr val="666666"/>
                </a:solidFill>
              </a:endParaRPr>
            </a:p>
          </p:txBody>
        </p:sp>
        <p:sp>
          <p:nvSpPr>
            <p:cNvPr id="847" name="Google Shape;847;p50"/>
            <p:cNvSpPr/>
            <p:nvPr/>
          </p:nvSpPr>
          <p:spPr>
            <a:xfrm>
              <a:off x="1083125" y="2460449"/>
              <a:ext cx="1834800" cy="143400"/>
            </a:xfrm>
            <a:prstGeom prst="parallelogram">
              <a:avLst>
                <a:gd fmla="val 96952" name="adj"/>
              </a:avLst>
            </a:prstGeom>
            <a:solidFill>
              <a:srgbClr val="858585"/>
            </a:solidFill>
            <a:ln>
              <a:noFill/>
            </a:ln>
          </p:spPr>
          <p:txBody>
            <a:bodyPr anchorCtr="0" anchor="ctr" bIns="142375" lIns="142375" spcFirstLastPara="1" rIns="142375" wrap="square" tIns="142375">
              <a:noAutofit/>
            </a:bodyPr>
            <a:lstStyle/>
            <a:p>
              <a:pPr indent="0" lvl="0" marL="0" rtl="0" algn="l">
                <a:spcBef>
                  <a:spcPts val="0"/>
                </a:spcBef>
                <a:spcAft>
                  <a:spcPts val="0"/>
                </a:spcAft>
                <a:buNone/>
              </a:pPr>
              <a:r>
                <a:t/>
              </a:r>
              <a:endParaRPr/>
            </a:p>
          </p:txBody>
        </p:sp>
      </p:grpSp>
      <p:grpSp>
        <p:nvGrpSpPr>
          <p:cNvPr id="848" name="Google Shape;848;p50"/>
          <p:cNvGrpSpPr/>
          <p:nvPr/>
        </p:nvGrpSpPr>
        <p:grpSpPr>
          <a:xfrm>
            <a:off x="8525868" y="1625828"/>
            <a:ext cx="2857306" cy="3605230"/>
            <a:chOff x="1083025" y="1574025"/>
            <a:chExt cx="1834900" cy="2315200"/>
          </a:xfrm>
        </p:grpSpPr>
        <p:sp>
          <p:nvSpPr>
            <p:cNvPr id="849" name="Google Shape;849;p50"/>
            <p:cNvSpPr txBox="1"/>
            <p:nvPr/>
          </p:nvSpPr>
          <p:spPr>
            <a:xfrm>
              <a:off x="1604274" y="1574025"/>
              <a:ext cx="624300" cy="241200"/>
            </a:xfrm>
            <a:prstGeom prst="rect">
              <a:avLst/>
            </a:prstGeom>
            <a:noFill/>
            <a:ln>
              <a:noFill/>
            </a:ln>
          </p:spPr>
          <p:txBody>
            <a:bodyPr anchorCtr="0" anchor="t" bIns="142375" lIns="142375" spcFirstLastPara="1" rIns="142375" wrap="square" tIns="142375">
              <a:noAutofit/>
            </a:bodyPr>
            <a:lstStyle/>
            <a:p>
              <a:pPr indent="0" lvl="0" marL="0" rtl="0" algn="r">
                <a:lnSpc>
                  <a:spcPct val="115000"/>
                </a:lnSpc>
                <a:spcBef>
                  <a:spcPts val="0"/>
                </a:spcBef>
                <a:spcAft>
                  <a:spcPts val="2453"/>
                </a:spcAft>
                <a:buNone/>
              </a:pPr>
              <a:r>
                <a:rPr b="1" lang="en-US" sz="984">
                  <a:solidFill>
                    <a:srgbClr val="858585"/>
                  </a:solidFill>
                  <a:latin typeface="Roboto"/>
                  <a:ea typeface="Roboto"/>
                  <a:cs typeface="Roboto"/>
                  <a:sym typeface="Roboto"/>
                </a:rPr>
                <a:t>Milestone 4</a:t>
              </a:r>
              <a:endParaRPr b="1" sz="984">
                <a:solidFill>
                  <a:srgbClr val="858585"/>
                </a:solidFill>
                <a:latin typeface="Roboto"/>
                <a:ea typeface="Roboto"/>
                <a:cs typeface="Roboto"/>
                <a:sym typeface="Roboto"/>
              </a:endParaRPr>
            </a:p>
          </p:txBody>
        </p:sp>
        <p:sp>
          <p:nvSpPr>
            <p:cNvPr id="850" name="Google Shape;850;p50"/>
            <p:cNvSpPr txBox="1"/>
            <p:nvPr/>
          </p:nvSpPr>
          <p:spPr>
            <a:xfrm>
              <a:off x="1235825" y="2695025"/>
              <a:ext cx="1505100" cy="446400"/>
            </a:xfrm>
            <a:prstGeom prst="rect">
              <a:avLst/>
            </a:prstGeom>
            <a:noFill/>
            <a:ln>
              <a:noFill/>
            </a:ln>
          </p:spPr>
          <p:txBody>
            <a:bodyPr anchorCtr="0" anchor="b" bIns="142375" lIns="142375" spcFirstLastPara="1" rIns="142375" wrap="square" tIns="142375">
              <a:noAutofit/>
            </a:bodyPr>
            <a:lstStyle/>
            <a:p>
              <a:pPr indent="0" lvl="0" marL="0" rtl="0" algn="l">
                <a:lnSpc>
                  <a:spcPct val="115000"/>
                </a:lnSpc>
                <a:spcBef>
                  <a:spcPts val="0"/>
                </a:spcBef>
                <a:spcAft>
                  <a:spcPts val="0"/>
                </a:spcAft>
                <a:buNone/>
              </a:pPr>
              <a:r>
                <a:rPr b="1" lang="en-US" sz="1518">
                  <a:solidFill>
                    <a:srgbClr val="858585"/>
                  </a:solidFill>
                  <a:latin typeface="Roboto"/>
                  <a:ea typeface="Roboto"/>
                  <a:cs typeface="Roboto"/>
                  <a:sym typeface="Roboto"/>
                </a:rPr>
                <a:t>Training</a:t>
              </a:r>
              <a:endParaRPr b="1" sz="1518">
                <a:solidFill>
                  <a:srgbClr val="858585"/>
                </a:solidFill>
                <a:latin typeface="Roboto"/>
                <a:ea typeface="Roboto"/>
                <a:cs typeface="Roboto"/>
                <a:sym typeface="Roboto"/>
              </a:endParaRPr>
            </a:p>
          </p:txBody>
        </p:sp>
        <p:sp>
          <p:nvSpPr>
            <p:cNvPr id="851" name="Google Shape;851;p50"/>
            <p:cNvSpPr txBox="1"/>
            <p:nvPr/>
          </p:nvSpPr>
          <p:spPr>
            <a:xfrm>
              <a:off x="1215700" y="3151825"/>
              <a:ext cx="1545600" cy="737400"/>
            </a:xfrm>
            <a:prstGeom prst="rect">
              <a:avLst/>
            </a:prstGeom>
            <a:noFill/>
            <a:ln>
              <a:noFill/>
            </a:ln>
          </p:spPr>
          <p:txBody>
            <a:bodyPr anchorCtr="0" anchor="t" bIns="142375" lIns="142375" spcFirstLastPara="1" rIns="142375" wrap="square" tIns="142375">
              <a:noAutofit/>
            </a:bodyPr>
            <a:lstStyle/>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Instructor Led Training</a:t>
              </a:r>
              <a:endParaRPr sz="1084">
                <a:solidFill>
                  <a:srgbClr val="858585"/>
                </a:solidFill>
                <a:latin typeface="Roboto"/>
                <a:ea typeface="Roboto"/>
                <a:cs typeface="Roboto"/>
                <a:sym typeface="Roboto"/>
              </a:endParaRPr>
            </a:p>
            <a:p>
              <a:pPr indent="-297477" lvl="0" marL="457200" rtl="0" algn="l">
                <a:lnSpc>
                  <a:spcPct val="115000"/>
                </a:lnSpc>
                <a:spcBef>
                  <a:spcPts val="0"/>
                </a:spcBef>
                <a:spcAft>
                  <a:spcPts val="0"/>
                </a:spcAft>
                <a:buClr>
                  <a:srgbClr val="858585"/>
                </a:buClr>
                <a:buSzPts val="1085"/>
                <a:buFont typeface="Roboto"/>
                <a:buChar char="●"/>
              </a:pPr>
              <a:r>
                <a:rPr lang="en-US" sz="1084">
                  <a:solidFill>
                    <a:srgbClr val="858585"/>
                  </a:solidFill>
                  <a:latin typeface="Roboto"/>
                  <a:ea typeface="Roboto"/>
                  <a:cs typeface="Roboto"/>
                  <a:sym typeface="Roboto"/>
                </a:rPr>
                <a:t>OPS, Intg, QA, RA, Pathology</a:t>
              </a:r>
              <a:endParaRPr sz="1084">
                <a:solidFill>
                  <a:srgbClr val="858585"/>
                </a:solidFill>
                <a:latin typeface="Roboto"/>
                <a:ea typeface="Roboto"/>
                <a:cs typeface="Roboto"/>
                <a:sym typeface="Roboto"/>
              </a:endParaRPr>
            </a:p>
          </p:txBody>
        </p:sp>
        <p:cxnSp>
          <p:nvCxnSpPr>
            <p:cNvPr id="852" name="Google Shape;852;p50"/>
            <p:cNvCxnSpPr/>
            <p:nvPr/>
          </p:nvCxnSpPr>
          <p:spPr>
            <a:xfrm>
              <a:off x="2180202" y="1695421"/>
              <a:ext cx="718500" cy="741900"/>
            </a:xfrm>
            <a:prstGeom prst="straightConnector1">
              <a:avLst/>
            </a:prstGeom>
            <a:noFill/>
            <a:ln cap="flat" cmpd="sng" w="9525">
              <a:solidFill>
                <a:srgbClr val="C2C2C2"/>
              </a:solidFill>
              <a:prstDash val="solid"/>
              <a:round/>
              <a:headEnd len="sm" w="sm" type="none"/>
              <a:tailEnd len="sm" w="sm" type="none"/>
            </a:ln>
          </p:spPr>
        </p:cxnSp>
        <p:sp>
          <p:nvSpPr>
            <p:cNvPr id="853" name="Google Shape;853;p50"/>
            <p:cNvSpPr/>
            <p:nvPr/>
          </p:nvSpPr>
          <p:spPr>
            <a:xfrm flipH="1">
              <a:off x="1083025" y="2306625"/>
              <a:ext cx="1834800" cy="143400"/>
            </a:xfrm>
            <a:prstGeom prst="parallelogram">
              <a:avLst>
                <a:gd fmla="val 96952" name="adj"/>
              </a:avLst>
            </a:prstGeom>
            <a:solidFill>
              <a:srgbClr val="C2C2C2"/>
            </a:solidFill>
            <a:ln>
              <a:noFill/>
            </a:ln>
          </p:spPr>
          <p:txBody>
            <a:bodyPr anchorCtr="0" anchor="ctr" bIns="142375" lIns="142375" spcFirstLastPara="1" rIns="142375" wrap="square" tIns="142375">
              <a:noAutofit/>
            </a:bodyPr>
            <a:lstStyle/>
            <a:p>
              <a:pPr indent="0" lvl="0" marL="0" rtl="0" algn="r">
                <a:spcBef>
                  <a:spcPts val="0"/>
                </a:spcBef>
                <a:spcAft>
                  <a:spcPts val="0"/>
                </a:spcAft>
                <a:buNone/>
              </a:pPr>
              <a:r>
                <a:rPr b="1" lang="en-US" sz="1619">
                  <a:solidFill>
                    <a:srgbClr val="666666"/>
                  </a:solidFill>
                </a:rPr>
                <a:t>TBD</a:t>
              </a:r>
              <a:r>
                <a:rPr lang="en-US" sz="2219"/>
                <a:t>  </a:t>
              </a:r>
              <a:endParaRPr sz="2219"/>
            </a:p>
          </p:txBody>
        </p:sp>
        <p:sp>
          <p:nvSpPr>
            <p:cNvPr id="854" name="Google Shape;854;p50"/>
            <p:cNvSpPr/>
            <p:nvPr/>
          </p:nvSpPr>
          <p:spPr>
            <a:xfrm>
              <a:off x="1083125" y="2460449"/>
              <a:ext cx="1834800" cy="143400"/>
            </a:xfrm>
            <a:prstGeom prst="parallelogram">
              <a:avLst>
                <a:gd fmla="val 96952" name="adj"/>
              </a:avLst>
            </a:prstGeom>
            <a:solidFill>
              <a:srgbClr val="858585"/>
            </a:solidFill>
            <a:ln>
              <a:noFill/>
            </a:ln>
          </p:spPr>
          <p:txBody>
            <a:bodyPr anchorCtr="0" anchor="ctr" bIns="142375" lIns="142375" spcFirstLastPara="1" rIns="142375" wrap="square" tIns="142375">
              <a:noAutofit/>
            </a:bodyPr>
            <a:lstStyle/>
            <a:p>
              <a:pPr indent="0" lvl="0" marL="0" rtl="0" algn="l">
                <a:spcBef>
                  <a:spcPts val="0"/>
                </a:spcBef>
                <a:spcAft>
                  <a:spcPts val="0"/>
                </a:spcAft>
                <a:buNone/>
              </a:pPr>
              <a:r>
                <a:t/>
              </a:r>
              <a:endParaRPr/>
            </a:p>
          </p:txBody>
        </p:sp>
      </p:grpSp>
      <p:sp>
        <p:nvSpPr>
          <p:cNvPr id="855" name="Google Shape;855;p50"/>
          <p:cNvSpPr txBox="1"/>
          <p:nvPr/>
        </p:nvSpPr>
        <p:spPr>
          <a:xfrm>
            <a:off x="632400" y="2565075"/>
            <a:ext cx="2345400" cy="2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0000FF"/>
                </a:solidFill>
                <a:latin typeface="Montserrat"/>
                <a:ea typeface="Montserrat"/>
                <a:cs typeface="Montserrat"/>
                <a:sym typeface="Montserrat"/>
              </a:rPr>
              <a:t>Kickoff: OPS, Intg, Pathology - Jan</a:t>
            </a:r>
            <a:endParaRPr b="1" sz="900">
              <a:solidFill>
                <a:srgbClr val="0000FF"/>
              </a:solidFill>
              <a:latin typeface="Montserrat"/>
              <a:ea typeface="Montserrat"/>
              <a:cs typeface="Montserrat"/>
              <a:sym typeface="Montserrat"/>
            </a:endParaRPr>
          </a:p>
        </p:txBody>
      </p:sp>
      <p:sp>
        <p:nvSpPr>
          <p:cNvPr id="856" name="Google Shape;856;p50"/>
          <p:cNvSpPr txBox="1"/>
          <p:nvPr/>
        </p:nvSpPr>
        <p:spPr>
          <a:xfrm>
            <a:off x="654425" y="3249925"/>
            <a:ext cx="1770900" cy="2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0000FF"/>
                </a:solidFill>
                <a:latin typeface="Montserrat"/>
                <a:ea typeface="Montserrat"/>
                <a:cs typeface="Montserrat"/>
                <a:sym typeface="Montserrat"/>
              </a:rPr>
              <a:t>QA/RA kickoff - Dec 17</a:t>
            </a:r>
            <a:endParaRPr b="1" sz="900">
              <a:solidFill>
                <a:srgbClr val="0000FF"/>
              </a:solidFill>
              <a:latin typeface="Montserrat"/>
              <a:ea typeface="Montserrat"/>
              <a:cs typeface="Montserrat"/>
              <a:sym typeface="Montserrat"/>
            </a:endParaRPr>
          </a:p>
        </p:txBody>
      </p:sp>
      <p:sp>
        <p:nvSpPr>
          <p:cNvPr id="857" name="Google Shape;857;p50"/>
          <p:cNvSpPr txBox="1"/>
          <p:nvPr/>
        </p:nvSpPr>
        <p:spPr>
          <a:xfrm>
            <a:off x="3430600" y="3028825"/>
            <a:ext cx="1770900" cy="221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900">
                <a:solidFill>
                  <a:srgbClr val="FFFF00"/>
                </a:solidFill>
                <a:latin typeface="Montserrat"/>
                <a:ea typeface="Montserrat"/>
                <a:cs typeface="Montserrat"/>
                <a:sym typeface="Montserrat"/>
              </a:rPr>
              <a:t>ECO - “MyDiagnexia+”</a:t>
            </a:r>
            <a:endParaRPr b="1" sz="900">
              <a:solidFill>
                <a:srgbClr val="FFFF00"/>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51"/>
          <p:cNvSpPr txBox="1"/>
          <p:nvPr>
            <p:ph type="title"/>
          </p:nvPr>
        </p:nvSpPr>
        <p:spPr>
          <a:xfrm>
            <a:off x="593725" y="547718"/>
            <a:ext cx="11003100" cy="848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Quiz Time!</a:t>
            </a:r>
            <a:endParaRPr/>
          </a:p>
          <a:p>
            <a:pPr indent="0" lvl="0" marL="0" rtl="0" algn="l">
              <a:spcBef>
                <a:spcPts val="0"/>
              </a:spcBef>
              <a:spcAft>
                <a:spcPts val="0"/>
              </a:spcAft>
              <a:buNone/>
            </a:pPr>
            <a:r>
              <a:rPr i="1" lang="en-US" sz="1900"/>
              <a:t>The game where points don’t matter</a:t>
            </a:r>
            <a:r>
              <a:rPr lang="en-US"/>
              <a:t> </a:t>
            </a:r>
            <a:endParaRPr/>
          </a:p>
        </p:txBody>
      </p:sp>
      <p:sp>
        <p:nvSpPr>
          <p:cNvPr id="864" name="Google Shape;864;p51"/>
          <p:cNvSpPr txBox="1"/>
          <p:nvPr>
            <p:ph idx="1" type="body"/>
          </p:nvPr>
        </p:nvSpPr>
        <p:spPr>
          <a:xfrm>
            <a:off x="593725" y="2522537"/>
            <a:ext cx="5327700" cy="36036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What do these (2) things have in common?</a:t>
            </a:r>
            <a:endParaRPr/>
          </a:p>
          <a:p>
            <a:pPr indent="-342900" lvl="0" marL="457200" rtl="0" algn="l">
              <a:lnSpc>
                <a:spcPct val="200000"/>
              </a:lnSpc>
              <a:spcBef>
                <a:spcPts val="1000"/>
              </a:spcBef>
              <a:spcAft>
                <a:spcPts val="0"/>
              </a:spcAft>
              <a:buSzPts val="1800"/>
              <a:buChar char="●"/>
            </a:pPr>
            <a:r>
              <a:rPr lang="en-US"/>
              <a:t>Master Validation Plan</a:t>
            </a:r>
            <a:endParaRPr/>
          </a:p>
          <a:p>
            <a:pPr indent="-342900" lvl="0" marL="457200" rtl="0" algn="l">
              <a:lnSpc>
                <a:spcPct val="200000"/>
              </a:lnSpc>
              <a:spcBef>
                <a:spcPts val="0"/>
              </a:spcBef>
              <a:spcAft>
                <a:spcPts val="0"/>
              </a:spcAft>
              <a:buSzPts val="1800"/>
              <a:buChar char="●"/>
            </a:pPr>
            <a:r>
              <a:rPr lang="en-US"/>
              <a:t>Regulatory Statement</a:t>
            </a:r>
            <a:endParaRPr/>
          </a:p>
        </p:txBody>
      </p:sp>
      <p:pic>
        <p:nvPicPr>
          <p:cNvPr id="865" name="Google Shape;865;p51"/>
          <p:cNvPicPr preferRelativeResize="0"/>
          <p:nvPr/>
        </p:nvPicPr>
        <p:blipFill>
          <a:blip r:embed="rId3">
            <a:alphaModFix/>
          </a:blip>
          <a:stretch>
            <a:fillRect/>
          </a:stretch>
        </p:blipFill>
        <p:spPr>
          <a:xfrm>
            <a:off x="11457850" y="171800"/>
            <a:ext cx="428625" cy="457200"/>
          </a:xfrm>
          <a:prstGeom prst="rect">
            <a:avLst/>
          </a:prstGeom>
          <a:noFill/>
          <a:ln>
            <a:noFill/>
          </a:ln>
        </p:spPr>
      </p:pic>
      <p:sp>
        <p:nvSpPr>
          <p:cNvPr id="866" name="Google Shape;866;p51"/>
          <p:cNvSpPr txBox="1"/>
          <p:nvPr>
            <p:ph idx="2" type="body"/>
          </p:nvPr>
        </p:nvSpPr>
        <p:spPr>
          <a:xfrm>
            <a:off x="6270627" y="2522537"/>
            <a:ext cx="5327700" cy="3603600"/>
          </a:xfrm>
          <a:prstGeom prst="rect">
            <a:avLst/>
          </a:prstGeom>
        </p:spPr>
        <p:txBody>
          <a:bodyPr anchorCtr="0" anchor="t" bIns="0" lIns="0" spcFirstLastPara="1" rIns="0" wrap="square" tIns="0">
            <a:normAutofit/>
          </a:bodyPr>
          <a:lstStyle/>
          <a:p>
            <a:pPr indent="0" lvl="0" marL="0" rtl="0" algn="l">
              <a:spcBef>
                <a:spcPts val="0"/>
              </a:spcBef>
              <a:spcAft>
                <a:spcPts val="600"/>
              </a:spcAft>
              <a:buNone/>
            </a:pPr>
            <a:r>
              <a:rPr lang="en-US"/>
              <a:t>What can we answer or clarify for the team and the organization?</a:t>
            </a:r>
            <a:endParaRPr/>
          </a:p>
        </p:txBody>
      </p:sp>
      <p:sp>
        <p:nvSpPr>
          <p:cNvPr id="867" name="Google Shape;867;p51"/>
          <p:cNvSpPr txBox="1"/>
          <p:nvPr>
            <p:ph idx="3" type="body"/>
          </p:nvPr>
        </p:nvSpPr>
        <p:spPr>
          <a:xfrm>
            <a:off x="592975" y="2129801"/>
            <a:ext cx="53277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solidFill>
                  <a:schemeClr val="dk1"/>
                </a:solidFill>
              </a:rPr>
              <a:t>Question #1</a:t>
            </a:r>
            <a:endParaRPr>
              <a:solidFill>
                <a:schemeClr val="dk1"/>
              </a:solidFill>
            </a:endParaRPr>
          </a:p>
        </p:txBody>
      </p:sp>
      <p:sp>
        <p:nvSpPr>
          <p:cNvPr id="868" name="Google Shape;868;p51"/>
          <p:cNvSpPr txBox="1"/>
          <p:nvPr>
            <p:ph idx="4" type="body"/>
          </p:nvPr>
        </p:nvSpPr>
        <p:spPr>
          <a:xfrm>
            <a:off x="6269877" y="2129801"/>
            <a:ext cx="53277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a:solidFill>
                  <a:schemeClr val="dk1"/>
                </a:solidFill>
              </a:rPr>
              <a:t>Question #2</a:t>
            </a:r>
            <a:endParaRPr>
              <a:solidFill>
                <a:schemeClr val="dk1"/>
              </a:solidFill>
            </a:endParaRPr>
          </a:p>
        </p:txBody>
      </p:sp>
      <p:sp>
        <p:nvSpPr>
          <p:cNvPr id="869" name="Google Shape;869;p51"/>
          <p:cNvSpPr txBox="1"/>
          <p:nvPr/>
        </p:nvSpPr>
        <p:spPr>
          <a:xfrm>
            <a:off x="2045775" y="4435550"/>
            <a:ext cx="8604900" cy="1338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chemeClr val="dk1"/>
                </a:solidFill>
                <a:latin typeface="Montserrat"/>
                <a:ea typeface="Montserrat"/>
                <a:cs typeface="Montserrat"/>
                <a:sym typeface="Montserrat"/>
              </a:rPr>
              <a:t>Risk based Validation</a:t>
            </a:r>
            <a:endParaRPr b="1" sz="26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600">
                <a:solidFill>
                  <a:schemeClr val="dk1"/>
                </a:solidFill>
                <a:latin typeface="Montserrat"/>
                <a:ea typeface="Montserrat"/>
                <a:cs typeface="Montserrat"/>
                <a:sym typeface="Montserrat"/>
              </a:rPr>
              <a:t>(also accept intended use)</a:t>
            </a:r>
            <a:endParaRPr i="1" sz="1600">
              <a:solidFill>
                <a:schemeClr val="dk1"/>
              </a:solidFill>
              <a:latin typeface="Montserrat"/>
              <a:ea typeface="Montserrat"/>
              <a:cs typeface="Montserrat"/>
              <a:sym typeface="Montserrat"/>
            </a:endParaRPr>
          </a:p>
        </p:txBody>
      </p:sp>
      <p:pic>
        <p:nvPicPr>
          <p:cNvPr id="870" name="Google Shape;870;p51"/>
          <p:cNvPicPr preferRelativeResize="0"/>
          <p:nvPr/>
        </p:nvPicPr>
        <p:blipFill>
          <a:blip r:embed="rId4">
            <a:alphaModFix/>
          </a:blip>
          <a:stretch>
            <a:fillRect/>
          </a:stretch>
        </p:blipFill>
        <p:spPr>
          <a:xfrm>
            <a:off x="4812650" y="3724300"/>
            <a:ext cx="2217450" cy="2760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9"/>
                                        </p:tgtEl>
                                        <p:attrNameLst>
                                          <p:attrName>style.visibility</p:attrName>
                                        </p:attrNameLst>
                                      </p:cBhvr>
                                      <p:to>
                                        <p:strVal val="visible"/>
                                      </p:to>
                                    </p:set>
                                    <p:anim calcmode="lin" valueType="num">
                                      <p:cBhvr additive="base">
                                        <p:cTn dur="1000"/>
                                        <p:tgtEl>
                                          <p:spTgt spid="86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6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2"/>
          <p:cNvSpPr txBox="1"/>
          <p:nvPr>
            <p:ph type="title"/>
          </p:nvPr>
        </p:nvSpPr>
        <p:spPr>
          <a:xfrm>
            <a:off x="593726" y="3429000"/>
            <a:ext cx="4381500" cy="1709738"/>
          </a:xfrm>
          <a:prstGeom prst="rect">
            <a:avLst/>
          </a:prstGeom>
          <a:noFill/>
          <a:ln>
            <a:noFill/>
          </a:ln>
        </p:spPr>
        <p:txBody>
          <a:bodyPr anchorCtr="0" anchor="b" bIns="0" lIns="0" spcFirstLastPara="1" rIns="0" wrap="square" tIns="0">
            <a:noAutofit/>
          </a:bodyPr>
          <a:lstStyle/>
          <a:p>
            <a:pPr indent="0" lvl="0" marL="0" rtl="0" algn="l">
              <a:lnSpc>
                <a:spcPct val="90000"/>
              </a:lnSpc>
              <a:spcBef>
                <a:spcPts val="0"/>
              </a:spcBef>
              <a:spcAft>
                <a:spcPts val="0"/>
              </a:spcAft>
              <a:buClr>
                <a:schemeClr val="lt1"/>
              </a:buClr>
              <a:buSzPts val="4000"/>
              <a:buFont typeface="Montserrat"/>
              <a:buNone/>
            </a:pPr>
            <a:r>
              <a:rPr lang="en-US"/>
              <a:t>END</a:t>
            </a:r>
            <a:endParaRPr/>
          </a:p>
        </p:txBody>
      </p:sp>
      <p:sp>
        <p:nvSpPr>
          <p:cNvPr id="876" name="Google Shape;876;p52"/>
          <p:cNvSpPr txBox="1"/>
          <p:nvPr>
            <p:ph idx="1" type="body"/>
          </p:nvPr>
        </p:nvSpPr>
        <p:spPr>
          <a:xfrm>
            <a:off x="593725" y="5486400"/>
            <a:ext cx="4381500" cy="639764"/>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chemeClr val="accent1"/>
              </a:buClr>
              <a:buSzPts val="1600"/>
              <a:buNone/>
            </a:pPr>
            <a:r>
              <a:rPr lang="en-US"/>
              <a:t>North America</a:t>
            </a:r>
            <a:endParaRPr/>
          </a:p>
          <a:p>
            <a:pPr indent="0" lvl="0" marL="0" rtl="0" algn="l">
              <a:lnSpc>
                <a:spcPct val="110000"/>
              </a:lnSpc>
              <a:spcBef>
                <a:spcPts val="0"/>
              </a:spcBef>
              <a:spcAft>
                <a:spcPts val="0"/>
              </a:spcAft>
              <a:buClr>
                <a:schemeClr val="accent1"/>
              </a:buClr>
              <a:buSzPts val="1600"/>
              <a:buNone/>
            </a:pPr>
            <a:r>
              <a:rPr lang="en-US"/>
              <a:t>Naperville, IL USA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1" name="Shape 881"/>
        <p:cNvGrpSpPr/>
        <p:nvPr/>
      </p:nvGrpSpPr>
      <p:grpSpPr>
        <a:xfrm>
          <a:off x="0" y="0"/>
          <a:ext cx="0" cy="0"/>
          <a:chOff x="0" y="0"/>
          <a:chExt cx="0" cy="0"/>
        </a:xfrm>
      </p:grpSpPr>
      <p:sp>
        <p:nvSpPr>
          <p:cNvPr id="882" name="Google Shape;882;p53"/>
          <p:cNvSpPr txBox="1"/>
          <p:nvPr>
            <p:ph type="title"/>
          </p:nvPr>
        </p:nvSpPr>
        <p:spPr>
          <a:xfrm>
            <a:off x="284000" y="232088"/>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CAI-107828 - </a:t>
            </a:r>
            <a:r>
              <a:rPr b="0" i="1" lang="en-US" u="sng">
                <a:solidFill>
                  <a:srgbClr val="0000FF"/>
                </a:solidFill>
                <a:hlinkClick r:id="rId3">
                  <a:extLst>
                    <a:ext uri="{A12FA001-AC4F-418D-AE19-62706E023703}">
                      <ahyp:hlinkClr val="tx"/>
                    </a:ext>
                  </a:extLst>
                </a:hlinkClick>
              </a:rPr>
              <a:t>VSR</a:t>
            </a:r>
            <a:r>
              <a:rPr b="0" i="1" lang="en-US">
                <a:solidFill>
                  <a:srgbClr val="3D3D3D"/>
                </a:solidFill>
              </a:rPr>
              <a:t> correction + retention</a:t>
            </a:r>
            <a:endParaRPr b="0" i="1">
              <a:solidFill>
                <a:srgbClr val="3D3D3D"/>
              </a:solidFill>
            </a:endParaRPr>
          </a:p>
        </p:txBody>
      </p:sp>
      <p:pic>
        <p:nvPicPr>
          <p:cNvPr id="883" name="Google Shape;883;p53"/>
          <p:cNvPicPr preferRelativeResize="0"/>
          <p:nvPr/>
        </p:nvPicPr>
        <p:blipFill>
          <a:blip r:embed="rId4">
            <a:alphaModFix/>
          </a:blip>
          <a:stretch>
            <a:fillRect/>
          </a:stretch>
        </p:blipFill>
        <p:spPr>
          <a:xfrm>
            <a:off x="11457850" y="171800"/>
            <a:ext cx="428625" cy="457200"/>
          </a:xfrm>
          <a:prstGeom prst="rect">
            <a:avLst/>
          </a:prstGeom>
          <a:noFill/>
          <a:ln>
            <a:noFill/>
          </a:ln>
        </p:spPr>
      </p:pic>
      <p:sp>
        <p:nvSpPr>
          <p:cNvPr id="884" name="Google Shape;884;p53"/>
          <p:cNvSpPr txBox="1"/>
          <p:nvPr>
            <p:ph idx="1" type="body"/>
          </p:nvPr>
        </p:nvSpPr>
        <p:spPr>
          <a:xfrm>
            <a:off x="519550" y="1817772"/>
            <a:ext cx="3438000" cy="45057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n-US" u="sng"/>
              <a:t>(6) IQs  + (1) OQ</a:t>
            </a:r>
            <a:endParaRPr u="sng"/>
          </a:p>
          <a:p>
            <a:pPr indent="-342900" lvl="0" marL="457200" rtl="0" algn="l">
              <a:spcBef>
                <a:spcPts val="1000"/>
              </a:spcBef>
              <a:spcAft>
                <a:spcPts val="0"/>
              </a:spcAft>
              <a:buSzPts val="1800"/>
              <a:buChar char="●"/>
            </a:pPr>
            <a:r>
              <a:rPr lang="en-US" u="sng"/>
              <a:t>(1) Telepathology report</a:t>
            </a:r>
            <a:endParaRPr u="sng"/>
          </a:p>
          <a:p>
            <a:pPr indent="-342900" lvl="0" marL="457200" rtl="0" algn="l">
              <a:spcBef>
                <a:spcPts val="1000"/>
              </a:spcBef>
              <a:spcAft>
                <a:spcPts val="0"/>
              </a:spcAft>
              <a:buSzPts val="1800"/>
              <a:buChar char="●"/>
            </a:pPr>
            <a:r>
              <a:rPr lang="en-US" u="sng"/>
              <a:t>(6) OPQ validation records</a:t>
            </a:r>
            <a:endParaRPr u="sng"/>
          </a:p>
          <a:p>
            <a:pPr indent="-342900" lvl="1" marL="914400" rtl="0" algn="l">
              <a:spcBef>
                <a:spcPts val="1000"/>
              </a:spcBef>
              <a:spcAft>
                <a:spcPts val="0"/>
              </a:spcAft>
              <a:buSzPts val="1800"/>
              <a:buChar char="○"/>
            </a:pPr>
            <a:r>
              <a:rPr lang="en-US">
                <a:highlight>
                  <a:srgbClr val="FFFF00"/>
                </a:highlight>
              </a:rPr>
              <a:t>(1) missing Dr. Kaplan’s sign</a:t>
            </a:r>
            <a:endParaRPr>
              <a:highlight>
                <a:srgbClr val="FFFF00"/>
              </a:highlight>
            </a:endParaRPr>
          </a:p>
          <a:p>
            <a:pPr indent="-342900" lvl="2" marL="1371600" rtl="0" algn="l">
              <a:spcBef>
                <a:spcPts val="1000"/>
              </a:spcBef>
              <a:spcAft>
                <a:spcPts val="0"/>
              </a:spcAft>
              <a:buClr>
                <a:srgbClr val="980000"/>
              </a:buClr>
              <a:buSzPts val="1800"/>
              <a:buChar char="■"/>
            </a:pPr>
            <a:r>
              <a:rPr i="1" lang="en-US">
                <a:solidFill>
                  <a:srgbClr val="980000"/>
                </a:solidFill>
              </a:rPr>
              <a:t>DCX-OPQR-20</a:t>
            </a:r>
            <a:endParaRPr i="1">
              <a:solidFill>
                <a:srgbClr val="980000"/>
              </a:solidFill>
            </a:endParaRPr>
          </a:p>
          <a:p>
            <a:pPr indent="-342900" lvl="2" marL="1371600" rtl="0" algn="l">
              <a:spcBef>
                <a:spcPts val="0"/>
              </a:spcBef>
              <a:spcAft>
                <a:spcPts val="0"/>
              </a:spcAft>
              <a:buSzPts val="1800"/>
              <a:buChar char="■"/>
            </a:pPr>
            <a:r>
              <a:rPr i="1" lang="en-US"/>
              <a:t>DGX-OPQR-26 MEMO</a:t>
            </a:r>
            <a:endParaRPr i="1"/>
          </a:p>
          <a:p>
            <a:pPr indent="-342900" lvl="0" marL="457200" rtl="0" algn="l">
              <a:spcBef>
                <a:spcPts val="1000"/>
              </a:spcBef>
              <a:spcAft>
                <a:spcPts val="0"/>
              </a:spcAft>
              <a:buSzPts val="1800"/>
              <a:buChar char="●"/>
            </a:pPr>
            <a:r>
              <a:rPr lang="en-US"/>
              <a:t>Need to bring final medical director signature to all testing performed so far…..</a:t>
            </a:r>
            <a:endParaRPr/>
          </a:p>
          <a:p>
            <a:pPr indent="-342900" lvl="0" marL="457200" rtl="0" algn="l">
              <a:spcBef>
                <a:spcPts val="1000"/>
              </a:spcBef>
              <a:spcAft>
                <a:spcPts val="1000"/>
              </a:spcAft>
              <a:buSzPts val="1800"/>
              <a:buChar char="●"/>
            </a:pPr>
            <a:r>
              <a:rPr b="1" lang="en-US"/>
              <a:t>Solution: </a:t>
            </a:r>
            <a:r>
              <a:rPr lang="en-US"/>
              <a:t>VSR to tie all together the IQ, OPQs, and telepathology docs so we are compliant to </a:t>
            </a:r>
            <a:r>
              <a:rPr lang="en-US">
                <a:solidFill>
                  <a:srgbClr val="FF0000"/>
                </a:solidFill>
              </a:rPr>
              <a:t>COM.40475</a:t>
            </a:r>
            <a:endParaRPr>
              <a:solidFill>
                <a:srgbClr val="FF0000"/>
              </a:solidFill>
            </a:endParaRPr>
          </a:p>
        </p:txBody>
      </p:sp>
      <p:sp>
        <p:nvSpPr>
          <p:cNvPr id="885" name="Google Shape;885;p53"/>
          <p:cNvSpPr txBox="1"/>
          <p:nvPr>
            <p:ph idx="2" type="body"/>
          </p:nvPr>
        </p:nvSpPr>
        <p:spPr>
          <a:xfrm>
            <a:off x="520156" y="1416025"/>
            <a:ext cx="34380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sz="1300">
                <a:solidFill>
                  <a:schemeClr val="dk1"/>
                </a:solidFill>
              </a:rPr>
              <a:t>Validation records - (14)</a:t>
            </a:r>
            <a:endParaRPr sz="1300">
              <a:solidFill>
                <a:schemeClr val="dk1"/>
              </a:solidFill>
            </a:endParaRPr>
          </a:p>
        </p:txBody>
      </p:sp>
      <p:sp>
        <p:nvSpPr>
          <p:cNvPr id="886" name="Google Shape;886;p53"/>
          <p:cNvSpPr txBox="1"/>
          <p:nvPr>
            <p:ph idx="3" type="body"/>
          </p:nvPr>
        </p:nvSpPr>
        <p:spPr>
          <a:xfrm>
            <a:off x="4304150" y="1817783"/>
            <a:ext cx="3438000" cy="823800"/>
          </a:xfrm>
          <a:prstGeom prst="rect">
            <a:avLst/>
          </a:prstGeom>
        </p:spPr>
        <p:txBody>
          <a:bodyPr anchorCtr="0" anchor="t" bIns="0" lIns="0" spcFirstLastPara="1" rIns="0" wrap="square" tIns="0">
            <a:normAutofit/>
          </a:bodyPr>
          <a:lstStyle/>
          <a:p>
            <a:pPr indent="-342900" lvl="0" marL="457200" rtl="0" algn="l">
              <a:spcBef>
                <a:spcPts val="0"/>
              </a:spcBef>
              <a:spcAft>
                <a:spcPts val="0"/>
              </a:spcAft>
              <a:buSzPts val="1800"/>
              <a:buChar char="●"/>
            </a:pPr>
            <a:r>
              <a:rPr lang="en-US"/>
              <a:t>Indicates</a:t>
            </a:r>
            <a:r>
              <a:rPr lang="en-US"/>
              <a:t> validation records are retained in Orcanos</a:t>
            </a:r>
            <a:endParaRPr/>
          </a:p>
        </p:txBody>
      </p:sp>
      <p:sp>
        <p:nvSpPr>
          <p:cNvPr id="887" name="Google Shape;887;p53"/>
          <p:cNvSpPr txBox="1"/>
          <p:nvPr>
            <p:ph idx="4" type="body"/>
          </p:nvPr>
        </p:nvSpPr>
        <p:spPr>
          <a:xfrm>
            <a:off x="4304756" y="1416025"/>
            <a:ext cx="34380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sz="1300">
                <a:solidFill>
                  <a:schemeClr val="dk1"/>
                </a:solidFill>
              </a:rPr>
              <a:t>Document retention - </a:t>
            </a:r>
            <a:r>
              <a:rPr lang="en-US" sz="1300" u="sng">
                <a:solidFill>
                  <a:srgbClr val="0000FF"/>
                </a:solidFill>
                <a:hlinkClick r:id="rId5">
                  <a:extLst>
                    <a:ext uri="{A12FA001-AC4F-418D-AE19-62706E023703}">
                      <ahyp:hlinkClr val="tx"/>
                    </a:ext>
                  </a:extLst>
                </a:hlinkClick>
              </a:rPr>
              <a:t>DMS-8069</a:t>
            </a:r>
            <a:endParaRPr sz="1300">
              <a:solidFill>
                <a:srgbClr val="0000FF"/>
              </a:solidFill>
            </a:endParaRPr>
          </a:p>
        </p:txBody>
      </p:sp>
      <p:sp>
        <p:nvSpPr>
          <p:cNvPr id="888" name="Google Shape;888;p53"/>
          <p:cNvSpPr txBox="1"/>
          <p:nvPr>
            <p:ph idx="6" type="body"/>
          </p:nvPr>
        </p:nvSpPr>
        <p:spPr>
          <a:xfrm>
            <a:off x="8090563" y="1416025"/>
            <a:ext cx="3438000" cy="238200"/>
          </a:xfrm>
          <a:prstGeom prst="rect">
            <a:avLst/>
          </a:prstGeom>
        </p:spPr>
        <p:txBody>
          <a:bodyPr anchorCtr="0" anchor="t" bIns="0" lIns="0" spcFirstLastPara="1" rIns="0" wrap="square" tIns="0">
            <a:noAutofit/>
          </a:bodyPr>
          <a:lstStyle/>
          <a:p>
            <a:pPr indent="0" lvl="0" marL="0" rtl="0" algn="l">
              <a:spcBef>
                <a:spcPts val="0"/>
              </a:spcBef>
              <a:spcAft>
                <a:spcPts val="600"/>
              </a:spcAft>
              <a:buNone/>
            </a:pPr>
            <a:r>
              <a:rPr lang="en-US" sz="1200">
                <a:solidFill>
                  <a:schemeClr val="dk1"/>
                </a:solidFill>
              </a:rPr>
              <a:t>Document control - </a:t>
            </a:r>
            <a:r>
              <a:rPr lang="en-US" sz="1200" u="sng">
                <a:solidFill>
                  <a:srgbClr val="0000FF"/>
                </a:solidFill>
                <a:hlinkClick r:id="rId6">
                  <a:extLst>
                    <a:ext uri="{A12FA001-AC4F-418D-AE19-62706E023703}">
                      <ahyp:hlinkClr val="tx"/>
                    </a:ext>
                  </a:extLst>
                </a:hlinkClick>
              </a:rPr>
              <a:t>DMS-8338</a:t>
            </a:r>
            <a:endParaRPr sz="1200">
              <a:solidFill>
                <a:srgbClr val="0000FF"/>
              </a:solidFill>
            </a:endParaRPr>
          </a:p>
        </p:txBody>
      </p:sp>
      <p:pic>
        <p:nvPicPr>
          <p:cNvPr id="889" name="Google Shape;889;p53"/>
          <p:cNvPicPr preferRelativeResize="0"/>
          <p:nvPr/>
        </p:nvPicPr>
        <p:blipFill>
          <a:blip r:embed="rId7">
            <a:alphaModFix/>
          </a:blip>
          <a:stretch>
            <a:fillRect/>
          </a:stretch>
        </p:blipFill>
        <p:spPr>
          <a:xfrm>
            <a:off x="4374870" y="2786550"/>
            <a:ext cx="3296575" cy="3600600"/>
          </a:xfrm>
          <a:prstGeom prst="rect">
            <a:avLst/>
          </a:prstGeom>
          <a:noFill/>
          <a:ln cap="flat" cmpd="sng" w="9525">
            <a:solidFill>
              <a:schemeClr val="dk2"/>
            </a:solidFill>
            <a:prstDash val="solid"/>
            <a:round/>
            <a:headEnd len="sm" w="sm" type="none"/>
            <a:tailEnd len="sm" w="sm" type="none"/>
          </a:ln>
        </p:spPr>
      </p:pic>
      <p:sp>
        <p:nvSpPr>
          <p:cNvPr id="890" name="Google Shape;890;p53"/>
          <p:cNvSpPr txBox="1"/>
          <p:nvPr/>
        </p:nvSpPr>
        <p:spPr>
          <a:xfrm>
            <a:off x="556575" y="629000"/>
            <a:ext cx="6159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300">
                <a:solidFill>
                  <a:srgbClr val="FF0000"/>
                </a:solidFill>
                <a:latin typeface="Montserrat"/>
                <a:ea typeface="Montserrat"/>
                <a:cs typeface="Montserrat"/>
                <a:sym typeface="Montserrat"/>
              </a:rPr>
              <a:t>COM.40475</a:t>
            </a:r>
            <a:r>
              <a:rPr lang="en-US" sz="1300">
                <a:solidFill>
                  <a:schemeClr val="dk1"/>
                </a:solidFill>
                <a:latin typeface="Montserrat"/>
                <a:ea typeface="Montserrat"/>
                <a:cs typeface="Montserrat"/>
                <a:sym typeface="Montserrat"/>
              </a:rPr>
              <a:t> Test method validation / verification</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b="1" lang="en-US" sz="1300">
                <a:solidFill>
                  <a:srgbClr val="38761D"/>
                </a:solidFill>
                <a:latin typeface="Montserrat"/>
                <a:ea typeface="Montserrat"/>
                <a:cs typeface="Montserrat"/>
                <a:sym typeface="Montserrat"/>
              </a:rPr>
              <a:t>COM.30550</a:t>
            </a:r>
            <a:r>
              <a:rPr lang="en-US" sz="1300">
                <a:solidFill>
                  <a:schemeClr val="dk1"/>
                </a:solidFill>
                <a:latin typeface="Montserrat"/>
                <a:ea typeface="Montserrat"/>
                <a:cs typeface="Montserrat"/>
                <a:sym typeface="Montserrat"/>
              </a:rPr>
              <a:t> Instrument/Equipment Performance Verification</a:t>
            </a:r>
            <a:endParaRPr sz="1300">
              <a:solidFill>
                <a:schemeClr val="dk1"/>
              </a:solidFill>
              <a:latin typeface="Montserrat"/>
              <a:ea typeface="Montserrat"/>
              <a:cs typeface="Montserrat"/>
              <a:sym typeface="Montserrat"/>
            </a:endParaRPr>
          </a:p>
        </p:txBody>
      </p:sp>
      <p:pic>
        <p:nvPicPr>
          <p:cNvPr id="891" name="Google Shape;891;p53"/>
          <p:cNvPicPr preferRelativeResize="0"/>
          <p:nvPr/>
        </p:nvPicPr>
        <p:blipFill>
          <a:blip r:embed="rId8">
            <a:alphaModFix/>
          </a:blip>
          <a:stretch>
            <a:fillRect/>
          </a:stretch>
        </p:blipFill>
        <p:spPr>
          <a:xfrm>
            <a:off x="7894544" y="1806625"/>
            <a:ext cx="3726571" cy="4898975"/>
          </a:xfrm>
          <a:prstGeom prst="rect">
            <a:avLst/>
          </a:prstGeom>
          <a:noFill/>
          <a:ln cap="flat" cmpd="sng" w="9525">
            <a:solidFill>
              <a:schemeClr val="dk2"/>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6" name="Shape 896"/>
        <p:cNvGrpSpPr/>
        <p:nvPr/>
      </p:nvGrpSpPr>
      <p:grpSpPr>
        <a:xfrm>
          <a:off x="0" y="0"/>
          <a:ext cx="0" cy="0"/>
          <a:chOff x="0" y="0"/>
          <a:chExt cx="0" cy="0"/>
        </a:xfrm>
      </p:grpSpPr>
      <p:sp>
        <p:nvSpPr>
          <p:cNvPr id="897" name="Google Shape;897;p54"/>
          <p:cNvSpPr/>
          <p:nvPr/>
        </p:nvSpPr>
        <p:spPr>
          <a:xfrm>
            <a:off x="379675" y="1224700"/>
            <a:ext cx="11433000" cy="500100"/>
          </a:xfrm>
          <a:prstGeom prst="rightArrow">
            <a:avLst>
              <a:gd fmla="val 50000" name="adj1"/>
              <a:gd fmla="val 50000" name="adj2"/>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898" name="Google Shape;898;p54"/>
          <p:cNvSpPr txBox="1"/>
          <p:nvPr>
            <p:ph type="title"/>
          </p:nvPr>
        </p:nvSpPr>
        <p:spPr>
          <a:xfrm>
            <a:off x="419825" y="209663"/>
            <a:ext cx="11003100" cy="3366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a:t>CAI-107828 - </a:t>
            </a:r>
            <a:r>
              <a:rPr b="0" i="1" lang="en-US" u="sng">
                <a:solidFill>
                  <a:srgbClr val="0000FF"/>
                </a:solidFill>
                <a:hlinkClick r:id="rId3">
                  <a:extLst>
                    <a:ext uri="{A12FA001-AC4F-418D-AE19-62706E023703}">
                      <ahyp:hlinkClr val="tx"/>
                    </a:ext>
                  </a:extLst>
                </a:hlinkClick>
              </a:rPr>
              <a:t>VSR</a:t>
            </a:r>
            <a:r>
              <a:rPr b="0" i="1" lang="en-US">
                <a:solidFill>
                  <a:srgbClr val="3D3D3D"/>
                </a:solidFill>
              </a:rPr>
              <a:t> correction + retention</a:t>
            </a:r>
            <a:endParaRPr/>
          </a:p>
        </p:txBody>
      </p:sp>
      <p:pic>
        <p:nvPicPr>
          <p:cNvPr id="899" name="Google Shape;899;p54"/>
          <p:cNvPicPr preferRelativeResize="0"/>
          <p:nvPr/>
        </p:nvPicPr>
        <p:blipFill>
          <a:blip r:embed="rId4">
            <a:alphaModFix/>
          </a:blip>
          <a:stretch>
            <a:fillRect/>
          </a:stretch>
        </p:blipFill>
        <p:spPr>
          <a:xfrm>
            <a:off x="966463" y="1285098"/>
            <a:ext cx="591825" cy="500075"/>
          </a:xfrm>
          <a:prstGeom prst="rect">
            <a:avLst/>
          </a:prstGeom>
          <a:noFill/>
          <a:ln>
            <a:noFill/>
          </a:ln>
        </p:spPr>
      </p:pic>
      <p:sp>
        <p:nvSpPr>
          <p:cNvPr id="900" name="Google Shape;900;p54"/>
          <p:cNvSpPr txBox="1"/>
          <p:nvPr/>
        </p:nvSpPr>
        <p:spPr>
          <a:xfrm>
            <a:off x="386375" y="1998300"/>
            <a:ext cx="1752000" cy="23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FD#65401</a:t>
            </a:r>
            <a:endParaRPr sz="1600">
              <a:solidFill>
                <a:schemeClr val="dk1"/>
              </a:solidFill>
              <a:latin typeface="Montserrat"/>
              <a:ea typeface="Montserrat"/>
              <a:cs typeface="Montserrat"/>
              <a:sym typeface="Montserrat"/>
            </a:endParaRPr>
          </a:p>
        </p:txBody>
      </p:sp>
      <p:pic>
        <p:nvPicPr>
          <p:cNvPr id="901" name="Google Shape;901;p54"/>
          <p:cNvPicPr preferRelativeResize="0"/>
          <p:nvPr/>
        </p:nvPicPr>
        <p:blipFill>
          <a:blip r:embed="rId5">
            <a:alphaModFix/>
          </a:blip>
          <a:stretch>
            <a:fillRect/>
          </a:stretch>
        </p:blipFill>
        <p:spPr>
          <a:xfrm>
            <a:off x="5269025" y="1245038"/>
            <a:ext cx="454376" cy="580200"/>
          </a:xfrm>
          <a:prstGeom prst="rect">
            <a:avLst/>
          </a:prstGeom>
          <a:noFill/>
          <a:ln>
            <a:noFill/>
          </a:ln>
        </p:spPr>
      </p:pic>
      <p:sp>
        <p:nvSpPr>
          <p:cNvPr id="902" name="Google Shape;902;p54"/>
          <p:cNvSpPr txBox="1"/>
          <p:nvPr/>
        </p:nvSpPr>
        <p:spPr>
          <a:xfrm>
            <a:off x="4376750" y="1936075"/>
            <a:ext cx="2406900" cy="50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DMS-108566 VSR</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600">
                <a:solidFill>
                  <a:schemeClr val="dk1"/>
                </a:solidFill>
                <a:latin typeface="Montserrat"/>
                <a:ea typeface="Montserrat"/>
                <a:cs typeface="Montserrat"/>
                <a:sym typeface="Montserrat"/>
              </a:rPr>
              <a:t>Dec 5th </a:t>
            </a:r>
            <a:endParaRPr sz="1600">
              <a:solidFill>
                <a:schemeClr val="dk1"/>
              </a:solidFill>
              <a:latin typeface="Montserrat"/>
              <a:ea typeface="Montserrat"/>
              <a:cs typeface="Montserrat"/>
              <a:sym typeface="Montserrat"/>
            </a:endParaRPr>
          </a:p>
        </p:txBody>
      </p:sp>
      <p:pic>
        <p:nvPicPr>
          <p:cNvPr id="903" name="Google Shape;903;p54"/>
          <p:cNvPicPr preferRelativeResize="0"/>
          <p:nvPr/>
        </p:nvPicPr>
        <p:blipFill>
          <a:blip r:embed="rId6">
            <a:alphaModFix/>
          </a:blip>
          <a:stretch>
            <a:fillRect/>
          </a:stretch>
        </p:blipFill>
        <p:spPr>
          <a:xfrm>
            <a:off x="7556355" y="1065972"/>
            <a:ext cx="1113973" cy="336600"/>
          </a:xfrm>
          <a:prstGeom prst="rect">
            <a:avLst/>
          </a:prstGeom>
          <a:noFill/>
          <a:ln>
            <a:noFill/>
          </a:ln>
        </p:spPr>
      </p:pic>
      <p:grpSp>
        <p:nvGrpSpPr>
          <p:cNvPr id="904" name="Google Shape;904;p54"/>
          <p:cNvGrpSpPr/>
          <p:nvPr/>
        </p:nvGrpSpPr>
        <p:grpSpPr>
          <a:xfrm>
            <a:off x="7827555" y="1402573"/>
            <a:ext cx="667604" cy="654407"/>
            <a:chOff x="1521825" y="3138900"/>
            <a:chExt cx="591900" cy="580200"/>
          </a:xfrm>
        </p:grpSpPr>
        <p:pic>
          <p:nvPicPr>
            <p:cNvPr id="905" name="Google Shape;905;p54"/>
            <p:cNvPicPr preferRelativeResize="0"/>
            <p:nvPr/>
          </p:nvPicPr>
          <p:blipFill>
            <a:blip r:embed="rId7">
              <a:alphaModFix/>
            </a:blip>
            <a:stretch>
              <a:fillRect/>
            </a:stretch>
          </p:blipFill>
          <p:spPr>
            <a:xfrm>
              <a:off x="1601075" y="3138900"/>
              <a:ext cx="433402" cy="580200"/>
            </a:xfrm>
            <a:prstGeom prst="rect">
              <a:avLst/>
            </a:prstGeom>
            <a:noFill/>
            <a:ln>
              <a:noFill/>
            </a:ln>
          </p:spPr>
        </p:pic>
        <p:sp>
          <p:nvSpPr>
            <p:cNvPr id="906" name="Google Shape;906;p54"/>
            <p:cNvSpPr txBox="1"/>
            <p:nvPr/>
          </p:nvSpPr>
          <p:spPr>
            <a:xfrm>
              <a:off x="1521825" y="3355500"/>
              <a:ext cx="591900" cy="147000"/>
            </a:xfrm>
            <a:prstGeom prst="rect">
              <a:avLst/>
            </a:prstGeom>
            <a:solidFill>
              <a:schemeClr val="lt1"/>
            </a:solidFill>
            <a:ln>
              <a:noFill/>
            </a:ln>
          </p:spPr>
          <p:txBody>
            <a:bodyPr anchorCtr="0" anchor="ctr" bIns="103100" lIns="103100" spcFirstLastPara="1" rIns="103100" wrap="square" tIns="103100">
              <a:noAutofit/>
            </a:bodyPr>
            <a:lstStyle/>
            <a:p>
              <a:pPr indent="0" lvl="0" marL="0" rtl="0" algn="ctr">
                <a:spcBef>
                  <a:spcPts val="0"/>
                </a:spcBef>
                <a:spcAft>
                  <a:spcPts val="0"/>
                </a:spcAft>
                <a:buNone/>
              </a:pPr>
              <a:r>
                <a:rPr lang="en-US" sz="902">
                  <a:solidFill>
                    <a:schemeClr val="dk1"/>
                  </a:solidFill>
                  <a:latin typeface="Montserrat"/>
                  <a:ea typeface="Montserrat"/>
                  <a:cs typeface="Montserrat"/>
                  <a:sym typeface="Montserrat"/>
                </a:rPr>
                <a:t>Kaplan</a:t>
              </a:r>
              <a:endParaRPr sz="902">
                <a:solidFill>
                  <a:schemeClr val="dk1"/>
                </a:solidFill>
                <a:latin typeface="Montserrat"/>
                <a:ea typeface="Montserrat"/>
                <a:cs typeface="Montserrat"/>
                <a:sym typeface="Montserrat"/>
              </a:endParaRPr>
            </a:p>
          </p:txBody>
        </p:sp>
      </p:grpSp>
      <p:pic>
        <p:nvPicPr>
          <p:cNvPr id="907" name="Google Shape;907;p54"/>
          <p:cNvPicPr preferRelativeResize="0"/>
          <p:nvPr/>
        </p:nvPicPr>
        <p:blipFill>
          <a:blip r:embed="rId8">
            <a:alphaModFix/>
          </a:blip>
          <a:stretch>
            <a:fillRect/>
          </a:stretch>
        </p:blipFill>
        <p:spPr>
          <a:xfrm>
            <a:off x="2986555" y="1285106"/>
            <a:ext cx="591825" cy="591772"/>
          </a:xfrm>
          <a:prstGeom prst="rect">
            <a:avLst/>
          </a:prstGeom>
          <a:noFill/>
          <a:ln cap="flat" cmpd="sng" w="5125">
            <a:solidFill>
              <a:srgbClr val="FF9900"/>
            </a:solidFill>
            <a:prstDash val="solid"/>
            <a:round/>
            <a:headEnd len="sm" w="sm" type="none"/>
            <a:tailEnd len="sm" w="sm" type="none"/>
          </a:ln>
        </p:spPr>
      </p:pic>
      <p:sp>
        <p:nvSpPr>
          <p:cNvPr id="908" name="Google Shape;908;p54"/>
          <p:cNvSpPr txBox="1"/>
          <p:nvPr/>
        </p:nvSpPr>
        <p:spPr>
          <a:xfrm>
            <a:off x="2406463" y="1998300"/>
            <a:ext cx="1752000" cy="23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reviewing</a:t>
            </a:r>
            <a:endParaRPr sz="1600">
              <a:solidFill>
                <a:schemeClr val="dk1"/>
              </a:solidFill>
              <a:latin typeface="Montserrat"/>
              <a:ea typeface="Montserrat"/>
              <a:cs typeface="Montserrat"/>
              <a:sym typeface="Montserrat"/>
            </a:endParaRPr>
          </a:p>
        </p:txBody>
      </p:sp>
      <p:sp>
        <p:nvSpPr>
          <p:cNvPr id="909" name="Google Shape;909;p54"/>
          <p:cNvSpPr txBox="1"/>
          <p:nvPr/>
        </p:nvSpPr>
        <p:spPr>
          <a:xfrm>
            <a:off x="4620213" y="704900"/>
            <a:ext cx="1752000" cy="580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n-US" sz="1300">
                <a:solidFill>
                  <a:schemeClr val="dk1"/>
                </a:solidFill>
                <a:latin typeface="Montserrat"/>
                <a:ea typeface="Montserrat"/>
                <a:cs typeface="Montserrat"/>
                <a:sym typeface="Montserrat"/>
              </a:rPr>
              <a:t>All (14) validation records linked</a:t>
            </a:r>
            <a:endParaRPr i="1" sz="1300">
              <a:solidFill>
                <a:schemeClr val="dk1"/>
              </a:solidFill>
              <a:latin typeface="Montserrat"/>
              <a:ea typeface="Montserrat"/>
              <a:cs typeface="Montserrat"/>
              <a:sym typeface="Montserrat"/>
            </a:endParaRPr>
          </a:p>
        </p:txBody>
      </p:sp>
      <p:grpSp>
        <p:nvGrpSpPr>
          <p:cNvPr id="910" name="Google Shape;910;p54"/>
          <p:cNvGrpSpPr/>
          <p:nvPr/>
        </p:nvGrpSpPr>
        <p:grpSpPr>
          <a:xfrm>
            <a:off x="450269" y="4587542"/>
            <a:ext cx="510097" cy="510778"/>
            <a:chOff x="5782500" y="3114675"/>
            <a:chExt cx="1236600" cy="1238250"/>
          </a:xfrm>
        </p:grpSpPr>
        <p:pic>
          <p:nvPicPr>
            <p:cNvPr id="911" name="Google Shape;911;p54"/>
            <p:cNvPicPr preferRelativeResize="0"/>
            <p:nvPr/>
          </p:nvPicPr>
          <p:blipFill>
            <a:blip r:embed="rId9">
              <a:alphaModFix/>
            </a:blip>
            <a:stretch>
              <a:fillRect/>
            </a:stretch>
          </p:blipFill>
          <p:spPr>
            <a:xfrm>
              <a:off x="5786438" y="3114675"/>
              <a:ext cx="1228725" cy="1238250"/>
            </a:xfrm>
            <a:prstGeom prst="rect">
              <a:avLst/>
            </a:prstGeom>
            <a:noFill/>
            <a:ln>
              <a:noFill/>
            </a:ln>
          </p:spPr>
        </p:pic>
        <p:sp>
          <p:nvSpPr>
            <p:cNvPr id="912" name="Google Shape;912;p54"/>
            <p:cNvSpPr txBox="1"/>
            <p:nvPr/>
          </p:nvSpPr>
          <p:spPr>
            <a:xfrm>
              <a:off x="5782500" y="3625650"/>
              <a:ext cx="1236600" cy="216300"/>
            </a:xfrm>
            <a:prstGeom prst="rect">
              <a:avLst/>
            </a:prstGeom>
            <a:noFill/>
            <a:ln>
              <a:noFill/>
            </a:ln>
          </p:spPr>
          <p:txBody>
            <a:bodyPr anchorCtr="0" anchor="ctr" bIns="37725" lIns="37725" spcFirstLastPara="1" rIns="37725" wrap="square" tIns="37725">
              <a:noAutofit/>
            </a:bodyPr>
            <a:lstStyle/>
            <a:p>
              <a:pPr indent="0" lvl="0" marL="0" rtl="0" algn="ctr">
                <a:spcBef>
                  <a:spcPts val="0"/>
                </a:spcBef>
                <a:spcAft>
                  <a:spcPts val="0"/>
                </a:spcAft>
                <a:buNone/>
              </a:pPr>
              <a:r>
                <a:rPr lang="en-US" sz="577">
                  <a:solidFill>
                    <a:schemeClr val="dk1"/>
                  </a:solidFill>
                  <a:latin typeface="Montserrat"/>
                  <a:ea typeface="Montserrat"/>
                  <a:cs typeface="Montserrat"/>
                  <a:sym typeface="Montserrat"/>
                </a:rPr>
                <a:t>Orcanos</a:t>
              </a:r>
              <a:endParaRPr sz="577">
                <a:solidFill>
                  <a:schemeClr val="dk1"/>
                </a:solidFill>
                <a:latin typeface="Montserrat"/>
                <a:ea typeface="Montserrat"/>
                <a:cs typeface="Montserrat"/>
                <a:sym typeface="Montserrat"/>
              </a:endParaRPr>
            </a:p>
          </p:txBody>
        </p:sp>
      </p:grpSp>
      <p:pic>
        <p:nvPicPr>
          <p:cNvPr id="913" name="Google Shape;913;p54"/>
          <p:cNvPicPr preferRelativeResize="0"/>
          <p:nvPr/>
        </p:nvPicPr>
        <p:blipFill>
          <a:blip r:embed="rId10">
            <a:alphaModFix/>
          </a:blip>
          <a:stretch>
            <a:fillRect/>
          </a:stretch>
        </p:blipFill>
        <p:spPr>
          <a:xfrm>
            <a:off x="8759825" y="1399230"/>
            <a:ext cx="278225" cy="271803"/>
          </a:xfrm>
          <a:prstGeom prst="rect">
            <a:avLst/>
          </a:prstGeom>
          <a:noFill/>
          <a:ln>
            <a:noFill/>
          </a:ln>
        </p:spPr>
      </p:pic>
      <p:pic>
        <p:nvPicPr>
          <p:cNvPr id="914" name="Google Shape;914;p54"/>
          <p:cNvPicPr preferRelativeResize="0"/>
          <p:nvPr/>
        </p:nvPicPr>
        <p:blipFill>
          <a:blip r:embed="rId10">
            <a:alphaModFix/>
          </a:blip>
          <a:stretch>
            <a:fillRect/>
          </a:stretch>
        </p:blipFill>
        <p:spPr>
          <a:xfrm rot="-10799996">
            <a:off x="135337" y="4707043"/>
            <a:ext cx="278225" cy="271803"/>
          </a:xfrm>
          <a:prstGeom prst="rect">
            <a:avLst/>
          </a:prstGeom>
          <a:noFill/>
          <a:ln>
            <a:noFill/>
          </a:ln>
        </p:spPr>
      </p:pic>
      <p:sp>
        <p:nvSpPr>
          <p:cNvPr id="915" name="Google Shape;915;p54"/>
          <p:cNvSpPr txBox="1"/>
          <p:nvPr/>
        </p:nvSpPr>
        <p:spPr>
          <a:xfrm>
            <a:off x="7353888" y="2063588"/>
            <a:ext cx="1752000" cy="23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approved</a:t>
            </a:r>
            <a:endParaRPr sz="1600">
              <a:solidFill>
                <a:schemeClr val="dk1"/>
              </a:solidFill>
              <a:latin typeface="Montserrat"/>
              <a:ea typeface="Montserrat"/>
              <a:cs typeface="Montserrat"/>
              <a:sym typeface="Montserrat"/>
            </a:endParaRPr>
          </a:p>
        </p:txBody>
      </p:sp>
      <p:sp>
        <p:nvSpPr>
          <p:cNvPr id="916" name="Google Shape;916;p54"/>
          <p:cNvSpPr txBox="1"/>
          <p:nvPr/>
        </p:nvSpPr>
        <p:spPr>
          <a:xfrm>
            <a:off x="8414524" y="1637363"/>
            <a:ext cx="1056900" cy="23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Download</a:t>
            </a:r>
            <a:endParaRPr sz="1100">
              <a:solidFill>
                <a:schemeClr val="dk1"/>
              </a:solidFill>
              <a:latin typeface="Montserrat"/>
              <a:ea typeface="Montserrat"/>
              <a:cs typeface="Montserrat"/>
              <a:sym typeface="Montserrat"/>
            </a:endParaRPr>
          </a:p>
        </p:txBody>
      </p:sp>
      <p:sp>
        <p:nvSpPr>
          <p:cNvPr id="917" name="Google Shape;917;p54"/>
          <p:cNvSpPr txBox="1"/>
          <p:nvPr/>
        </p:nvSpPr>
        <p:spPr>
          <a:xfrm>
            <a:off x="135324" y="4284388"/>
            <a:ext cx="1056900" cy="238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Upload</a:t>
            </a:r>
            <a:endParaRPr sz="1100">
              <a:solidFill>
                <a:schemeClr val="dk1"/>
              </a:solidFill>
              <a:latin typeface="Montserrat"/>
              <a:ea typeface="Montserrat"/>
              <a:cs typeface="Montserrat"/>
              <a:sym typeface="Montserrat"/>
            </a:endParaRPr>
          </a:p>
        </p:txBody>
      </p:sp>
      <p:sp>
        <p:nvSpPr>
          <p:cNvPr id="918" name="Google Shape;918;p54"/>
          <p:cNvSpPr/>
          <p:nvPr/>
        </p:nvSpPr>
        <p:spPr>
          <a:xfrm>
            <a:off x="512250" y="2641175"/>
            <a:ext cx="11043600" cy="12600"/>
          </a:xfrm>
          <a:prstGeom prst="rect">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19" name="Google Shape;919;p54"/>
          <p:cNvSpPr txBox="1"/>
          <p:nvPr>
            <p:ph idx="4294967295" type="body"/>
          </p:nvPr>
        </p:nvSpPr>
        <p:spPr>
          <a:xfrm>
            <a:off x="344125" y="2690275"/>
            <a:ext cx="5159100" cy="238200"/>
          </a:xfrm>
          <a:prstGeom prst="rect">
            <a:avLst/>
          </a:prstGeom>
          <a:solidFill>
            <a:srgbClr val="F2F2F2"/>
          </a:solidFill>
        </p:spPr>
        <p:txBody>
          <a:bodyPr anchorCtr="0" anchor="t" bIns="0" lIns="0" spcFirstLastPara="1" rIns="0" wrap="square" tIns="0">
            <a:normAutofit/>
          </a:bodyPr>
          <a:lstStyle/>
          <a:p>
            <a:pPr indent="0" lvl="0" marL="0" rtl="0" algn="l">
              <a:spcBef>
                <a:spcPts val="0"/>
              </a:spcBef>
              <a:spcAft>
                <a:spcPts val="600"/>
              </a:spcAft>
              <a:buNone/>
            </a:pPr>
            <a:r>
              <a:rPr lang="en-US" sz="1300">
                <a:solidFill>
                  <a:schemeClr val="dk1"/>
                </a:solidFill>
              </a:rPr>
              <a:t>Document retention - </a:t>
            </a:r>
            <a:r>
              <a:rPr lang="en-US" sz="1300" u="sng">
                <a:solidFill>
                  <a:srgbClr val="0000FF"/>
                </a:solidFill>
                <a:hlinkClick r:id="rId11">
                  <a:extLst>
                    <a:ext uri="{A12FA001-AC4F-418D-AE19-62706E023703}">
                      <ahyp:hlinkClr val="tx"/>
                    </a:ext>
                  </a:extLst>
                </a:hlinkClick>
              </a:rPr>
              <a:t>DMS-8069</a:t>
            </a:r>
            <a:r>
              <a:rPr lang="en-US" sz="1300">
                <a:solidFill>
                  <a:srgbClr val="0000FF"/>
                </a:solidFill>
              </a:rPr>
              <a:t> - </a:t>
            </a:r>
            <a:r>
              <a:rPr lang="en-US" sz="1300">
                <a:solidFill>
                  <a:srgbClr val="980000"/>
                </a:solidFill>
              </a:rPr>
              <a:t>missing process step?</a:t>
            </a:r>
            <a:endParaRPr sz="1300">
              <a:solidFill>
                <a:srgbClr val="980000"/>
              </a:solidFill>
            </a:endParaRPr>
          </a:p>
        </p:txBody>
      </p:sp>
      <p:sp>
        <p:nvSpPr>
          <p:cNvPr id="920" name="Google Shape;920;p54"/>
          <p:cNvSpPr txBox="1"/>
          <p:nvPr>
            <p:ph idx="4294967295" type="body"/>
          </p:nvPr>
        </p:nvSpPr>
        <p:spPr>
          <a:xfrm>
            <a:off x="379663" y="766375"/>
            <a:ext cx="3438000" cy="238200"/>
          </a:xfrm>
          <a:prstGeom prst="rect">
            <a:avLst/>
          </a:prstGeom>
          <a:solidFill>
            <a:srgbClr val="F2F2F2"/>
          </a:solidFill>
        </p:spPr>
        <p:txBody>
          <a:bodyPr anchorCtr="0" anchor="t" bIns="0" lIns="0" spcFirstLastPara="1" rIns="0" wrap="square" tIns="0">
            <a:normAutofit/>
          </a:bodyPr>
          <a:lstStyle/>
          <a:p>
            <a:pPr indent="0" lvl="0" marL="0" rtl="0" algn="l">
              <a:spcBef>
                <a:spcPts val="0"/>
              </a:spcBef>
              <a:spcAft>
                <a:spcPts val="600"/>
              </a:spcAft>
              <a:buNone/>
            </a:pPr>
            <a:r>
              <a:rPr lang="en-US" sz="1200">
                <a:solidFill>
                  <a:schemeClr val="dk1"/>
                </a:solidFill>
              </a:rPr>
              <a:t>Document control - </a:t>
            </a:r>
            <a:r>
              <a:rPr lang="en-US" sz="1200" u="sng">
                <a:solidFill>
                  <a:srgbClr val="0000FF"/>
                </a:solidFill>
                <a:hlinkClick r:id="rId12">
                  <a:extLst>
                    <a:ext uri="{A12FA001-AC4F-418D-AE19-62706E023703}">
                      <ahyp:hlinkClr val="tx"/>
                    </a:ext>
                  </a:extLst>
                </a:hlinkClick>
              </a:rPr>
              <a:t>DMS-8338</a:t>
            </a:r>
            <a:endParaRPr sz="1200">
              <a:solidFill>
                <a:srgbClr val="0000FF"/>
              </a:solidFill>
            </a:endParaRPr>
          </a:p>
        </p:txBody>
      </p:sp>
      <p:pic>
        <p:nvPicPr>
          <p:cNvPr id="921" name="Google Shape;921;p54"/>
          <p:cNvPicPr preferRelativeResize="0"/>
          <p:nvPr/>
        </p:nvPicPr>
        <p:blipFill>
          <a:blip r:embed="rId13">
            <a:alphaModFix/>
          </a:blip>
          <a:stretch>
            <a:fillRect/>
          </a:stretch>
        </p:blipFill>
        <p:spPr>
          <a:xfrm>
            <a:off x="10214675" y="1219675"/>
            <a:ext cx="510150" cy="510150"/>
          </a:xfrm>
          <a:prstGeom prst="rect">
            <a:avLst/>
          </a:prstGeom>
          <a:noFill/>
          <a:ln>
            <a:noFill/>
          </a:ln>
        </p:spPr>
      </p:pic>
      <p:sp>
        <p:nvSpPr>
          <p:cNvPr id="922" name="Google Shape;922;p54"/>
          <p:cNvSpPr txBox="1"/>
          <p:nvPr/>
        </p:nvSpPr>
        <p:spPr>
          <a:xfrm>
            <a:off x="9941300" y="1905200"/>
            <a:ext cx="1546500" cy="40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Upload to appV folder</a:t>
            </a:r>
            <a:endParaRPr sz="1100">
              <a:solidFill>
                <a:schemeClr val="dk1"/>
              </a:solidFill>
              <a:latin typeface="Montserrat"/>
              <a:ea typeface="Montserrat"/>
              <a:cs typeface="Montserrat"/>
              <a:sym typeface="Montserrat"/>
            </a:endParaRPr>
          </a:p>
        </p:txBody>
      </p:sp>
      <p:sp>
        <p:nvSpPr>
          <p:cNvPr id="923" name="Google Shape;923;p54"/>
          <p:cNvSpPr/>
          <p:nvPr/>
        </p:nvSpPr>
        <p:spPr>
          <a:xfrm rot="193736">
            <a:off x="10200423" y="256807"/>
            <a:ext cx="1262304" cy="920664"/>
          </a:xfrm>
          <a:prstGeom prst="wedgeEllipseCallout">
            <a:avLst>
              <a:gd fmla="val -20833" name="adj1"/>
              <a:gd fmla="val 62500" name="adj2"/>
            </a:avLst>
          </a:prstGeom>
          <a:solidFill>
            <a:srgbClr val="F4CC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24" name="Google Shape;924;p54"/>
          <p:cNvSpPr txBox="1"/>
          <p:nvPr/>
        </p:nvSpPr>
        <p:spPr>
          <a:xfrm>
            <a:off x="10244175" y="390000"/>
            <a:ext cx="1174800" cy="65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This needs to be also on Orcanos</a:t>
            </a:r>
            <a:endParaRPr sz="1000">
              <a:solidFill>
                <a:schemeClr val="dk1"/>
              </a:solidFill>
              <a:latin typeface="Montserrat"/>
              <a:ea typeface="Montserrat"/>
              <a:cs typeface="Montserrat"/>
              <a:sym typeface="Montserrat"/>
            </a:endParaRPr>
          </a:p>
        </p:txBody>
      </p:sp>
      <p:pic>
        <p:nvPicPr>
          <p:cNvPr id="925" name="Google Shape;925;p54"/>
          <p:cNvPicPr preferRelativeResize="0"/>
          <p:nvPr/>
        </p:nvPicPr>
        <p:blipFill>
          <a:blip r:embed="rId14">
            <a:alphaModFix/>
          </a:blip>
          <a:stretch>
            <a:fillRect/>
          </a:stretch>
        </p:blipFill>
        <p:spPr>
          <a:xfrm>
            <a:off x="1300275" y="3193986"/>
            <a:ext cx="5463285" cy="2994764"/>
          </a:xfrm>
          <a:prstGeom prst="rect">
            <a:avLst/>
          </a:prstGeom>
          <a:noFill/>
          <a:ln cap="flat" cmpd="sng" w="11750">
            <a:solidFill>
              <a:srgbClr val="9E9E9E"/>
            </a:solidFill>
            <a:prstDash val="solid"/>
            <a:round/>
            <a:headEnd len="sm" w="sm" type="none"/>
            <a:tailEnd len="sm" w="sm" type="none"/>
          </a:ln>
        </p:spPr>
      </p:pic>
      <p:pic>
        <p:nvPicPr>
          <p:cNvPr id="926" name="Google Shape;926;p54"/>
          <p:cNvPicPr preferRelativeResize="0"/>
          <p:nvPr/>
        </p:nvPicPr>
        <p:blipFill>
          <a:blip r:embed="rId15">
            <a:alphaModFix/>
          </a:blip>
          <a:stretch>
            <a:fillRect/>
          </a:stretch>
        </p:blipFill>
        <p:spPr>
          <a:xfrm>
            <a:off x="6070029" y="3015195"/>
            <a:ext cx="2091321" cy="904673"/>
          </a:xfrm>
          <a:prstGeom prst="rect">
            <a:avLst/>
          </a:prstGeom>
          <a:noFill/>
          <a:ln>
            <a:noFill/>
          </a:ln>
        </p:spPr>
      </p:pic>
      <p:cxnSp>
        <p:nvCxnSpPr>
          <p:cNvPr id="927" name="Google Shape;927;p54"/>
          <p:cNvCxnSpPr/>
          <p:nvPr/>
        </p:nvCxnSpPr>
        <p:spPr>
          <a:xfrm flipH="1" rot="10800000">
            <a:off x="4530201" y="3264243"/>
            <a:ext cx="1789800" cy="152700"/>
          </a:xfrm>
          <a:prstGeom prst="straightConnector1">
            <a:avLst/>
          </a:prstGeom>
          <a:noFill/>
          <a:ln cap="flat" cmpd="sng" w="35250">
            <a:solidFill>
              <a:srgbClr val="6AA84F"/>
            </a:solidFill>
            <a:prstDash val="solid"/>
            <a:round/>
            <a:headEnd len="med" w="med" type="none"/>
            <a:tailEnd len="med" w="med" type="none"/>
          </a:ln>
        </p:spPr>
      </p:cxnSp>
      <p:cxnSp>
        <p:nvCxnSpPr>
          <p:cNvPr id="928" name="Google Shape;928;p54"/>
          <p:cNvCxnSpPr/>
          <p:nvPr/>
        </p:nvCxnSpPr>
        <p:spPr>
          <a:xfrm>
            <a:off x="4508369" y="3591605"/>
            <a:ext cx="1866600" cy="163500"/>
          </a:xfrm>
          <a:prstGeom prst="straightConnector1">
            <a:avLst/>
          </a:prstGeom>
          <a:noFill/>
          <a:ln cap="flat" cmpd="sng" w="35250">
            <a:solidFill>
              <a:srgbClr val="6AA84F"/>
            </a:solidFill>
            <a:prstDash val="solid"/>
            <a:round/>
            <a:headEnd len="med" w="med" type="none"/>
            <a:tailEnd len="med" w="med" type="none"/>
          </a:ln>
        </p:spPr>
      </p:cxnSp>
      <p:cxnSp>
        <p:nvCxnSpPr>
          <p:cNvPr id="929" name="Google Shape;929;p54"/>
          <p:cNvCxnSpPr>
            <a:stCxn id="909" idx="3"/>
            <a:endCxn id="926" idx="0"/>
          </p:cNvCxnSpPr>
          <p:nvPr/>
        </p:nvCxnSpPr>
        <p:spPr>
          <a:xfrm>
            <a:off x="6372213" y="995000"/>
            <a:ext cx="743400" cy="2020200"/>
          </a:xfrm>
          <a:prstGeom prst="bentConnector2">
            <a:avLst/>
          </a:prstGeom>
          <a:noFill/>
          <a:ln cap="flat" cmpd="sng" w="28575">
            <a:solidFill>
              <a:srgbClr val="6AA84F"/>
            </a:solidFill>
            <a:prstDash val="solid"/>
            <a:round/>
            <a:headEnd len="med" w="med" type="none"/>
            <a:tailEnd len="med" w="med" type="triangle"/>
          </a:ln>
        </p:spPr>
      </p:cxnSp>
      <p:sp>
        <p:nvSpPr>
          <p:cNvPr id="930" name="Google Shape;930;p54"/>
          <p:cNvSpPr txBox="1"/>
          <p:nvPr/>
        </p:nvSpPr>
        <p:spPr>
          <a:xfrm>
            <a:off x="7641800" y="5357700"/>
            <a:ext cx="1932000" cy="40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u="sng">
                <a:solidFill>
                  <a:srgbClr val="1155CC"/>
                </a:solidFill>
                <a:latin typeface="Montserrat"/>
                <a:ea typeface="Montserrat"/>
                <a:cs typeface="Montserrat"/>
                <a:sym typeface="Montserrat"/>
                <a:hlinkClick r:id="rId16">
                  <a:extLst>
                    <a:ext uri="{A12FA001-AC4F-418D-AE19-62706E023703}">
                      <ahyp:hlinkClr val="tx"/>
                    </a:ext>
                  </a:extLst>
                </a:hlinkClick>
              </a:rPr>
              <a:t>DMS-108566 VSR</a:t>
            </a:r>
            <a:endParaRPr sz="1600" u="sng">
              <a:solidFill>
                <a:srgbClr val="1155CC"/>
              </a:solidFill>
              <a:latin typeface="Montserrat"/>
              <a:ea typeface="Montserrat"/>
              <a:cs typeface="Montserrat"/>
              <a:sym typeface="Montserrat"/>
            </a:endParaRPr>
          </a:p>
        </p:txBody>
      </p:sp>
      <p:sp>
        <p:nvSpPr>
          <p:cNvPr id="931" name="Google Shape;931;p54"/>
          <p:cNvSpPr/>
          <p:nvPr/>
        </p:nvSpPr>
        <p:spPr>
          <a:xfrm>
            <a:off x="3208400" y="5486400"/>
            <a:ext cx="4433400" cy="238200"/>
          </a:xfrm>
          <a:prstGeom prst="rightArrow">
            <a:avLst>
              <a:gd fmla="val 50000" name="adj1"/>
              <a:gd fmla="val 50000" name="adj2"/>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pic>
        <p:nvPicPr>
          <p:cNvPr id="932" name="Google Shape;932;p54"/>
          <p:cNvPicPr preferRelativeResize="0"/>
          <p:nvPr/>
        </p:nvPicPr>
        <p:blipFill>
          <a:blip r:embed="rId17">
            <a:alphaModFix/>
          </a:blip>
          <a:stretch>
            <a:fillRect/>
          </a:stretch>
        </p:blipFill>
        <p:spPr>
          <a:xfrm>
            <a:off x="10455306" y="3688398"/>
            <a:ext cx="318435" cy="288889"/>
          </a:xfrm>
          <a:prstGeom prst="rect">
            <a:avLst/>
          </a:prstGeom>
          <a:noFill/>
          <a:ln cap="flat" cmpd="sng" w="5125">
            <a:solidFill>
              <a:srgbClr val="FF9900"/>
            </a:solidFill>
            <a:prstDash val="solid"/>
            <a:round/>
            <a:headEnd len="sm" w="sm" type="none"/>
            <a:tailEnd len="sm" w="sm" type="none"/>
          </a:ln>
        </p:spPr>
      </p:pic>
      <p:pic>
        <p:nvPicPr>
          <p:cNvPr id="933" name="Google Shape;933;p54"/>
          <p:cNvPicPr preferRelativeResize="0"/>
          <p:nvPr/>
        </p:nvPicPr>
        <p:blipFill>
          <a:blip r:embed="rId18">
            <a:alphaModFix/>
          </a:blip>
          <a:stretch>
            <a:fillRect/>
          </a:stretch>
        </p:blipFill>
        <p:spPr>
          <a:xfrm>
            <a:off x="10110250" y="3689503"/>
            <a:ext cx="278242" cy="286669"/>
          </a:xfrm>
          <a:prstGeom prst="rect">
            <a:avLst/>
          </a:prstGeom>
          <a:noFill/>
          <a:ln cap="flat" cmpd="sng" w="5125">
            <a:solidFill>
              <a:srgbClr val="FF9900"/>
            </a:solidFill>
            <a:prstDash val="solid"/>
            <a:round/>
            <a:headEnd len="sm" w="sm" type="none"/>
            <a:tailEnd len="sm" w="sm" type="none"/>
          </a:ln>
        </p:spPr>
      </p:pic>
      <p:pic>
        <p:nvPicPr>
          <p:cNvPr id="934" name="Google Shape;934;p54"/>
          <p:cNvPicPr preferRelativeResize="0"/>
          <p:nvPr/>
        </p:nvPicPr>
        <p:blipFill>
          <a:blip r:embed="rId8">
            <a:alphaModFix/>
          </a:blip>
          <a:stretch>
            <a:fillRect/>
          </a:stretch>
        </p:blipFill>
        <p:spPr>
          <a:xfrm>
            <a:off x="10864976" y="3688387"/>
            <a:ext cx="278250" cy="278250"/>
          </a:xfrm>
          <a:prstGeom prst="rect">
            <a:avLst/>
          </a:prstGeom>
          <a:noFill/>
          <a:ln cap="flat" cmpd="sng" w="4275">
            <a:solidFill>
              <a:srgbClr val="FF9900"/>
            </a:solidFill>
            <a:prstDash val="solid"/>
            <a:round/>
            <a:headEnd len="sm" w="sm" type="none"/>
            <a:tailEnd len="sm" w="sm" type="none"/>
          </a:ln>
        </p:spPr>
      </p:pic>
      <p:pic>
        <p:nvPicPr>
          <p:cNvPr id="935" name="Google Shape;935;p54"/>
          <p:cNvPicPr preferRelativeResize="0"/>
          <p:nvPr/>
        </p:nvPicPr>
        <p:blipFill>
          <a:blip r:embed="rId19">
            <a:alphaModFix/>
          </a:blip>
          <a:stretch>
            <a:fillRect/>
          </a:stretch>
        </p:blipFill>
        <p:spPr>
          <a:xfrm>
            <a:off x="11234448" y="3691649"/>
            <a:ext cx="318450" cy="282399"/>
          </a:xfrm>
          <a:prstGeom prst="rect">
            <a:avLst/>
          </a:prstGeom>
          <a:noFill/>
          <a:ln cap="flat" cmpd="sng" w="5125">
            <a:solidFill>
              <a:srgbClr val="FF9900"/>
            </a:solidFill>
            <a:prstDash val="solid"/>
            <a:round/>
            <a:headEnd len="sm" w="sm" type="none"/>
            <a:tailEnd len="sm" w="sm" type="none"/>
          </a:ln>
        </p:spPr>
      </p:pic>
      <p:grpSp>
        <p:nvGrpSpPr>
          <p:cNvPr id="936" name="Google Shape;936;p54"/>
          <p:cNvGrpSpPr/>
          <p:nvPr/>
        </p:nvGrpSpPr>
        <p:grpSpPr>
          <a:xfrm>
            <a:off x="10620544" y="4112267"/>
            <a:ext cx="510097" cy="510778"/>
            <a:chOff x="5782500" y="3114675"/>
            <a:chExt cx="1236600" cy="1238250"/>
          </a:xfrm>
        </p:grpSpPr>
        <p:pic>
          <p:nvPicPr>
            <p:cNvPr id="937" name="Google Shape;937;p54"/>
            <p:cNvPicPr preferRelativeResize="0"/>
            <p:nvPr/>
          </p:nvPicPr>
          <p:blipFill>
            <a:blip r:embed="rId9">
              <a:alphaModFix/>
            </a:blip>
            <a:stretch>
              <a:fillRect/>
            </a:stretch>
          </p:blipFill>
          <p:spPr>
            <a:xfrm>
              <a:off x="5786438" y="3114675"/>
              <a:ext cx="1228725" cy="1238250"/>
            </a:xfrm>
            <a:prstGeom prst="rect">
              <a:avLst/>
            </a:prstGeom>
            <a:noFill/>
            <a:ln>
              <a:noFill/>
            </a:ln>
          </p:spPr>
        </p:pic>
        <p:sp>
          <p:nvSpPr>
            <p:cNvPr id="938" name="Google Shape;938;p54"/>
            <p:cNvSpPr txBox="1"/>
            <p:nvPr/>
          </p:nvSpPr>
          <p:spPr>
            <a:xfrm>
              <a:off x="5782500" y="3625650"/>
              <a:ext cx="1236600" cy="216300"/>
            </a:xfrm>
            <a:prstGeom prst="rect">
              <a:avLst/>
            </a:prstGeom>
            <a:noFill/>
            <a:ln>
              <a:noFill/>
            </a:ln>
          </p:spPr>
          <p:txBody>
            <a:bodyPr anchorCtr="0" anchor="ctr" bIns="37725" lIns="37725" spcFirstLastPara="1" rIns="37725" wrap="square" tIns="37725">
              <a:noAutofit/>
            </a:bodyPr>
            <a:lstStyle/>
            <a:p>
              <a:pPr indent="0" lvl="0" marL="0" rtl="0" algn="ctr">
                <a:spcBef>
                  <a:spcPts val="0"/>
                </a:spcBef>
                <a:spcAft>
                  <a:spcPts val="0"/>
                </a:spcAft>
                <a:buNone/>
              </a:pPr>
              <a:r>
                <a:rPr lang="en-US" sz="577">
                  <a:solidFill>
                    <a:schemeClr val="dk1"/>
                  </a:solidFill>
                  <a:latin typeface="Montserrat"/>
                  <a:ea typeface="Montserrat"/>
                  <a:cs typeface="Montserrat"/>
                  <a:sym typeface="Montserrat"/>
                </a:rPr>
                <a:t>Orcanos</a:t>
              </a:r>
              <a:endParaRPr sz="577">
                <a:solidFill>
                  <a:schemeClr val="dk1"/>
                </a:solidFill>
                <a:latin typeface="Montserrat"/>
                <a:ea typeface="Montserrat"/>
                <a:cs typeface="Montserrat"/>
                <a:sym typeface="Montserrat"/>
              </a:endParaRPr>
            </a:p>
          </p:txBody>
        </p:sp>
      </p:grpSp>
      <p:sp>
        <p:nvSpPr>
          <p:cNvPr id="939" name="Google Shape;939;p54"/>
          <p:cNvSpPr txBox="1"/>
          <p:nvPr/>
        </p:nvSpPr>
        <p:spPr>
          <a:xfrm>
            <a:off x="10392125" y="4712120"/>
            <a:ext cx="1056900" cy="407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Route for approval</a:t>
            </a:r>
            <a:endParaRPr sz="1100">
              <a:solidFill>
                <a:schemeClr val="dk1"/>
              </a:solidFill>
              <a:latin typeface="Montserrat"/>
              <a:ea typeface="Montserrat"/>
              <a:cs typeface="Montserrat"/>
              <a:sym typeface="Montserrat"/>
            </a:endParaRPr>
          </a:p>
        </p:txBody>
      </p:sp>
      <p:pic>
        <p:nvPicPr>
          <p:cNvPr id="940" name="Google Shape;940;p54"/>
          <p:cNvPicPr preferRelativeResize="0"/>
          <p:nvPr/>
        </p:nvPicPr>
        <p:blipFill>
          <a:blip r:embed="rId20">
            <a:alphaModFix/>
          </a:blip>
          <a:stretch>
            <a:fillRect/>
          </a:stretch>
        </p:blipFill>
        <p:spPr>
          <a:xfrm>
            <a:off x="8818200" y="1887638"/>
            <a:ext cx="454375" cy="590688"/>
          </a:xfrm>
          <a:prstGeom prst="rect">
            <a:avLst/>
          </a:prstGeom>
          <a:noFill/>
          <a:ln>
            <a:noFill/>
          </a:ln>
        </p:spPr>
      </p:pic>
      <p:cxnSp>
        <p:nvCxnSpPr>
          <p:cNvPr id="941" name="Google Shape;941;p54"/>
          <p:cNvCxnSpPr>
            <a:stCxn id="940" idx="2"/>
            <a:endCxn id="926" idx="3"/>
          </p:cNvCxnSpPr>
          <p:nvPr/>
        </p:nvCxnSpPr>
        <p:spPr>
          <a:xfrm rot="5400000">
            <a:off x="8108788" y="2530825"/>
            <a:ext cx="989100" cy="884100"/>
          </a:xfrm>
          <a:prstGeom prst="bentConnector2">
            <a:avLst/>
          </a:prstGeom>
          <a:noFill/>
          <a:ln cap="flat" cmpd="sng" w="9525">
            <a:solidFill>
              <a:schemeClr val="dk2"/>
            </a:solidFill>
            <a:prstDash val="dash"/>
            <a:round/>
            <a:headEnd len="med" w="med" type="none"/>
            <a:tailEnd len="med" w="med" type="triangle"/>
          </a:ln>
        </p:spPr>
      </p:cxnSp>
      <p:cxnSp>
        <p:nvCxnSpPr>
          <p:cNvPr id="942" name="Google Shape;942;p54"/>
          <p:cNvCxnSpPr>
            <a:endCxn id="939" idx="2"/>
          </p:cNvCxnSpPr>
          <p:nvPr/>
        </p:nvCxnSpPr>
        <p:spPr>
          <a:xfrm flipH="1" rot="10800000">
            <a:off x="9573875" y="5119220"/>
            <a:ext cx="1346700" cy="4419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7" name="Shape 947"/>
        <p:cNvGrpSpPr/>
        <p:nvPr/>
      </p:nvGrpSpPr>
      <p:grpSpPr>
        <a:xfrm>
          <a:off x="0" y="0"/>
          <a:ext cx="0" cy="0"/>
          <a:chOff x="0" y="0"/>
          <a:chExt cx="0" cy="0"/>
        </a:xfrm>
      </p:grpSpPr>
      <p:sp>
        <p:nvSpPr>
          <p:cNvPr id="948" name="Google Shape;948;p55"/>
          <p:cNvSpPr/>
          <p:nvPr/>
        </p:nvSpPr>
        <p:spPr>
          <a:xfrm>
            <a:off x="6603100" y="2984625"/>
            <a:ext cx="4009500" cy="3141600"/>
          </a:xfrm>
          <a:prstGeom prst="roundRect">
            <a:avLst>
              <a:gd fmla="val 16667" name="adj"/>
            </a:avLst>
          </a:prstGeom>
          <a:solidFill>
            <a:srgbClr val="CFE2F3"/>
          </a:solid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49" name="Google Shape;949;p55"/>
          <p:cNvSpPr/>
          <p:nvPr/>
        </p:nvSpPr>
        <p:spPr>
          <a:xfrm>
            <a:off x="6603100" y="4735750"/>
            <a:ext cx="4047300" cy="1390500"/>
          </a:xfrm>
          <a:prstGeom prst="roundRect">
            <a:avLst>
              <a:gd fmla="val 16667" name="adj"/>
            </a:avLst>
          </a:prstGeom>
          <a:solidFill>
            <a:srgbClr val="CFE2F3"/>
          </a:solidFill>
          <a:ln cap="flat" cmpd="sng" w="9525">
            <a:solidFill>
              <a:srgbClr val="434343"/>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50" name="Google Shape;950;p55"/>
          <p:cNvSpPr txBox="1"/>
          <p:nvPr>
            <p:ph type="title"/>
          </p:nvPr>
        </p:nvSpPr>
        <p:spPr>
          <a:xfrm>
            <a:off x="593725" y="331475"/>
            <a:ext cx="64788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CAPA-107823- </a:t>
            </a:r>
            <a:r>
              <a:rPr i="1" lang="en-US"/>
              <a:t>document control</a:t>
            </a:r>
            <a:endParaRPr i="1"/>
          </a:p>
        </p:txBody>
      </p:sp>
      <p:sp>
        <p:nvSpPr>
          <p:cNvPr id="951" name="Google Shape;951;p55"/>
          <p:cNvSpPr txBox="1"/>
          <p:nvPr/>
        </p:nvSpPr>
        <p:spPr>
          <a:xfrm>
            <a:off x="1514200" y="2137663"/>
            <a:ext cx="2329500" cy="405900"/>
          </a:xfrm>
          <a:prstGeom prst="rect">
            <a:avLst/>
          </a:prstGeom>
          <a:solidFill>
            <a:schemeClr val="lt2"/>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Validation Policy</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DMS-xxxxxx</a:t>
            </a:r>
            <a:endParaRPr sz="1100">
              <a:solidFill>
                <a:schemeClr val="dk1"/>
              </a:solidFill>
              <a:latin typeface="Montserrat"/>
              <a:ea typeface="Montserrat"/>
              <a:cs typeface="Montserrat"/>
              <a:sym typeface="Montserrat"/>
            </a:endParaRPr>
          </a:p>
        </p:txBody>
      </p:sp>
      <p:sp>
        <p:nvSpPr>
          <p:cNvPr id="952" name="Google Shape;952;p55"/>
          <p:cNvSpPr txBox="1"/>
          <p:nvPr/>
        </p:nvSpPr>
        <p:spPr>
          <a:xfrm>
            <a:off x="8384388" y="1191275"/>
            <a:ext cx="2135100" cy="405900"/>
          </a:xfrm>
          <a:prstGeom prst="rect">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Orcanos Records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DMS-8069</a:t>
            </a:r>
            <a:endParaRPr sz="1100">
              <a:solidFill>
                <a:schemeClr val="dk1"/>
              </a:solidFill>
              <a:latin typeface="Montserrat"/>
              <a:ea typeface="Montserrat"/>
              <a:cs typeface="Montserrat"/>
              <a:sym typeface="Montserrat"/>
            </a:endParaRPr>
          </a:p>
        </p:txBody>
      </p:sp>
      <p:pic>
        <p:nvPicPr>
          <p:cNvPr id="953" name="Google Shape;953;p55"/>
          <p:cNvPicPr preferRelativeResize="0"/>
          <p:nvPr/>
        </p:nvPicPr>
        <p:blipFill>
          <a:blip r:embed="rId3">
            <a:alphaModFix/>
          </a:blip>
          <a:stretch>
            <a:fillRect/>
          </a:stretch>
        </p:blipFill>
        <p:spPr>
          <a:xfrm>
            <a:off x="11457850" y="171800"/>
            <a:ext cx="428625" cy="457200"/>
          </a:xfrm>
          <a:prstGeom prst="rect">
            <a:avLst/>
          </a:prstGeom>
          <a:noFill/>
          <a:ln>
            <a:noFill/>
          </a:ln>
        </p:spPr>
      </p:pic>
      <p:sp>
        <p:nvSpPr>
          <p:cNvPr id="954" name="Google Shape;954;p55"/>
          <p:cNvSpPr txBox="1"/>
          <p:nvPr/>
        </p:nvSpPr>
        <p:spPr>
          <a:xfrm>
            <a:off x="593725" y="6680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600"/>
              </a:spcAft>
              <a:buNone/>
            </a:pPr>
            <a:r>
              <a:rPr lang="en-US" sz="1600" u="sng">
                <a:solidFill>
                  <a:srgbClr val="0000FF"/>
                </a:solidFill>
                <a:latin typeface="Montserrat"/>
                <a:ea typeface="Montserrat"/>
                <a:cs typeface="Montserrat"/>
                <a:sym typeface="Montserrat"/>
                <a:hlinkClick r:id="rId4">
                  <a:extLst>
                    <a:ext uri="{A12FA001-AC4F-418D-AE19-62706E023703}">
                      <ahyp:hlinkClr val="tx"/>
                    </a:ext>
                  </a:extLst>
                </a:hlinkClick>
              </a:rPr>
              <a:t>Gap Analysis</a:t>
            </a:r>
            <a:r>
              <a:rPr lang="en-US" sz="1600">
                <a:solidFill>
                  <a:srgbClr val="0000FF"/>
                </a:solidFill>
                <a:latin typeface="Montserrat"/>
                <a:ea typeface="Montserrat"/>
                <a:cs typeface="Montserrat"/>
                <a:sym typeface="Montserrat"/>
              </a:rPr>
              <a:t> - 03 Dec</a:t>
            </a:r>
            <a:endParaRPr/>
          </a:p>
        </p:txBody>
      </p:sp>
      <p:sp>
        <p:nvSpPr>
          <p:cNvPr id="955" name="Google Shape;955;p55"/>
          <p:cNvSpPr txBox="1"/>
          <p:nvPr/>
        </p:nvSpPr>
        <p:spPr>
          <a:xfrm>
            <a:off x="1879975" y="3124513"/>
            <a:ext cx="2529300" cy="431100"/>
          </a:xfrm>
          <a:prstGeom prst="rect">
            <a:avLst/>
          </a:prstGeom>
          <a:solidFill>
            <a:schemeClr val="lt2"/>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USA: Validation Plan</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DMS-108833</a:t>
            </a:r>
            <a:endParaRPr sz="1100">
              <a:solidFill>
                <a:schemeClr val="dk1"/>
              </a:solidFill>
              <a:latin typeface="Montserrat"/>
              <a:ea typeface="Montserrat"/>
              <a:cs typeface="Montserrat"/>
              <a:sym typeface="Montserrat"/>
            </a:endParaRPr>
          </a:p>
        </p:txBody>
      </p:sp>
      <p:sp>
        <p:nvSpPr>
          <p:cNvPr id="956" name="Google Shape;956;p55"/>
          <p:cNvSpPr txBox="1"/>
          <p:nvPr/>
        </p:nvSpPr>
        <p:spPr>
          <a:xfrm>
            <a:off x="8805500" y="3154375"/>
            <a:ext cx="1589400" cy="372000"/>
          </a:xfrm>
          <a:prstGeom prst="rect">
            <a:avLst/>
          </a:prstGeom>
          <a:solidFill>
            <a:srgbClr val="C9DAF8"/>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100">
                <a:solidFill>
                  <a:srgbClr val="980000"/>
                </a:solidFill>
                <a:latin typeface="Montserrat"/>
                <a:ea typeface="Montserrat"/>
                <a:cs typeface="Montserrat"/>
                <a:sym typeface="Montserrat"/>
              </a:rPr>
              <a:t>*</a:t>
            </a:r>
            <a:r>
              <a:rPr lang="en-US" sz="1100">
                <a:solidFill>
                  <a:schemeClr val="dk1"/>
                </a:solidFill>
                <a:latin typeface="Montserrat"/>
                <a:ea typeface="Montserrat"/>
                <a:cs typeface="Montserrat"/>
                <a:sym typeface="Montserrat"/>
              </a:rPr>
              <a:t>USA: Validation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Summary Report</a:t>
            </a:r>
            <a:endParaRPr sz="1100">
              <a:solidFill>
                <a:schemeClr val="dk1"/>
              </a:solidFill>
              <a:latin typeface="Montserrat"/>
              <a:ea typeface="Montserrat"/>
              <a:cs typeface="Montserrat"/>
              <a:sym typeface="Montserrat"/>
            </a:endParaRPr>
          </a:p>
        </p:txBody>
      </p:sp>
      <p:sp>
        <p:nvSpPr>
          <p:cNvPr id="957" name="Google Shape;957;p55"/>
          <p:cNvSpPr txBox="1"/>
          <p:nvPr/>
        </p:nvSpPr>
        <p:spPr>
          <a:xfrm>
            <a:off x="8910950" y="3666175"/>
            <a:ext cx="1378500" cy="2040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IOQ Reports</a:t>
            </a:r>
            <a:endParaRPr sz="900">
              <a:solidFill>
                <a:schemeClr val="dk1"/>
              </a:solidFill>
              <a:latin typeface="Montserrat"/>
              <a:ea typeface="Montserrat"/>
              <a:cs typeface="Montserrat"/>
              <a:sym typeface="Montserrat"/>
            </a:endParaRPr>
          </a:p>
        </p:txBody>
      </p:sp>
      <p:sp>
        <p:nvSpPr>
          <p:cNvPr id="958" name="Google Shape;958;p55"/>
          <p:cNvSpPr txBox="1"/>
          <p:nvPr/>
        </p:nvSpPr>
        <p:spPr>
          <a:xfrm>
            <a:off x="4728200" y="3137113"/>
            <a:ext cx="1792800" cy="405900"/>
          </a:xfrm>
          <a:prstGeom prst="rect">
            <a:avLst/>
          </a:prstGeom>
          <a:solidFill>
            <a:srgbClr val="FFE599"/>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DMS-109200</a:t>
            </a:r>
            <a:endParaRPr sz="12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template</a:t>
            </a:r>
            <a:endParaRPr sz="1200">
              <a:solidFill>
                <a:schemeClr val="dk1"/>
              </a:solidFill>
              <a:latin typeface="Montserrat"/>
              <a:ea typeface="Montserrat"/>
              <a:cs typeface="Montserrat"/>
              <a:sym typeface="Montserrat"/>
            </a:endParaRPr>
          </a:p>
        </p:txBody>
      </p:sp>
      <p:sp>
        <p:nvSpPr>
          <p:cNvPr id="959" name="Google Shape;959;p55"/>
          <p:cNvSpPr txBox="1"/>
          <p:nvPr/>
        </p:nvSpPr>
        <p:spPr>
          <a:xfrm>
            <a:off x="6893000" y="4285400"/>
            <a:ext cx="1435500" cy="375900"/>
          </a:xfrm>
          <a:prstGeom prst="rect">
            <a:avLst/>
          </a:prstGeom>
          <a:solidFill>
            <a:srgbClr val="6FA8DC"/>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USA Pathologist </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DMS-29682</a:t>
            </a:r>
            <a:endParaRPr sz="1100">
              <a:solidFill>
                <a:schemeClr val="dk1"/>
              </a:solidFill>
              <a:latin typeface="Montserrat"/>
              <a:ea typeface="Montserrat"/>
              <a:cs typeface="Montserrat"/>
              <a:sym typeface="Montserrat"/>
            </a:endParaRPr>
          </a:p>
        </p:txBody>
      </p:sp>
      <p:sp>
        <p:nvSpPr>
          <p:cNvPr id="960" name="Google Shape;960;p55"/>
          <p:cNvSpPr txBox="1"/>
          <p:nvPr/>
        </p:nvSpPr>
        <p:spPr>
          <a:xfrm rot="885">
            <a:off x="1498287" y="2591613"/>
            <a:ext cx="2329500" cy="3366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RISK BASED - </a:t>
            </a:r>
            <a:r>
              <a:rPr lang="en-US" sz="1100" u="sng">
                <a:solidFill>
                  <a:srgbClr val="0000FF"/>
                </a:solidFill>
                <a:latin typeface="Montserrat"/>
                <a:ea typeface="Montserrat"/>
                <a:cs typeface="Montserrat"/>
                <a:sym typeface="Montserrat"/>
                <a:hlinkClick r:id="rId5">
                  <a:extLst>
                    <a:ext uri="{A12FA001-AC4F-418D-AE19-62706E023703}">
                      <ahyp:hlinkClr val="tx"/>
                    </a:ext>
                  </a:extLst>
                </a:hlinkClick>
              </a:rPr>
              <a:t>DMS-105073</a:t>
            </a:r>
            <a:endParaRPr sz="1100">
              <a:solidFill>
                <a:srgbClr val="0000FF"/>
              </a:solidFill>
              <a:latin typeface="Montserrat"/>
              <a:ea typeface="Montserrat"/>
              <a:cs typeface="Montserrat"/>
              <a:sym typeface="Montserrat"/>
            </a:endParaRPr>
          </a:p>
        </p:txBody>
      </p:sp>
      <p:sp>
        <p:nvSpPr>
          <p:cNvPr id="961" name="Google Shape;961;p55"/>
          <p:cNvSpPr txBox="1"/>
          <p:nvPr/>
        </p:nvSpPr>
        <p:spPr>
          <a:xfrm rot="1223">
            <a:off x="1879973" y="3630038"/>
            <a:ext cx="2529300" cy="2751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DMS-8765.H1 - equipment, CSV</a:t>
            </a:r>
            <a:endParaRPr i="1" sz="1100">
              <a:solidFill>
                <a:schemeClr val="dk1"/>
              </a:solidFill>
              <a:latin typeface="Montserrat"/>
              <a:ea typeface="Montserrat"/>
              <a:cs typeface="Montserrat"/>
              <a:sym typeface="Montserrat"/>
            </a:endParaRPr>
          </a:p>
        </p:txBody>
      </p:sp>
      <p:sp>
        <p:nvSpPr>
          <p:cNvPr id="962" name="Google Shape;962;p55"/>
          <p:cNvSpPr txBox="1"/>
          <p:nvPr/>
        </p:nvSpPr>
        <p:spPr>
          <a:xfrm rot="1311">
            <a:off x="4728200" y="3640975"/>
            <a:ext cx="1573200" cy="253200"/>
          </a:xfrm>
          <a:prstGeom prst="rect">
            <a:avLst/>
          </a:prstGeom>
          <a:solidFill>
            <a:srgbClr val="FFE599"/>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DMS-61978</a:t>
            </a:r>
            <a:endParaRPr i="1" sz="1100">
              <a:solidFill>
                <a:schemeClr val="dk1"/>
              </a:solidFill>
              <a:latin typeface="Montserrat"/>
              <a:ea typeface="Montserrat"/>
              <a:cs typeface="Montserrat"/>
              <a:sym typeface="Montserrat"/>
            </a:endParaRPr>
          </a:p>
        </p:txBody>
      </p:sp>
      <p:sp>
        <p:nvSpPr>
          <p:cNvPr id="963" name="Google Shape;963;p55"/>
          <p:cNvSpPr txBox="1"/>
          <p:nvPr/>
        </p:nvSpPr>
        <p:spPr>
          <a:xfrm>
            <a:off x="8999700" y="6433750"/>
            <a:ext cx="2816100" cy="25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1200">
                <a:solidFill>
                  <a:srgbClr val="980000"/>
                </a:solidFill>
                <a:latin typeface="Montserrat"/>
                <a:ea typeface="Montserrat"/>
                <a:cs typeface="Montserrat"/>
                <a:sym typeface="Montserrat"/>
              </a:rPr>
              <a:t>*</a:t>
            </a:r>
            <a:r>
              <a:rPr i="1" lang="en-US" sz="1200">
                <a:solidFill>
                  <a:schemeClr val="dk1"/>
                </a:solidFill>
                <a:latin typeface="Montserrat"/>
                <a:ea typeface="Montserrat"/>
                <a:cs typeface="Montserrat"/>
                <a:sym typeface="Montserrat"/>
              </a:rPr>
              <a:t>Medical attestation clinical use</a:t>
            </a:r>
            <a:endParaRPr i="1" sz="1200">
              <a:solidFill>
                <a:schemeClr val="dk1"/>
              </a:solidFill>
              <a:latin typeface="Montserrat"/>
              <a:ea typeface="Montserrat"/>
              <a:cs typeface="Montserrat"/>
              <a:sym typeface="Montserrat"/>
            </a:endParaRPr>
          </a:p>
        </p:txBody>
      </p:sp>
      <p:sp>
        <p:nvSpPr>
          <p:cNvPr id="964" name="Google Shape;964;p55"/>
          <p:cNvSpPr txBox="1"/>
          <p:nvPr/>
        </p:nvSpPr>
        <p:spPr>
          <a:xfrm>
            <a:off x="9137788" y="4881663"/>
            <a:ext cx="1474800" cy="3366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Customer records - validation</a:t>
            </a:r>
            <a:endParaRPr sz="1100">
              <a:solidFill>
                <a:schemeClr val="dk1"/>
              </a:solidFill>
              <a:latin typeface="Montserrat"/>
              <a:ea typeface="Montserrat"/>
              <a:cs typeface="Montserrat"/>
              <a:sym typeface="Montserrat"/>
            </a:endParaRPr>
          </a:p>
        </p:txBody>
      </p:sp>
      <p:sp>
        <p:nvSpPr>
          <p:cNvPr id="965" name="Google Shape;965;p55"/>
          <p:cNvSpPr txBox="1"/>
          <p:nvPr/>
        </p:nvSpPr>
        <p:spPr>
          <a:xfrm>
            <a:off x="10554250" y="1178675"/>
            <a:ext cx="1474800" cy="431100"/>
          </a:xfrm>
          <a:prstGeom prst="rect">
            <a:avLst/>
          </a:prstGeom>
          <a:solidFill>
            <a:srgbClr val="FCE5C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Training records</a:t>
            </a:r>
            <a:endParaRPr sz="12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DMS-8082</a:t>
            </a:r>
            <a:endParaRPr sz="1200">
              <a:solidFill>
                <a:schemeClr val="dk1"/>
              </a:solidFill>
              <a:latin typeface="Montserrat"/>
              <a:ea typeface="Montserrat"/>
              <a:cs typeface="Montserrat"/>
              <a:sym typeface="Montserrat"/>
            </a:endParaRPr>
          </a:p>
        </p:txBody>
      </p:sp>
      <p:sp>
        <p:nvSpPr>
          <p:cNvPr id="966" name="Google Shape;966;p55"/>
          <p:cNvSpPr txBox="1"/>
          <p:nvPr/>
        </p:nvSpPr>
        <p:spPr>
          <a:xfrm>
            <a:off x="10998200" y="668075"/>
            <a:ext cx="1003200" cy="227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US" sz="800">
                <a:solidFill>
                  <a:srgbClr val="666666"/>
                </a:solidFill>
                <a:latin typeface="Montserrat"/>
                <a:ea typeface="Montserrat"/>
                <a:cs typeface="Montserrat"/>
                <a:sym typeface="Montserrat"/>
              </a:rPr>
              <a:t>2025 - Dec - 01</a:t>
            </a:r>
            <a:endParaRPr i="1" sz="800">
              <a:solidFill>
                <a:srgbClr val="666666"/>
              </a:solidFill>
              <a:latin typeface="Montserrat"/>
              <a:ea typeface="Montserrat"/>
              <a:cs typeface="Montserrat"/>
              <a:sym typeface="Montserrat"/>
            </a:endParaRPr>
          </a:p>
        </p:txBody>
      </p:sp>
      <p:sp>
        <p:nvSpPr>
          <p:cNvPr id="967" name="Google Shape;967;p55"/>
          <p:cNvSpPr txBox="1"/>
          <p:nvPr/>
        </p:nvSpPr>
        <p:spPr>
          <a:xfrm>
            <a:off x="1514200" y="1717925"/>
            <a:ext cx="2895000" cy="372000"/>
          </a:xfrm>
          <a:prstGeom prst="rect">
            <a:avLst/>
          </a:prstGeom>
          <a:solidFill>
            <a:schemeClr val="lt2"/>
          </a:solidFill>
          <a:ln cap="flat" cmpd="sng" w="952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spcBef>
                <a:spcPts val="0"/>
              </a:spcBef>
              <a:spcAft>
                <a:spcPts val="0"/>
              </a:spcAft>
              <a:buNone/>
            </a:pPr>
            <a:r>
              <a:rPr lang="en-US" sz="1600">
                <a:solidFill>
                  <a:schemeClr val="dk1"/>
                </a:solidFill>
                <a:latin typeface="Montserrat"/>
                <a:ea typeface="Montserrat"/>
                <a:cs typeface="Montserrat"/>
                <a:sym typeface="Montserrat"/>
              </a:rPr>
              <a:t>Regulatory Statement</a:t>
            </a:r>
            <a:endParaRPr sz="1600">
              <a:solidFill>
                <a:schemeClr val="dk1"/>
              </a:solidFill>
              <a:latin typeface="Montserrat"/>
              <a:ea typeface="Montserrat"/>
              <a:cs typeface="Montserrat"/>
              <a:sym typeface="Montserrat"/>
            </a:endParaRPr>
          </a:p>
          <a:p>
            <a:pPr indent="0" lvl="0" marL="457200" rtl="0" algn="ctr">
              <a:spcBef>
                <a:spcPts val="0"/>
              </a:spcBef>
              <a:spcAft>
                <a:spcPts val="0"/>
              </a:spcAft>
              <a:buNone/>
            </a:pPr>
            <a:r>
              <a:rPr lang="en-US" sz="1100">
                <a:solidFill>
                  <a:schemeClr val="dk1"/>
                </a:solidFill>
                <a:latin typeface="Montserrat"/>
                <a:ea typeface="Montserrat"/>
                <a:cs typeface="Montserrat"/>
                <a:sym typeface="Montserrat"/>
              </a:rPr>
              <a:t>“intended use” DMS-xxxxxxx</a:t>
            </a:r>
            <a:endParaRPr sz="1100">
              <a:solidFill>
                <a:schemeClr val="dk1"/>
              </a:solidFill>
              <a:latin typeface="Montserrat"/>
              <a:ea typeface="Montserrat"/>
              <a:cs typeface="Montserrat"/>
              <a:sym typeface="Montserrat"/>
            </a:endParaRPr>
          </a:p>
        </p:txBody>
      </p:sp>
      <p:sp>
        <p:nvSpPr>
          <p:cNvPr id="968" name="Google Shape;968;p55"/>
          <p:cNvSpPr txBox="1"/>
          <p:nvPr/>
        </p:nvSpPr>
        <p:spPr>
          <a:xfrm>
            <a:off x="1514200" y="1215913"/>
            <a:ext cx="2620500" cy="34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Orcanos Documents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000">
                <a:solidFill>
                  <a:schemeClr val="dk1"/>
                </a:solidFill>
                <a:latin typeface="Montserrat"/>
                <a:ea typeface="Montserrat"/>
                <a:cs typeface="Montserrat"/>
                <a:sym typeface="Montserrat"/>
              </a:rPr>
              <a:t>DMS-8338</a:t>
            </a:r>
            <a:endParaRPr sz="1000">
              <a:solidFill>
                <a:schemeClr val="dk1"/>
              </a:solidFill>
              <a:latin typeface="Montserrat"/>
              <a:ea typeface="Montserrat"/>
              <a:cs typeface="Montserrat"/>
              <a:sym typeface="Montserrat"/>
            </a:endParaRPr>
          </a:p>
        </p:txBody>
      </p:sp>
      <p:sp>
        <p:nvSpPr>
          <p:cNvPr id="969" name="Google Shape;969;p55"/>
          <p:cNvSpPr txBox="1"/>
          <p:nvPr/>
        </p:nvSpPr>
        <p:spPr>
          <a:xfrm>
            <a:off x="4537075" y="1183363"/>
            <a:ext cx="1717800" cy="405900"/>
          </a:xfrm>
          <a:prstGeom prst="rect">
            <a:avLst/>
          </a:prstGeom>
          <a:solidFill>
            <a:srgbClr val="FFE5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Orcanos </a:t>
            </a:r>
            <a:endParaRPr sz="12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Templates</a:t>
            </a:r>
            <a:endParaRPr sz="1200">
              <a:solidFill>
                <a:schemeClr val="dk1"/>
              </a:solidFill>
              <a:latin typeface="Montserrat"/>
              <a:ea typeface="Montserrat"/>
              <a:cs typeface="Montserrat"/>
              <a:sym typeface="Montserrat"/>
            </a:endParaRPr>
          </a:p>
        </p:txBody>
      </p:sp>
      <p:sp>
        <p:nvSpPr>
          <p:cNvPr id="970" name="Google Shape;970;p55"/>
          <p:cNvSpPr txBox="1"/>
          <p:nvPr/>
        </p:nvSpPr>
        <p:spPr>
          <a:xfrm>
            <a:off x="10645600" y="4305350"/>
            <a:ext cx="1321200" cy="336600"/>
          </a:xfrm>
          <a:prstGeom prst="rect">
            <a:avLst/>
          </a:prstGeom>
          <a:solidFill>
            <a:srgbClr val="FCE5CD"/>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USA Pathologist DMS-94327</a:t>
            </a:r>
            <a:endParaRPr sz="1100">
              <a:solidFill>
                <a:schemeClr val="dk1"/>
              </a:solidFill>
              <a:latin typeface="Montserrat"/>
              <a:ea typeface="Montserrat"/>
              <a:cs typeface="Montserrat"/>
              <a:sym typeface="Montserrat"/>
            </a:endParaRPr>
          </a:p>
        </p:txBody>
      </p:sp>
      <p:sp>
        <p:nvSpPr>
          <p:cNvPr id="971" name="Google Shape;971;p55"/>
          <p:cNvSpPr txBox="1"/>
          <p:nvPr/>
        </p:nvSpPr>
        <p:spPr>
          <a:xfrm>
            <a:off x="6535550" y="1178663"/>
            <a:ext cx="1717800" cy="405900"/>
          </a:xfrm>
          <a:prstGeom prst="rect">
            <a:avLst/>
          </a:prstGeom>
          <a:solidFill>
            <a:srgbClr val="6D9E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solidFill>
                  <a:schemeClr val="dk1"/>
                </a:solidFill>
                <a:latin typeface="Montserrat"/>
                <a:ea typeface="Montserrat"/>
                <a:cs typeface="Montserrat"/>
                <a:sym typeface="Montserrat"/>
              </a:rPr>
              <a:t>Orcanos </a:t>
            </a:r>
            <a:endParaRPr sz="12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Procedures</a:t>
            </a:r>
            <a:endParaRPr sz="1200">
              <a:solidFill>
                <a:schemeClr val="dk1"/>
              </a:solidFill>
              <a:latin typeface="Montserrat"/>
              <a:ea typeface="Montserrat"/>
              <a:cs typeface="Montserrat"/>
              <a:sym typeface="Montserrat"/>
            </a:endParaRPr>
          </a:p>
        </p:txBody>
      </p:sp>
      <p:sp>
        <p:nvSpPr>
          <p:cNvPr id="972" name="Google Shape;972;p55"/>
          <p:cNvSpPr txBox="1"/>
          <p:nvPr/>
        </p:nvSpPr>
        <p:spPr>
          <a:xfrm>
            <a:off x="6907063" y="4881663"/>
            <a:ext cx="1942500" cy="336600"/>
          </a:xfrm>
          <a:prstGeom prst="rect">
            <a:avLst/>
          </a:prstGeom>
          <a:solidFill>
            <a:srgbClr val="6FA8DC"/>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US customer Val Plan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DMS-81702</a:t>
            </a:r>
            <a:endParaRPr sz="1100">
              <a:solidFill>
                <a:schemeClr val="dk1"/>
              </a:solidFill>
              <a:latin typeface="Montserrat"/>
              <a:ea typeface="Montserrat"/>
              <a:cs typeface="Montserrat"/>
              <a:sym typeface="Montserrat"/>
            </a:endParaRPr>
          </a:p>
        </p:txBody>
      </p:sp>
      <p:cxnSp>
        <p:nvCxnSpPr>
          <p:cNvPr id="973" name="Google Shape;973;p55"/>
          <p:cNvCxnSpPr>
            <a:stCxn id="968" idx="3"/>
            <a:endCxn id="969" idx="1"/>
          </p:cNvCxnSpPr>
          <p:nvPr/>
        </p:nvCxnSpPr>
        <p:spPr>
          <a:xfrm>
            <a:off x="4134700" y="1386313"/>
            <a:ext cx="402300" cy="0"/>
          </a:xfrm>
          <a:prstGeom prst="straightConnector1">
            <a:avLst/>
          </a:prstGeom>
          <a:noFill/>
          <a:ln cap="flat" cmpd="sng" w="9525">
            <a:solidFill>
              <a:schemeClr val="dk2"/>
            </a:solidFill>
            <a:prstDash val="solid"/>
            <a:round/>
            <a:headEnd len="med" w="med" type="none"/>
            <a:tailEnd len="med" w="med" type="none"/>
          </a:ln>
        </p:spPr>
      </p:cxnSp>
      <p:cxnSp>
        <p:nvCxnSpPr>
          <p:cNvPr id="974" name="Google Shape;974;p55"/>
          <p:cNvCxnSpPr>
            <a:stCxn id="969" idx="3"/>
            <a:endCxn id="971" idx="1"/>
          </p:cNvCxnSpPr>
          <p:nvPr/>
        </p:nvCxnSpPr>
        <p:spPr>
          <a:xfrm flipH="1" rot="10800000">
            <a:off x="6254875" y="1381513"/>
            <a:ext cx="280800" cy="4800"/>
          </a:xfrm>
          <a:prstGeom prst="straightConnector1">
            <a:avLst/>
          </a:prstGeom>
          <a:noFill/>
          <a:ln cap="flat" cmpd="sng" w="9525">
            <a:solidFill>
              <a:schemeClr val="dk2"/>
            </a:solidFill>
            <a:prstDash val="solid"/>
            <a:round/>
            <a:headEnd len="med" w="med" type="none"/>
            <a:tailEnd len="med" w="med" type="none"/>
          </a:ln>
        </p:spPr>
      </p:cxnSp>
      <p:cxnSp>
        <p:nvCxnSpPr>
          <p:cNvPr id="975" name="Google Shape;975;p55"/>
          <p:cNvCxnSpPr>
            <a:stCxn id="955" idx="3"/>
            <a:endCxn id="958" idx="1"/>
          </p:cNvCxnSpPr>
          <p:nvPr/>
        </p:nvCxnSpPr>
        <p:spPr>
          <a:xfrm>
            <a:off x="4409275" y="3340063"/>
            <a:ext cx="318900" cy="0"/>
          </a:xfrm>
          <a:prstGeom prst="straightConnector1">
            <a:avLst/>
          </a:prstGeom>
          <a:noFill/>
          <a:ln cap="flat" cmpd="sng" w="9525">
            <a:solidFill>
              <a:schemeClr val="dk2"/>
            </a:solidFill>
            <a:prstDash val="solid"/>
            <a:round/>
            <a:headEnd len="med" w="med" type="none"/>
            <a:tailEnd len="med" w="med" type="none"/>
          </a:ln>
        </p:spPr>
      </p:cxnSp>
      <p:cxnSp>
        <p:nvCxnSpPr>
          <p:cNvPr id="976" name="Google Shape;976;p55"/>
          <p:cNvCxnSpPr>
            <a:stCxn id="961" idx="3"/>
            <a:endCxn id="962" idx="1"/>
          </p:cNvCxnSpPr>
          <p:nvPr/>
        </p:nvCxnSpPr>
        <p:spPr>
          <a:xfrm flipH="1" rot="10800000">
            <a:off x="4409273" y="3767138"/>
            <a:ext cx="318900" cy="900"/>
          </a:xfrm>
          <a:prstGeom prst="straightConnector1">
            <a:avLst/>
          </a:prstGeom>
          <a:noFill/>
          <a:ln cap="flat" cmpd="sng" w="9525">
            <a:solidFill>
              <a:schemeClr val="dk2"/>
            </a:solidFill>
            <a:prstDash val="solid"/>
            <a:round/>
            <a:headEnd len="med" w="med" type="none"/>
            <a:tailEnd len="med" w="med" type="none"/>
          </a:ln>
        </p:spPr>
      </p:cxnSp>
      <p:cxnSp>
        <p:nvCxnSpPr>
          <p:cNvPr id="977" name="Google Shape;977;p55"/>
          <p:cNvCxnSpPr>
            <a:stCxn id="972" idx="3"/>
            <a:endCxn id="964" idx="1"/>
          </p:cNvCxnSpPr>
          <p:nvPr/>
        </p:nvCxnSpPr>
        <p:spPr>
          <a:xfrm>
            <a:off x="8849563" y="5049963"/>
            <a:ext cx="288300" cy="0"/>
          </a:xfrm>
          <a:prstGeom prst="straightConnector1">
            <a:avLst/>
          </a:prstGeom>
          <a:noFill/>
          <a:ln cap="flat" cmpd="sng" w="9525">
            <a:solidFill>
              <a:schemeClr val="dk2"/>
            </a:solidFill>
            <a:prstDash val="solid"/>
            <a:round/>
            <a:headEnd len="med" w="med" type="none"/>
            <a:tailEnd len="med" w="med" type="none"/>
          </a:ln>
        </p:spPr>
      </p:cxnSp>
      <p:cxnSp>
        <p:nvCxnSpPr>
          <p:cNvPr id="978" name="Google Shape;978;p55"/>
          <p:cNvCxnSpPr>
            <a:stCxn id="956" idx="2"/>
            <a:endCxn id="957" idx="0"/>
          </p:cNvCxnSpPr>
          <p:nvPr/>
        </p:nvCxnSpPr>
        <p:spPr>
          <a:xfrm flipH="1" rot="-5400000">
            <a:off x="9530600" y="3595975"/>
            <a:ext cx="139800" cy="600"/>
          </a:xfrm>
          <a:prstGeom prst="bentConnector3">
            <a:avLst>
              <a:gd fmla="val 50000" name="adj1"/>
            </a:avLst>
          </a:prstGeom>
          <a:noFill/>
          <a:ln cap="flat" cmpd="sng" w="9525">
            <a:solidFill>
              <a:schemeClr val="dk2"/>
            </a:solidFill>
            <a:prstDash val="solid"/>
            <a:round/>
            <a:headEnd len="med" w="med" type="triangle"/>
            <a:tailEnd len="med" w="med" type="none"/>
          </a:ln>
        </p:spPr>
      </p:cxnSp>
      <p:cxnSp>
        <p:nvCxnSpPr>
          <p:cNvPr id="979" name="Google Shape;979;p55"/>
          <p:cNvCxnSpPr>
            <a:stCxn id="962" idx="3"/>
            <a:endCxn id="980" idx="1"/>
          </p:cNvCxnSpPr>
          <p:nvPr/>
        </p:nvCxnSpPr>
        <p:spPr>
          <a:xfrm>
            <a:off x="6301400" y="3767875"/>
            <a:ext cx="591600" cy="1800"/>
          </a:xfrm>
          <a:prstGeom prst="bentConnector3">
            <a:avLst>
              <a:gd fmla="val 49987" name="adj1"/>
            </a:avLst>
          </a:prstGeom>
          <a:noFill/>
          <a:ln cap="flat" cmpd="sng" w="9525">
            <a:solidFill>
              <a:srgbClr val="999999"/>
            </a:solidFill>
            <a:prstDash val="dot"/>
            <a:round/>
            <a:headEnd len="med" w="med" type="none"/>
            <a:tailEnd len="med" w="med" type="none"/>
          </a:ln>
        </p:spPr>
      </p:cxnSp>
      <p:cxnSp>
        <p:nvCxnSpPr>
          <p:cNvPr id="981" name="Google Shape;981;p55"/>
          <p:cNvCxnSpPr>
            <a:stCxn id="960" idx="1"/>
            <a:endCxn id="955" idx="1"/>
          </p:cNvCxnSpPr>
          <p:nvPr/>
        </p:nvCxnSpPr>
        <p:spPr>
          <a:xfrm>
            <a:off x="1498287" y="2759613"/>
            <a:ext cx="381600" cy="580500"/>
          </a:xfrm>
          <a:prstGeom prst="bentConnector3">
            <a:avLst>
              <a:gd fmla="val -62402" name="adj1"/>
            </a:avLst>
          </a:prstGeom>
          <a:noFill/>
          <a:ln cap="flat" cmpd="sng" w="9525">
            <a:solidFill>
              <a:srgbClr val="980000"/>
            </a:solidFill>
            <a:prstDash val="dash"/>
            <a:round/>
            <a:headEnd len="med" w="med" type="triangle"/>
            <a:tailEnd len="med" w="med" type="none"/>
          </a:ln>
        </p:spPr>
      </p:cxnSp>
      <p:sp>
        <p:nvSpPr>
          <p:cNvPr id="982" name="Google Shape;982;p55"/>
          <p:cNvSpPr txBox="1"/>
          <p:nvPr/>
        </p:nvSpPr>
        <p:spPr>
          <a:xfrm>
            <a:off x="6868550" y="3201420"/>
            <a:ext cx="1589400" cy="276000"/>
          </a:xfrm>
          <a:prstGeom prst="rect">
            <a:avLst/>
          </a:prstGeom>
          <a:solidFill>
            <a:srgbClr val="6FA8DC"/>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Clinical protocol(s)</a:t>
            </a:r>
            <a:endParaRPr sz="9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700">
                <a:solidFill>
                  <a:schemeClr val="dk1"/>
                </a:solidFill>
                <a:latin typeface="Montserrat"/>
                <a:ea typeface="Montserrat"/>
                <a:cs typeface="Montserrat"/>
                <a:sym typeface="Montserrat"/>
              </a:rPr>
              <a:t>DMS-xxxxx</a:t>
            </a:r>
            <a:endParaRPr sz="700">
              <a:solidFill>
                <a:schemeClr val="dk1"/>
              </a:solidFill>
              <a:latin typeface="Montserrat"/>
              <a:ea typeface="Montserrat"/>
              <a:cs typeface="Montserrat"/>
              <a:sym typeface="Montserrat"/>
            </a:endParaRPr>
          </a:p>
        </p:txBody>
      </p:sp>
      <p:cxnSp>
        <p:nvCxnSpPr>
          <p:cNvPr id="983" name="Google Shape;983;p55"/>
          <p:cNvCxnSpPr>
            <a:stCxn id="982" idx="3"/>
            <a:endCxn id="956" idx="1"/>
          </p:cNvCxnSpPr>
          <p:nvPr/>
        </p:nvCxnSpPr>
        <p:spPr>
          <a:xfrm>
            <a:off x="8457950" y="3339420"/>
            <a:ext cx="347700" cy="900"/>
          </a:xfrm>
          <a:prstGeom prst="bentConnector3">
            <a:avLst>
              <a:gd fmla="val 49978" name="adj1"/>
            </a:avLst>
          </a:prstGeom>
          <a:noFill/>
          <a:ln cap="flat" cmpd="sng" w="9525">
            <a:solidFill>
              <a:schemeClr val="dk2"/>
            </a:solidFill>
            <a:prstDash val="solid"/>
            <a:round/>
            <a:headEnd len="med" w="med" type="none"/>
            <a:tailEnd len="med" w="med" type="triangle"/>
          </a:ln>
        </p:spPr>
      </p:cxnSp>
      <p:cxnSp>
        <p:nvCxnSpPr>
          <p:cNvPr id="984" name="Google Shape;984;p55"/>
          <p:cNvCxnSpPr>
            <a:stCxn id="958" idx="3"/>
            <a:endCxn id="982" idx="1"/>
          </p:cNvCxnSpPr>
          <p:nvPr/>
        </p:nvCxnSpPr>
        <p:spPr>
          <a:xfrm flipH="1" rot="10800000">
            <a:off x="6521000" y="3339463"/>
            <a:ext cx="347700" cy="600"/>
          </a:xfrm>
          <a:prstGeom prst="bentConnector3">
            <a:avLst>
              <a:gd fmla="val 49978" name="adj1"/>
            </a:avLst>
          </a:prstGeom>
          <a:noFill/>
          <a:ln cap="flat" cmpd="sng" w="9525">
            <a:solidFill>
              <a:srgbClr val="9E9E9E"/>
            </a:solidFill>
            <a:prstDash val="dash"/>
            <a:round/>
            <a:headEnd len="med" w="med" type="none"/>
            <a:tailEnd len="med" w="med" type="none"/>
          </a:ln>
        </p:spPr>
      </p:cxnSp>
      <p:cxnSp>
        <p:nvCxnSpPr>
          <p:cNvPr id="985" name="Google Shape;985;p55"/>
          <p:cNvCxnSpPr>
            <a:stCxn id="960" idx="3"/>
            <a:endCxn id="958" idx="0"/>
          </p:cNvCxnSpPr>
          <p:nvPr/>
        </p:nvCxnSpPr>
        <p:spPr>
          <a:xfrm>
            <a:off x="3827787" y="2760213"/>
            <a:ext cx="1796700" cy="376800"/>
          </a:xfrm>
          <a:prstGeom prst="bentConnector2">
            <a:avLst/>
          </a:prstGeom>
          <a:noFill/>
          <a:ln cap="flat" cmpd="sng" w="9525">
            <a:solidFill>
              <a:srgbClr val="6AA84F"/>
            </a:solidFill>
            <a:prstDash val="dash"/>
            <a:round/>
            <a:headEnd len="med" w="med" type="none"/>
            <a:tailEnd len="med" w="med" type="triangle"/>
          </a:ln>
        </p:spPr>
      </p:cxnSp>
      <p:sp>
        <p:nvSpPr>
          <p:cNvPr id="986" name="Google Shape;986;p55"/>
          <p:cNvSpPr txBox="1"/>
          <p:nvPr/>
        </p:nvSpPr>
        <p:spPr>
          <a:xfrm>
            <a:off x="3920775" y="2361188"/>
            <a:ext cx="2895000" cy="43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rgbClr val="38761D"/>
                </a:solidFill>
                <a:latin typeface="Montserrat"/>
                <a:ea typeface="Montserrat"/>
                <a:cs typeface="Montserrat"/>
                <a:sym typeface="Montserrat"/>
              </a:rPr>
              <a:t>Testing needed: only if intended use is changed, new SOP, or high risk process change</a:t>
            </a:r>
            <a:endParaRPr sz="900">
              <a:solidFill>
                <a:srgbClr val="38761D"/>
              </a:solidFill>
              <a:latin typeface="Montserrat"/>
              <a:ea typeface="Montserrat"/>
              <a:cs typeface="Montserrat"/>
              <a:sym typeface="Montserrat"/>
            </a:endParaRPr>
          </a:p>
        </p:txBody>
      </p:sp>
      <p:sp>
        <p:nvSpPr>
          <p:cNvPr id="987" name="Google Shape;987;p55"/>
          <p:cNvSpPr txBox="1"/>
          <p:nvPr/>
        </p:nvSpPr>
        <p:spPr>
          <a:xfrm>
            <a:off x="170975" y="2824090"/>
            <a:ext cx="1236600" cy="59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sz="900">
                <a:solidFill>
                  <a:srgbClr val="980000"/>
                </a:solidFill>
                <a:latin typeface="Montserrat"/>
                <a:ea typeface="Montserrat"/>
                <a:cs typeface="Montserrat"/>
                <a:sym typeface="Montserrat"/>
              </a:rPr>
              <a:t>Test not needed, justification based on Risk</a:t>
            </a:r>
            <a:endParaRPr i="1" sz="900">
              <a:solidFill>
                <a:srgbClr val="980000"/>
              </a:solidFill>
              <a:latin typeface="Montserrat"/>
              <a:ea typeface="Montserrat"/>
              <a:cs typeface="Montserrat"/>
              <a:sym typeface="Montserrat"/>
            </a:endParaRPr>
          </a:p>
        </p:txBody>
      </p:sp>
      <p:sp>
        <p:nvSpPr>
          <p:cNvPr id="988" name="Google Shape;988;p55"/>
          <p:cNvSpPr txBox="1"/>
          <p:nvPr/>
        </p:nvSpPr>
        <p:spPr>
          <a:xfrm>
            <a:off x="9044700" y="4607875"/>
            <a:ext cx="1474800" cy="139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US" sz="900">
                <a:solidFill>
                  <a:schemeClr val="dk1"/>
                </a:solidFill>
                <a:latin typeface="Montserrat"/>
                <a:ea typeface="Montserrat"/>
                <a:cs typeface="Montserrat"/>
                <a:sym typeface="Montserrat"/>
              </a:rPr>
              <a:t>Replace with Training</a:t>
            </a:r>
            <a:endParaRPr i="1" sz="900">
              <a:solidFill>
                <a:schemeClr val="dk1"/>
              </a:solidFill>
              <a:latin typeface="Montserrat"/>
              <a:ea typeface="Montserrat"/>
              <a:cs typeface="Montserrat"/>
              <a:sym typeface="Montserrat"/>
            </a:endParaRPr>
          </a:p>
        </p:txBody>
      </p:sp>
      <p:sp>
        <p:nvSpPr>
          <p:cNvPr id="980" name="Google Shape;980;p55"/>
          <p:cNvSpPr txBox="1"/>
          <p:nvPr/>
        </p:nvSpPr>
        <p:spPr>
          <a:xfrm>
            <a:off x="6892850" y="3599275"/>
            <a:ext cx="1573200" cy="340800"/>
          </a:xfrm>
          <a:prstGeom prst="rect">
            <a:avLst/>
          </a:prstGeom>
          <a:solidFill>
            <a:srgbClr val="6FA8DC"/>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IOQ protocol</a:t>
            </a:r>
            <a:endParaRPr sz="1100">
              <a:solidFill>
                <a:schemeClr val="dk1"/>
              </a:solidFill>
              <a:latin typeface="Montserrat"/>
              <a:ea typeface="Montserrat"/>
              <a:cs typeface="Montserrat"/>
              <a:sym typeface="Montserrat"/>
            </a:endParaRPr>
          </a:p>
        </p:txBody>
      </p:sp>
      <p:cxnSp>
        <p:nvCxnSpPr>
          <p:cNvPr id="989" name="Google Shape;989;p55"/>
          <p:cNvCxnSpPr>
            <a:stCxn id="980" idx="3"/>
            <a:endCxn id="957" idx="1"/>
          </p:cNvCxnSpPr>
          <p:nvPr/>
        </p:nvCxnSpPr>
        <p:spPr>
          <a:xfrm flipH="1" rot="10800000">
            <a:off x="8466050" y="3768175"/>
            <a:ext cx="444900" cy="1500"/>
          </a:xfrm>
          <a:prstGeom prst="bentConnector3">
            <a:avLst>
              <a:gd fmla="val 50000" name="adj1"/>
            </a:avLst>
          </a:prstGeom>
          <a:noFill/>
          <a:ln cap="flat" cmpd="sng" w="9525">
            <a:solidFill>
              <a:schemeClr val="dk2"/>
            </a:solidFill>
            <a:prstDash val="solid"/>
            <a:round/>
            <a:headEnd len="med" w="med" type="none"/>
            <a:tailEnd len="med" w="med" type="stealth"/>
          </a:ln>
        </p:spPr>
      </p:cxnSp>
      <p:pic>
        <p:nvPicPr>
          <p:cNvPr id="990" name="Google Shape;990;p55"/>
          <p:cNvPicPr preferRelativeResize="0"/>
          <p:nvPr/>
        </p:nvPicPr>
        <p:blipFill>
          <a:blip r:embed="rId6">
            <a:alphaModFix/>
          </a:blip>
          <a:stretch>
            <a:fillRect/>
          </a:stretch>
        </p:blipFill>
        <p:spPr>
          <a:xfrm>
            <a:off x="7194348" y="2571956"/>
            <a:ext cx="444900" cy="375920"/>
          </a:xfrm>
          <a:prstGeom prst="rect">
            <a:avLst/>
          </a:prstGeom>
          <a:noFill/>
          <a:ln>
            <a:noFill/>
          </a:ln>
        </p:spPr>
      </p:pic>
      <p:sp>
        <p:nvSpPr>
          <p:cNvPr id="991" name="Google Shape;991;p55"/>
          <p:cNvSpPr txBox="1"/>
          <p:nvPr/>
        </p:nvSpPr>
        <p:spPr>
          <a:xfrm rot="1496">
            <a:off x="3084525" y="5516328"/>
            <a:ext cx="1378500" cy="4053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DMS-69916 LIS integrations</a:t>
            </a:r>
            <a:endParaRPr i="1" sz="1100">
              <a:solidFill>
                <a:schemeClr val="dk1"/>
              </a:solidFill>
              <a:latin typeface="Montserrat"/>
              <a:ea typeface="Montserrat"/>
              <a:cs typeface="Montserrat"/>
              <a:sym typeface="Montserrat"/>
            </a:endParaRPr>
          </a:p>
        </p:txBody>
      </p:sp>
      <p:sp>
        <p:nvSpPr>
          <p:cNvPr id="992" name="Google Shape;992;p55"/>
          <p:cNvSpPr txBox="1"/>
          <p:nvPr/>
        </p:nvSpPr>
        <p:spPr>
          <a:xfrm>
            <a:off x="9137788" y="5550663"/>
            <a:ext cx="1474800" cy="3366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LIS records - validation</a:t>
            </a:r>
            <a:endParaRPr sz="1100">
              <a:solidFill>
                <a:schemeClr val="dk1"/>
              </a:solidFill>
              <a:latin typeface="Montserrat"/>
              <a:ea typeface="Montserrat"/>
              <a:cs typeface="Montserrat"/>
              <a:sym typeface="Montserrat"/>
            </a:endParaRPr>
          </a:p>
        </p:txBody>
      </p:sp>
      <p:cxnSp>
        <p:nvCxnSpPr>
          <p:cNvPr id="993" name="Google Shape;993;p55"/>
          <p:cNvCxnSpPr>
            <a:stCxn id="991" idx="3"/>
            <a:endCxn id="992" idx="1"/>
          </p:cNvCxnSpPr>
          <p:nvPr/>
        </p:nvCxnSpPr>
        <p:spPr>
          <a:xfrm>
            <a:off x="4463025" y="5719278"/>
            <a:ext cx="4674900" cy="600"/>
          </a:xfrm>
          <a:prstGeom prst="bentConnector3">
            <a:avLst>
              <a:gd fmla="val 49999" name="adj1"/>
            </a:avLst>
          </a:prstGeom>
          <a:noFill/>
          <a:ln cap="flat" cmpd="sng" w="9525">
            <a:solidFill>
              <a:schemeClr val="dk2"/>
            </a:solidFill>
            <a:prstDash val="solid"/>
            <a:round/>
            <a:headEnd len="med" w="med" type="none"/>
            <a:tailEnd len="med" w="med" type="none"/>
          </a:ln>
        </p:spPr>
      </p:cxnSp>
      <p:sp>
        <p:nvSpPr>
          <p:cNvPr id="994" name="Google Shape;994;p55"/>
          <p:cNvSpPr txBox="1"/>
          <p:nvPr/>
        </p:nvSpPr>
        <p:spPr>
          <a:xfrm>
            <a:off x="1583350" y="1902475"/>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995" name="Google Shape;995;p55"/>
          <p:cNvSpPr txBox="1"/>
          <p:nvPr/>
        </p:nvSpPr>
        <p:spPr>
          <a:xfrm>
            <a:off x="1514200" y="2388013"/>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996" name="Google Shape;996;p55"/>
          <p:cNvSpPr txBox="1"/>
          <p:nvPr/>
        </p:nvSpPr>
        <p:spPr>
          <a:xfrm>
            <a:off x="1895513" y="3359100"/>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997" name="Google Shape;997;p55"/>
          <p:cNvSpPr txBox="1"/>
          <p:nvPr/>
        </p:nvSpPr>
        <p:spPr>
          <a:xfrm>
            <a:off x="1895525" y="3905600"/>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998" name="Google Shape;998;p55"/>
          <p:cNvSpPr txBox="1"/>
          <p:nvPr/>
        </p:nvSpPr>
        <p:spPr>
          <a:xfrm>
            <a:off x="4732375" y="3367575"/>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999" name="Google Shape;999;p55"/>
          <p:cNvSpPr/>
          <p:nvPr/>
        </p:nvSpPr>
        <p:spPr>
          <a:xfrm>
            <a:off x="1192225" y="1791400"/>
            <a:ext cx="288300" cy="2760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Montserrat"/>
                <a:ea typeface="Montserrat"/>
                <a:cs typeface="Montserrat"/>
                <a:sym typeface="Montserrat"/>
              </a:rPr>
              <a:t>1</a:t>
            </a:r>
            <a:endParaRPr>
              <a:latin typeface="Montserrat"/>
              <a:ea typeface="Montserrat"/>
              <a:cs typeface="Montserrat"/>
              <a:sym typeface="Montserrat"/>
            </a:endParaRPr>
          </a:p>
        </p:txBody>
      </p:sp>
      <p:sp>
        <p:nvSpPr>
          <p:cNvPr id="1000" name="Google Shape;1000;p55"/>
          <p:cNvSpPr/>
          <p:nvPr/>
        </p:nvSpPr>
        <p:spPr>
          <a:xfrm>
            <a:off x="3629625" y="5978475"/>
            <a:ext cx="288300" cy="2760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Montserrat"/>
                <a:ea typeface="Montserrat"/>
                <a:cs typeface="Montserrat"/>
                <a:sym typeface="Montserrat"/>
              </a:rPr>
              <a:t>4</a:t>
            </a:r>
            <a:endParaRPr>
              <a:latin typeface="Montserrat"/>
              <a:ea typeface="Montserrat"/>
              <a:cs typeface="Montserrat"/>
              <a:sym typeface="Montserrat"/>
            </a:endParaRPr>
          </a:p>
        </p:txBody>
      </p:sp>
      <p:sp>
        <p:nvSpPr>
          <p:cNvPr id="1001" name="Google Shape;1001;p55"/>
          <p:cNvSpPr/>
          <p:nvPr/>
        </p:nvSpPr>
        <p:spPr>
          <a:xfrm>
            <a:off x="9560250" y="2671875"/>
            <a:ext cx="288300" cy="2760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Montserrat"/>
                <a:ea typeface="Montserrat"/>
                <a:cs typeface="Montserrat"/>
                <a:sym typeface="Montserrat"/>
              </a:rPr>
              <a:t>2</a:t>
            </a:r>
            <a:endParaRPr>
              <a:latin typeface="Montserrat"/>
              <a:ea typeface="Montserrat"/>
              <a:cs typeface="Montserrat"/>
              <a:sym typeface="Montserrat"/>
            </a:endParaRPr>
          </a:p>
        </p:txBody>
      </p:sp>
      <p:sp>
        <p:nvSpPr>
          <p:cNvPr id="1002" name="Google Shape;1002;p55"/>
          <p:cNvSpPr/>
          <p:nvPr/>
        </p:nvSpPr>
        <p:spPr>
          <a:xfrm>
            <a:off x="6550700" y="4354925"/>
            <a:ext cx="288300" cy="276000"/>
          </a:xfrm>
          <a:prstGeom prst="ellipse">
            <a:avLst/>
          </a:prstGeom>
          <a:solidFill>
            <a:srgbClr val="00FF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Montserrat"/>
                <a:ea typeface="Montserrat"/>
                <a:cs typeface="Montserrat"/>
                <a:sym typeface="Montserrat"/>
              </a:rPr>
              <a:t>3</a:t>
            </a:r>
            <a:endParaRPr>
              <a:latin typeface="Montserrat"/>
              <a:ea typeface="Montserrat"/>
              <a:cs typeface="Montserrat"/>
              <a:sym typeface="Montserrat"/>
            </a:endParaRPr>
          </a:p>
        </p:txBody>
      </p:sp>
      <p:sp>
        <p:nvSpPr>
          <p:cNvPr id="1003" name="Google Shape;1003;p55"/>
          <p:cNvSpPr txBox="1"/>
          <p:nvPr/>
        </p:nvSpPr>
        <p:spPr>
          <a:xfrm>
            <a:off x="9218700" y="3031025"/>
            <a:ext cx="485700" cy="139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700">
                <a:solidFill>
                  <a:srgbClr val="980000"/>
                </a:solidFill>
                <a:latin typeface="Montserrat"/>
                <a:ea typeface="Montserrat"/>
                <a:cs typeface="Montserrat"/>
                <a:sym typeface="Montserrat"/>
              </a:rPr>
              <a:t>CAPA</a:t>
            </a:r>
            <a:endParaRPr b="1" sz="700">
              <a:solidFill>
                <a:srgbClr val="980000"/>
              </a:solidFill>
              <a:latin typeface="Montserrat"/>
              <a:ea typeface="Montserrat"/>
              <a:cs typeface="Montserrat"/>
              <a:sym typeface="Montserrat"/>
            </a:endParaRPr>
          </a:p>
        </p:txBody>
      </p:sp>
      <p:sp>
        <p:nvSpPr>
          <p:cNvPr id="1004" name="Google Shape;1004;p55"/>
          <p:cNvSpPr txBox="1"/>
          <p:nvPr/>
        </p:nvSpPr>
        <p:spPr>
          <a:xfrm>
            <a:off x="6554475" y="5894600"/>
            <a:ext cx="2816100" cy="20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Montserrat"/>
                <a:ea typeface="Montserrat"/>
                <a:cs typeface="Montserrat"/>
                <a:sym typeface="Montserrat"/>
              </a:rPr>
              <a:t>Validation customer records</a:t>
            </a:r>
            <a:endParaRPr sz="1100">
              <a:solidFill>
                <a:schemeClr val="dk1"/>
              </a:solidFill>
              <a:latin typeface="Montserrat"/>
              <a:ea typeface="Montserrat"/>
              <a:cs typeface="Montserrat"/>
              <a:sym typeface="Montserrat"/>
            </a:endParaRPr>
          </a:p>
        </p:txBody>
      </p:sp>
      <p:sp>
        <p:nvSpPr>
          <p:cNvPr id="1005" name="Google Shape;1005;p55"/>
          <p:cNvSpPr/>
          <p:nvPr/>
        </p:nvSpPr>
        <p:spPr>
          <a:xfrm>
            <a:off x="9877250" y="2337725"/>
            <a:ext cx="1435500" cy="693300"/>
          </a:xfrm>
          <a:prstGeom prst="wedgeEllipseCallout">
            <a:avLst>
              <a:gd fmla="val -20833" name="adj1"/>
              <a:gd fmla="val 625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latin typeface="Montserrat"/>
                <a:ea typeface="Montserrat"/>
                <a:cs typeface="Montserrat"/>
                <a:sym typeface="Montserrat"/>
              </a:rPr>
              <a:t>Summarize to (1) med director sign</a:t>
            </a:r>
            <a:endParaRPr sz="900">
              <a:latin typeface="Montserrat"/>
              <a:ea typeface="Montserrat"/>
              <a:cs typeface="Montserrat"/>
              <a:sym typeface="Montserrat"/>
            </a:endParaRPr>
          </a:p>
        </p:txBody>
      </p:sp>
      <p:sp>
        <p:nvSpPr>
          <p:cNvPr id="1006" name="Google Shape;1006;p55"/>
          <p:cNvSpPr/>
          <p:nvPr/>
        </p:nvSpPr>
        <p:spPr>
          <a:xfrm>
            <a:off x="7660550" y="2013675"/>
            <a:ext cx="1942500" cy="897300"/>
          </a:xfrm>
          <a:prstGeom prst="wedgeEllipseCallout">
            <a:avLst>
              <a:gd fmla="val -20833" name="adj1"/>
              <a:gd fmla="val 625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latin typeface="Montserrat"/>
                <a:ea typeface="Montserrat"/>
                <a:cs typeface="Montserrat"/>
                <a:sym typeface="Montserrat"/>
              </a:rPr>
              <a:t>Lab can test without having to receive pre-approval b/c the Plan + Risk is the approval</a:t>
            </a:r>
            <a:endParaRPr sz="900">
              <a:latin typeface="Montserrat"/>
              <a:ea typeface="Montserrat"/>
              <a:cs typeface="Montserrat"/>
              <a:sym typeface="Montserrat"/>
            </a:endParaRPr>
          </a:p>
        </p:txBody>
      </p:sp>
      <p:grpSp>
        <p:nvGrpSpPr>
          <p:cNvPr id="1007" name="Google Shape;1007;p55"/>
          <p:cNvGrpSpPr/>
          <p:nvPr/>
        </p:nvGrpSpPr>
        <p:grpSpPr>
          <a:xfrm>
            <a:off x="240977" y="3359150"/>
            <a:ext cx="1402500" cy="909600"/>
            <a:chOff x="59377" y="3345925"/>
            <a:chExt cx="1402500" cy="909600"/>
          </a:xfrm>
        </p:grpSpPr>
        <p:sp>
          <p:nvSpPr>
            <p:cNvPr id="1008" name="Google Shape;1008;p55"/>
            <p:cNvSpPr/>
            <p:nvPr/>
          </p:nvSpPr>
          <p:spPr>
            <a:xfrm rot="-10355601">
              <a:off x="102032" y="3427704"/>
              <a:ext cx="1317190" cy="746041"/>
            </a:xfrm>
            <a:prstGeom prst="wedgeEllipseCallout">
              <a:avLst>
                <a:gd fmla="val -20833" name="adj1"/>
                <a:gd fmla="val 625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Montserrat"/>
                <a:ea typeface="Montserrat"/>
                <a:cs typeface="Montserrat"/>
                <a:sym typeface="Montserrat"/>
              </a:endParaRPr>
            </a:p>
          </p:txBody>
        </p:sp>
        <p:sp>
          <p:nvSpPr>
            <p:cNvPr id="1009" name="Google Shape;1009;p55"/>
            <p:cNvSpPr txBox="1"/>
            <p:nvPr/>
          </p:nvSpPr>
          <p:spPr>
            <a:xfrm>
              <a:off x="256875" y="3509975"/>
              <a:ext cx="1003200" cy="59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Only test when Risk is HIGH</a:t>
              </a:r>
              <a:endParaRPr sz="1000">
                <a:solidFill>
                  <a:schemeClr val="dk1"/>
                </a:solidFill>
                <a:latin typeface="Montserrat"/>
                <a:ea typeface="Montserrat"/>
                <a:cs typeface="Montserrat"/>
                <a:sym typeface="Montserrat"/>
              </a:endParaRPr>
            </a:p>
          </p:txBody>
        </p:sp>
      </p:grpSp>
      <p:sp>
        <p:nvSpPr>
          <p:cNvPr id="1010" name="Google Shape;1010;p55"/>
          <p:cNvSpPr/>
          <p:nvPr/>
        </p:nvSpPr>
        <p:spPr>
          <a:xfrm rot="-7361051">
            <a:off x="5362958" y="4258908"/>
            <a:ext cx="1052207" cy="919811"/>
          </a:xfrm>
          <a:prstGeom prst="wedgeEllipseCallout">
            <a:avLst>
              <a:gd fmla="val -20833" name="adj1"/>
              <a:gd fmla="val 62500" name="adj2"/>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Montserrat"/>
              <a:ea typeface="Montserrat"/>
              <a:cs typeface="Montserrat"/>
              <a:sym typeface="Montserrat"/>
            </a:endParaRPr>
          </a:p>
        </p:txBody>
      </p:sp>
      <p:sp>
        <p:nvSpPr>
          <p:cNvPr id="1011" name="Google Shape;1011;p55"/>
          <p:cNvSpPr txBox="1"/>
          <p:nvPr/>
        </p:nvSpPr>
        <p:spPr>
          <a:xfrm>
            <a:off x="5353850" y="4445000"/>
            <a:ext cx="1070400" cy="59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How can we turn this into a record?</a:t>
            </a:r>
            <a:endParaRPr sz="1000">
              <a:solidFill>
                <a:schemeClr val="dk1"/>
              </a:solidFill>
              <a:latin typeface="Montserrat"/>
              <a:ea typeface="Montserrat"/>
              <a:cs typeface="Montserrat"/>
              <a:sym typeface="Montserrat"/>
            </a:endParaRPr>
          </a:p>
        </p:txBody>
      </p:sp>
      <p:sp>
        <p:nvSpPr>
          <p:cNvPr id="1012" name="Google Shape;1012;p55"/>
          <p:cNvSpPr/>
          <p:nvPr/>
        </p:nvSpPr>
        <p:spPr>
          <a:xfrm rot="-7322213">
            <a:off x="5122214" y="5601672"/>
            <a:ext cx="983477" cy="1300554"/>
          </a:xfrm>
          <a:prstGeom prst="wedgeEllipseCallout">
            <a:avLst>
              <a:gd fmla="val -20833" name="adj1"/>
              <a:gd fmla="val 62500" name="adj2"/>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900">
              <a:latin typeface="Montserrat"/>
              <a:ea typeface="Montserrat"/>
              <a:cs typeface="Montserrat"/>
              <a:sym typeface="Montserrat"/>
            </a:endParaRPr>
          </a:p>
        </p:txBody>
      </p:sp>
      <p:sp>
        <p:nvSpPr>
          <p:cNvPr id="1013" name="Google Shape;1013;p55"/>
          <p:cNvSpPr txBox="1"/>
          <p:nvPr/>
        </p:nvSpPr>
        <p:spPr>
          <a:xfrm>
            <a:off x="5078750" y="5917875"/>
            <a:ext cx="1070400" cy="69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000">
                <a:solidFill>
                  <a:schemeClr val="dk1"/>
                </a:solidFill>
                <a:latin typeface="Montserrat"/>
                <a:ea typeface="Montserrat"/>
                <a:cs typeface="Montserrat"/>
                <a:sym typeface="Montserrat"/>
              </a:rPr>
              <a:t>All validation records retain in Orcanos</a:t>
            </a:r>
            <a:endParaRPr b="1" sz="1000">
              <a:solidFill>
                <a:schemeClr val="dk1"/>
              </a:solidFill>
              <a:latin typeface="Montserrat"/>
              <a:ea typeface="Montserrat"/>
              <a:cs typeface="Montserrat"/>
              <a:sym typeface="Montserrat"/>
            </a:endParaRPr>
          </a:p>
        </p:txBody>
      </p:sp>
      <p:sp>
        <p:nvSpPr>
          <p:cNvPr id="1014" name="Google Shape;1014;p55"/>
          <p:cNvSpPr txBox="1"/>
          <p:nvPr/>
        </p:nvSpPr>
        <p:spPr>
          <a:xfrm>
            <a:off x="8931150" y="4346375"/>
            <a:ext cx="1342500" cy="253800"/>
          </a:xfrm>
          <a:prstGeom prst="rect">
            <a:avLst/>
          </a:prstGeom>
          <a:solidFill>
            <a:srgbClr val="C9DAF8"/>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Telepathology record</a:t>
            </a:r>
            <a:endParaRPr sz="900">
              <a:solidFill>
                <a:schemeClr val="dk1"/>
              </a:solidFill>
              <a:latin typeface="Montserrat"/>
              <a:ea typeface="Montserrat"/>
              <a:cs typeface="Montserrat"/>
              <a:sym typeface="Montserrat"/>
            </a:endParaRPr>
          </a:p>
        </p:txBody>
      </p:sp>
      <p:cxnSp>
        <p:nvCxnSpPr>
          <p:cNvPr id="1015" name="Google Shape;1015;p55"/>
          <p:cNvCxnSpPr>
            <a:stCxn id="959" idx="3"/>
            <a:endCxn id="1014" idx="1"/>
          </p:cNvCxnSpPr>
          <p:nvPr/>
        </p:nvCxnSpPr>
        <p:spPr>
          <a:xfrm>
            <a:off x="8328500" y="4473350"/>
            <a:ext cx="602700" cy="600"/>
          </a:xfrm>
          <a:prstGeom prst="bentConnector3">
            <a:avLst>
              <a:gd fmla="val 49996" name="adj1"/>
            </a:avLst>
          </a:prstGeom>
          <a:noFill/>
          <a:ln cap="flat" cmpd="sng" w="9525">
            <a:solidFill>
              <a:schemeClr val="dk2"/>
            </a:solidFill>
            <a:prstDash val="solid"/>
            <a:round/>
            <a:headEnd len="med" w="med" type="none"/>
            <a:tailEnd len="med" w="med" type="stealth"/>
          </a:ln>
        </p:spPr>
      </p:cxnSp>
      <p:cxnSp>
        <p:nvCxnSpPr>
          <p:cNvPr id="1016" name="Google Shape;1016;p55"/>
          <p:cNvCxnSpPr>
            <a:stCxn id="1014" idx="3"/>
            <a:endCxn id="970" idx="1"/>
          </p:cNvCxnSpPr>
          <p:nvPr/>
        </p:nvCxnSpPr>
        <p:spPr>
          <a:xfrm>
            <a:off x="10273650" y="4473275"/>
            <a:ext cx="372000" cy="600"/>
          </a:xfrm>
          <a:prstGeom prst="bentConnector3">
            <a:avLst>
              <a:gd fmla="val 49993" name="adj1"/>
            </a:avLst>
          </a:prstGeom>
          <a:noFill/>
          <a:ln cap="flat" cmpd="sng" w="9525">
            <a:solidFill>
              <a:schemeClr val="dk2"/>
            </a:solidFill>
            <a:prstDash val="solid"/>
            <a:round/>
            <a:headEnd len="med" w="med" type="none"/>
            <a:tailEnd len="med" w="med" type="stealth"/>
          </a:ln>
        </p:spPr>
      </p:cxnSp>
      <p:cxnSp>
        <p:nvCxnSpPr>
          <p:cNvPr id="1017" name="Google Shape;1017;p55"/>
          <p:cNvCxnSpPr>
            <a:stCxn id="1014" idx="0"/>
            <a:endCxn id="957" idx="2"/>
          </p:cNvCxnSpPr>
          <p:nvPr/>
        </p:nvCxnSpPr>
        <p:spPr>
          <a:xfrm flipH="1" rot="5400000">
            <a:off x="9363300" y="4107275"/>
            <a:ext cx="476100" cy="2100"/>
          </a:xfrm>
          <a:prstGeom prst="bentConnector3">
            <a:avLst>
              <a:gd fmla="val 50011" name="adj1"/>
            </a:avLst>
          </a:prstGeom>
          <a:noFill/>
          <a:ln cap="flat" cmpd="sng" w="9525">
            <a:solidFill>
              <a:schemeClr val="dk2"/>
            </a:solidFill>
            <a:prstDash val="solid"/>
            <a:round/>
            <a:headEnd len="med" w="med" type="none"/>
            <a:tailEnd len="med" w="med" type="stealth"/>
          </a:ln>
        </p:spPr>
      </p:cxnSp>
      <p:sp>
        <p:nvSpPr>
          <p:cNvPr id="1018" name="Google Shape;1018;p55"/>
          <p:cNvSpPr txBox="1"/>
          <p:nvPr/>
        </p:nvSpPr>
        <p:spPr>
          <a:xfrm>
            <a:off x="10948350" y="4673375"/>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GEN.50630</a:t>
            </a:r>
            <a:endParaRPr sz="900">
              <a:solidFill>
                <a:schemeClr val="dk1"/>
              </a:solidFill>
              <a:latin typeface="Montserrat"/>
              <a:ea typeface="Montserrat"/>
              <a:cs typeface="Montserrat"/>
              <a:sym typeface="Montserrat"/>
            </a:endParaRPr>
          </a:p>
        </p:txBody>
      </p:sp>
      <p:sp>
        <p:nvSpPr>
          <p:cNvPr id="1019" name="Google Shape;1019;p55"/>
          <p:cNvSpPr txBox="1"/>
          <p:nvPr/>
        </p:nvSpPr>
        <p:spPr>
          <a:xfrm>
            <a:off x="6909650" y="3935250"/>
            <a:ext cx="15894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COM.30550, .40250</a:t>
            </a:r>
            <a:endParaRPr sz="900">
              <a:solidFill>
                <a:schemeClr val="dk1"/>
              </a:solidFill>
              <a:latin typeface="Montserrat"/>
              <a:ea typeface="Montserrat"/>
              <a:cs typeface="Montserrat"/>
              <a:sym typeface="Montserrat"/>
            </a:endParaRPr>
          </a:p>
        </p:txBody>
      </p:sp>
      <p:sp>
        <p:nvSpPr>
          <p:cNvPr id="1020" name="Google Shape;1020;p55"/>
          <p:cNvSpPr txBox="1"/>
          <p:nvPr/>
        </p:nvSpPr>
        <p:spPr>
          <a:xfrm>
            <a:off x="7202750" y="2972638"/>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GEN.40475</a:t>
            </a:r>
            <a:endParaRPr sz="900">
              <a:solidFill>
                <a:schemeClr val="dk1"/>
              </a:solidFill>
              <a:latin typeface="Montserrat"/>
              <a:ea typeface="Montserrat"/>
              <a:cs typeface="Montserrat"/>
              <a:sym typeface="Montserrat"/>
            </a:endParaRPr>
          </a:p>
        </p:txBody>
      </p:sp>
      <p:sp>
        <p:nvSpPr>
          <p:cNvPr id="1021" name="Google Shape;1021;p55"/>
          <p:cNvSpPr txBox="1"/>
          <p:nvPr/>
        </p:nvSpPr>
        <p:spPr>
          <a:xfrm>
            <a:off x="7376725" y="5218275"/>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GEN.40475</a:t>
            </a:r>
            <a:endParaRPr sz="900">
              <a:solidFill>
                <a:schemeClr val="dk1"/>
              </a:solidFill>
              <a:latin typeface="Montserrat"/>
              <a:ea typeface="Montserrat"/>
              <a:cs typeface="Montserrat"/>
              <a:sym typeface="Montserrat"/>
            </a:endParaRPr>
          </a:p>
        </p:txBody>
      </p:sp>
      <p:sp>
        <p:nvSpPr>
          <p:cNvPr id="1022" name="Google Shape;1022;p55"/>
          <p:cNvSpPr txBox="1"/>
          <p:nvPr/>
        </p:nvSpPr>
        <p:spPr>
          <a:xfrm>
            <a:off x="3593725" y="2947875"/>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GEN.52920</a:t>
            </a:r>
            <a:endParaRPr sz="900">
              <a:solidFill>
                <a:schemeClr val="dk1"/>
              </a:solidFill>
              <a:latin typeface="Montserrat"/>
              <a:ea typeface="Montserrat"/>
              <a:cs typeface="Montserrat"/>
              <a:sym typeface="Montserrat"/>
            </a:endParaRPr>
          </a:p>
        </p:txBody>
      </p:sp>
      <p:sp>
        <p:nvSpPr>
          <p:cNvPr id="1023" name="Google Shape;1023;p55"/>
          <p:cNvSpPr txBox="1"/>
          <p:nvPr/>
        </p:nvSpPr>
        <p:spPr>
          <a:xfrm>
            <a:off x="10454650" y="3237425"/>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GEN.52920</a:t>
            </a:r>
            <a:endParaRPr sz="900">
              <a:solidFill>
                <a:schemeClr val="dk1"/>
              </a:solidFill>
              <a:latin typeface="Montserrat"/>
              <a:ea typeface="Montserrat"/>
              <a:cs typeface="Montserrat"/>
              <a:sym typeface="Montserrat"/>
            </a:endParaRPr>
          </a:p>
        </p:txBody>
      </p:sp>
      <p:sp>
        <p:nvSpPr>
          <p:cNvPr id="1024" name="Google Shape;1024;p55"/>
          <p:cNvSpPr txBox="1"/>
          <p:nvPr/>
        </p:nvSpPr>
        <p:spPr>
          <a:xfrm>
            <a:off x="154825" y="4305350"/>
            <a:ext cx="2421600" cy="19491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900" u="sng">
                <a:solidFill>
                  <a:schemeClr val="dk1"/>
                </a:solidFill>
                <a:latin typeface="Montserrat"/>
                <a:ea typeface="Montserrat"/>
                <a:cs typeface="Montserrat"/>
                <a:sym typeface="Montserrat"/>
              </a:rPr>
              <a:t>CAP</a:t>
            </a:r>
            <a:endParaRPr b="1" sz="900" u="sng">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GEN.50630 Telepathology validation</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GEN.52920 WSI validation</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COM.40475 Method validation</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COM.40640 - LDT, when applicable</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Equipment validation: </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COM.30550 &amp; COM.40250</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Intg: GEN.42195 “Remote LIS” testing</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Record retention</a:t>
            </a:r>
            <a:endParaRPr sz="900">
              <a:solidFill>
                <a:schemeClr val="dk1"/>
              </a:solidFill>
              <a:latin typeface="Montserrat"/>
              <a:ea typeface="Montserrat"/>
              <a:cs typeface="Montserrat"/>
              <a:sym typeface="Montserrat"/>
            </a:endParaRPr>
          </a:p>
          <a:p>
            <a:pPr indent="0" lvl="0" marL="0" rtl="0" algn="l">
              <a:spcBef>
                <a:spcPts val="0"/>
              </a:spcBef>
              <a:spcAft>
                <a:spcPts val="0"/>
              </a:spcAft>
              <a:buNone/>
            </a:pPr>
            <a:r>
              <a:rPr lang="en-US" sz="900">
                <a:solidFill>
                  <a:schemeClr val="dk1"/>
                </a:solidFill>
                <a:latin typeface="Montserrat"/>
                <a:ea typeface="Montserrat"/>
                <a:cs typeface="Montserrat"/>
                <a:sym typeface="Montserrat"/>
              </a:rPr>
              <a:t>GEN.20377 lifetime + 2 years</a:t>
            </a:r>
            <a:endParaRPr sz="900">
              <a:solidFill>
                <a:schemeClr val="dk1"/>
              </a:solidFill>
              <a:latin typeface="Montserrat"/>
              <a:ea typeface="Montserrat"/>
              <a:cs typeface="Montserrat"/>
              <a:sym typeface="Montserrat"/>
            </a:endParaRPr>
          </a:p>
        </p:txBody>
      </p:sp>
      <p:sp>
        <p:nvSpPr>
          <p:cNvPr id="1025" name="Google Shape;1025;p55"/>
          <p:cNvSpPr txBox="1"/>
          <p:nvPr/>
        </p:nvSpPr>
        <p:spPr>
          <a:xfrm>
            <a:off x="3996738" y="5978475"/>
            <a:ext cx="1003200" cy="204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GEN.42195</a:t>
            </a:r>
            <a:endParaRPr sz="9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30" name="Shape 1030"/>
        <p:cNvGrpSpPr/>
        <p:nvPr/>
      </p:nvGrpSpPr>
      <p:grpSpPr>
        <a:xfrm>
          <a:off x="0" y="0"/>
          <a:ext cx="0" cy="0"/>
          <a:chOff x="0" y="0"/>
          <a:chExt cx="0" cy="0"/>
        </a:xfrm>
      </p:grpSpPr>
      <p:sp>
        <p:nvSpPr>
          <p:cNvPr id="1031" name="Google Shape;1031;p56"/>
          <p:cNvSpPr txBox="1"/>
          <p:nvPr>
            <p:ph type="title"/>
          </p:nvPr>
        </p:nvSpPr>
        <p:spPr>
          <a:xfrm>
            <a:off x="593725" y="331475"/>
            <a:ext cx="99756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Audfdn-107271 - </a:t>
            </a:r>
            <a:r>
              <a:rPr i="1" lang="en-US"/>
              <a:t>investigation</a:t>
            </a:r>
            <a:endParaRPr i="1"/>
          </a:p>
        </p:txBody>
      </p:sp>
      <p:sp>
        <p:nvSpPr>
          <p:cNvPr id="1032" name="Google Shape;1032;p56"/>
          <p:cNvSpPr txBox="1"/>
          <p:nvPr/>
        </p:nvSpPr>
        <p:spPr>
          <a:xfrm>
            <a:off x="4608875" y="3560300"/>
            <a:ext cx="3881700" cy="11070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e-QMS documentation</a:t>
            </a:r>
            <a:endParaRPr sz="16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n-US" sz="1200">
                <a:solidFill>
                  <a:schemeClr val="dk1"/>
                </a:solidFill>
                <a:latin typeface="Montserrat"/>
                <a:ea typeface="Montserrat"/>
                <a:cs typeface="Montserrat"/>
                <a:sym typeface="Montserrat"/>
              </a:rPr>
              <a:t>Record keeping outside IMS</a:t>
            </a:r>
            <a:endParaRPr sz="1200">
              <a:solidFill>
                <a:schemeClr val="dk1"/>
              </a:solidFill>
              <a:latin typeface="Montserrat"/>
              <a:ea typeface="Montserrat"/>
              <a:cs typeface="Montserrat"/>
              <a:sym typeface="Montserrat"/>
            </a:endParaRPr>
          </a:p>
          <a:p>
            <a:pPr indent="-304800" lvl="0" marL="457200" rtl="0" algn="l">
              <a:spcBef>
                <a:spcPts val="0"/>
              </a:spcBef>
              <a:spcAft>
                <a:spcPts val="0"/>
              </a:spcAft>
              <a:buClr>
                <a:schemeClr val="dk1"/>
              </a:buClr>
              <a:buSzPts val="1200"/>
              <a:buFont typeface="Montserrat"/>
              <a:buChar char="➔"/>
            </a:pPr>
            <a:r>
              <a:rPr lang="en-US" sz="1200">
                <a:solidFill>
                  <a:schemeClr val="dk1"/>
                </a:solidFill>
                <a:latin typeface="Montserrat"/>
                <a:ea typeface="Montserrat"/>
                <a:cs typeface="Montserrat"/>
                <a:sym typeface="Montserrat"/>
              </a:rPr>
              <a:t>SOPs misaligned to current DGX model</a:t>
            </a:r>
            <a:endParaRPr sz="1200">
              <a:solidFill>
                <a:schemeClr val="dk1"/>
              </a:solidFill>
              <a:latin typeface="Montserrat"/>
              <a:ea typeface="Montserrat"/>
              <a:cs typeface="Montserrat"/>
              <a:sym typeface="Montserrat"/>
            </a:endParaRPr>
          </a:p>
        </p:txBody>
      </p:sp>
      <p:sp>
        <p:nvSpPr>
          <p:cNvPr id="1033" name="Google Shape;1033;p56"/>
          <p:cNvSpPr txBox="1"/>
          <p:nvPr/>
        </p:nvSpPr>
        <p:spPr>
          <a:xfrm>
            <a:off x="1539875" y="1578300"/>
            <a:ext cx="4312800" cy="1107000"/>
          </a:xfrm>
          <a:prstGeom prst="rect">
            <a:avLst/>
          </a:prstGeom>
          <a:solidFill>
            <a:srgbClr val="F4CC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Failure to meet requirements</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b="1" lang="en-US" sz="1600">
                <a:solidFill>
                  <a:schemeClr val="dk1"/>
                </a:solidFill>
                <a:latin typeface="Montserrat"/>
                <a:ea typeface="Montserrat"/>
                <a:cs typeface="Montserrat"/>
                <a:sym typeface="Montserrat"/>
              </a:rPr>
              <a:t>FDA</a:t>
            </a:r>
            <a:r>
              <a:rPr lang="en-US" sz="1600">
                <a:solidFill>
                  <a:schemeClr val="dk1"/>
                </a:solidFill>
                <a:latin typeface="Montserrat"/>
                <a:ea typeface="Montserrat"/>
                <a:cs typeface="Montserrat"/>
                <a:sym typeface="Montserrat"/>
              </a:rPr>
              <a:t>: RUO equipment in clinical Dx</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b="1" lang="en-US" sz="1600">
                <a:solidFill>
                  <a:schemeClr val="dk1"/>
                </a:solidFill>
                <a:latin typeface="Montserrat"/>
                <a:ea typeface="Montserrat"/>
                <a:cs typeface="Montserrat"/>
                <a:sym typeface="Montserrat"/>
              </a:rPr>
              <a:t>CLIA/CAP</a:t>
            </a:r>
            <a:r>
              <a:rPr lang="en-US" sz="1600">
                <a:solidFill>
                  <a:schemeClr val="dk1"/>
                </a:solidFill>
                <a:latin typeface="Montserrat"/>
                <a:ea typeface="Montserrat"/>
                <a:cs typeface="Montserrat"/>
                <a:sym typeface="Montserrat"/>
              </a:rPr>
              <a:t> regulatory req - evidence</a:t>
            </a:r>
            <a:endParaRPr sz="1600">
              <a:solidFill>
                <a:schemeClr val="dk1"/>
              </a:solidFill>
              <a:latin typeface="Montserrat"/>
              <a:ea typeface="Montserrat"/>
              <a:cs typeface="Montserrat"/>
              <a:sym typeface="Montserrat"/>
            </a:endParaRPr>
          </a:p>
        </p:txBody>
      </p:sp>
      <p:sp>
        <p:nvSpPr>
          <p:cNvPr id="1034" name="Google Shape;1034;p56"/>
          <p:cNvSpPr txBox="1"/>
          <p:nvPr/>
        </p:nvSpPr>
        <p:spPr>
          <a:xfrm>
            <a:off x="7286950" y="1521525"/>
            <a:ext cx="4170900" cy="11070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Diagnexia LIS - Security</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lang="en-US" sz="1600">
                <a:solidFill>
                  <a:schemeClr val="dk1"/>
                </a:solidFill>
                <a:latin typeface="Montserrat"/>
                <a:ea typeface="Montserrat"/>
                <a:cs typeface="Montserrat"/>
                <a:sym typeface="Montserrat"/>
              </a:rPr>
              <a:t>Vendor intg - testing record(s)</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lang="en-US" sz="1600">
                <a:solidFill>
                  <a:schemeClr val="dk1"/>
                </a:solidFill>
                <a:latin typeface="Montserrat"/>
                <a:ea typeface="Montserrat"/>
                <a:cs typeface="Montserrat"/>
                <a:sym typeface="Montserrat"/>
              </a:rPr>
              <a:t>BC / Security </a:t>
            </a:r>
            <a:r>
              <a:rPr i="1" lang="en-US" sz="1100">
                <a:solidFill>
                  <a:schemeClr val="dk1"/>
                </a:solidFill>
                <a:latin typeface="Montserrat"/>
                <a:ea typeface="Montserrat"/>
                <a:cs typeface="Montserrat"/>
                <a:sym typeface="Montserrat"/>
              </a:rPr>
              <a:t>(UK → IL → customer)</a:t>
            </a:r>
            <a:endParaRPr i="1" sz="1100">
              <a:solidFill>
                <a:schemeClr val="dk1"/>
              </a:solidFill>
              <a:latin typeface="Montserrat"/>
              <a:ea typeface="Montserrat"/>
              <a:cs typeface="Montserrat"/>
              <a:sym typeface="Montserrat"/>
            </a:endParaRPr>
          </a:p>
        </p:txBody>
      </p:sp>
      <p:sp>
        <p:nvSpPr>
          <p:cNvPr id="1035" name="Google Shape;1035;p56"/>
          <p:cNvSpPr txBox="1"/>
          <p:nvPr/>
        </p:nvSpPr>
        <p:spPr>
          <a:xfrm>
            <a:off x="1539875" y="1331700"/>
            <a:ext cx="1781400" cy="24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ontserrat"/>
                <a:ea typeface="Montserrat"/>
                <a:cs typeface="Montserrat"/>
                <a:sym typeface="Montserrat"/>
              </a:rPr>
              <a:t>CAPA - 107823</a:t>
            </a:r>
            <a:endParaRPr sz="1600">
              <a:solidFill>
                <a:schemeClr val="dk1"/>
              </a:solidFill>
              <a:latin typeface="Montserrat"/>
              <a:ea typeface="Montserrat"/>
              <a:cs typeface="Montserrat"/>
              <a:sym typeface="Montserrat"/>
            </a:endParaRPr>
          </a:p>
        </p:txBody>
      </p:sp>
      <p:sp>
        <p:nvSpPr>
          <p:cNvPr id="1036" name="Google Shape;1036;p56"/>
          <p:cNvSpPr txBox="1"/>
          <p:nvPr/>
        </p:nvSpPr>
        <p:spPr>
          <a:xfrm>
            <a:off x="7286950" y="1274925"/>
            <a:ext cx="1781400" cy="24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ontserrat"/>
                <a:ea typeface="Montserrat"/>
                <a:cs typeface="Montserrat"/>
                <a:sym typeface="Montserrat"/>
              </a:rPr>
              <a:t>CAPA - 107829</a:t>
            </a:r>
            <a:endParaRPr sz="1600">
              <a:solidFill>
                <a:schemeClr val="dk1"/>
              </a:solidFill>
              <a:latin typeface="Montserrat"/>
              <a:ea typeface="Montserrat"/>
              <a:cs typeface="Montserrat"/>
              <a:sym typeface="Montserrat"/>
            </a:endParaRPr>
          </a:p>
        </p:txBody>
      </p:sp>
      <p:cxnSp>
        <p:nvCxnSpPr>
          <p:cNvPr id="1037" name="Google Shape;1037;p56"/>
          <p:cNvCxnSpPr>
            <a:stCxn id="1033" idx="2"/>
            <a:endCxn id="1032" idx="0"/>
          </p:cNvCxnSpPr>
          <p:nvPr/>
        </p:nvCxnSpPr>
        <p:spPr>
          <a:xfrm flipH="1" rot="-5400000">
            <a:off x="4685525" y="1696050"/>
            <a:ext cx="875100" cy="2853600"/>
          </a:xfrm>
          <a:prstGeom prst="bentConnector3">
            <a:avLst>
              <a:gd fmla="val 46543" name="adj1"/>
            </a:avLst>
          </a:prstGeom>
          <a:noFill/>
          <a:ln cap="flat" cmpd="sng" w="9525">
            <a:solidFill>
              <a:schemeClr val="dk2"/>
            </a:solidFill>
            <a:prstDash val="solid"/>
            <a:round/>
            <a:headEnd len="med" w="med" type="none"/>
            <a:tailEnd len="med" w="med" type="triangle"/>
          </a:ln>
        </p:spPr>
      </p:cxnSp>
      <p:cxnSp>
        <p:nvCxnSpPr>
          <p:cNvPr id="1038" name="Google Shape;1038;p56"/>
          <p:cNvCxnSpPr>
            <a:stCxn id="1034" idx="2"/>
            <a:endCxn id="1032" idx="0"/>
          </p:cNvCxnSpPr>
          <p:nvPr/>
        </p:nvCxnSpPr>
        <p:spPr>
          <a:xfrm rot="5400000">
            <a:off x="7495150" y="1683075"/>
            <a:ext cx="931800" cy="2822700"/>
          </a:xfrm>
          <a:prstGeom prst="bentConnector3">
            <a:avLst>
              <a:gd fmla="val 49999" name="adj1"/>
            </a:avLst>
          </a:prstGeom>
          <a:noFill/>
          <a:ln cap="flat" cmpd="sng" w="9525">
            <a:solidFill>
              <a:schemeClr val="dk2"/>
            </a:solidFill>
            <a:prstDash val="solid"/>
            <a:round/>
            <a:headEnd len="med" w="med" type="none"/>
            <a:tailEnd len="med" w="med" type="triangle"/>
          </a:ln>
        </p:spPr>
      </p:cxnSp>
      <p:sp>
        <p:nvSpPr>
          <p:cNvPr id="1039" name="Google Shape;1039;p56"/>
          <p:cNvSpPr txBox="1"/>
          <p:nvPr/>
        </p:nvSpPr>
        <p:spPr>
          <a:xfrm>
            <a:off x="6094175" y="5226025"/>
            <a:ext cx="911100" cy="372000"/>
          </a:xfrm>
          <a:prstGeom prst="rect">
            <a:avLst/>
          </a:prstGeom>
          <a:solidFill>
            <a:srgbClr val="C9DAF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DoE</a:t>
            </a:r>
            <a:endParaRPr sz="1600">
              <a:solidFill>
                <a:schemeClr val="dk1"/>
              </a:solidFill>
              <a:latin typeface="Montserrat"/>
              <a:ea typeface="Montserrat"/>
              <a:cs typeface="Montserrat"/>
              <a:sym typeface="Montserrat"/>
            </a:endParaRPr>
          </a:p>
        </p:txBody>
      </p:sp>
      <p:sp>
        <p:nvSpPr>
          <p:cNvPr id="1040" name="Google Shape;1040;p56"/>
          <p:cNvSpPr txBox="1"/>
          <p:nvPr/>
        </p:nvSpPr>
        <p:spPr>
          <a:xfrm>
            <a:off x="895475" y="5073100"/>
            <a:ext cx="2238600" cy="648600"/>
          </a:xfrm>
          <a:prstGeom prst="rect">
            <a:avLst/>
          </a:prstGeom>
          <a:solidFill>
            <a:srgbClr val="C9DAF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Growth</a:t>
            </a:r>
            <a:r>
              <a:rPr lang="en-US" sz="1600">
                <a:solidFill>
                  <a:schemeClr val="dk1"/>
                </a:solidFill>
                <a:latin typeface="Montserrat"/>
                <a:ea typeface="Montserrat"/>
                <a:cs typeface="Montserrat"/>
                <a:sym typeface="Montserrat"/>
              </a:rPr>
              <a:t>: Global approach</a:t>
            </a:r>
            <a:endParaRPr sz="1600">
              <a:solidFill>
                <a:schemeClr val="dk1"/>
              </a:solidFill>
              <a:latin typeface="Montserrat"/>
              <a:ea typeface="Montserrat"/>
              <a:cs typeface="Montserrat"/>
              <a:sym typeface="Montserrat"/>
            </a:endParaRPr>
          </a:p>
        </p:txBody>
      </p:sp>
      <p:sp>
        <p:nvSpPr>
          <p:cNvPr id="1041" name="Google Shape;1041;p56"/>
          <p:cNvSpPr txBox="1"/>
          <p:nvPr/>
        </p:nvSpPr>
        <p:spPr>
          <a:xfrm>
            <a:off x="9922675" y="5073100"/>
            <a:ext cx="1722900" cy="648600"/>
          </a:xfrm>
          <a:prstGeom prst="rect">
            <a:avLst/>
          </a:prstGeom>
          <a:solidFill>
            <a:srgbClr val="C9DAF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Glossary of Terms</a:t>
            </a:r>
            <a:endParaRPr sz="1600">
              <a:solidFill>
                <a:schemeClr val="dk1"/>
              </a:solidFill>
              <a:latin typeface="Montserrat"/>
              <a:ea typeface="Montserrat"/>
              <a:cs typeface="Montserrat"/>
              <a:sym typeface="Montserrat"/>
            </a:endParaRPr>
          </a:p>
        </p:txBody>
      </p:sp>
      <p:sp>
        <p:nvSpPr>
          <p:cNvPr id="1042" name="Google Shape;1042;p56"/>
          <p:cNvSpPr txBox="1"/>
          <p:nvPr/>
        </p:nvSpPr>
        <p:spPr>
          <a:xfrm>
            <a:off x="7591850" y="5073100"/>
            <a:ext cx="1722900" cy="648600"/>
          </a:xfrm>
          <a:prstGeom prst="rect">
            <a:avLst/>
          </a:prstGeom>
          <a:solidFill>
            <a:srgbClr val="C9DAF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Inefficient use of Tools</a:t>
            </a:r>
            <a:endParaRPr sz="1600">
              <a:solidFill>
                <a:schemeClr val="dk1"/>
              </a:solidFill>
              <a:latin typeface="Montserrat"/>
              <a:ea typeface="Montserrat"/>
              <a:cs typeface="Montserrat"/>
              <a:sym typeface="Montserrat"/>
            </a:endParaRPr>
          </a:p>
        </p:txBody>
      </p:sp>
      <p:sp>
        <p:nvSpPr>
          <p:cNvPr id="1043" name="Google Shape;1043;p56"/>
          <p:cNvSpPr txBox="1"/>
          <p:nvPr/>
        </p:nvSpPr>
        <p:spPr>
          <a:xfrm>
            <a:off x="3742000" y="5073100"/>
            <a:ext cx="1722900" cy="648600"/>
          </a:xfrm>
          <a:prstGeom prst="rect">
            <a:avLst/>
          </a:prstGeom>
          <a:solidFill>
            <a:srgbClr val="C9DAF8"/>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600">
                <a:solidFill>
                  <a:schemeClr val="dk1"/>
                </a:solidFill>
                <a:latin typeface="Montserrat"/>
                <a:ea typeface="Montserrat"/>
                <a:cs typeface="Montserrat"/>
                <a:sym typeface="Montserrat"/>
              </a:rPr>
              <a:t>RA</a:t>
            </a:r>
            <a:r>
              <a:rPr lang="en-US" sz="1600">
                <a:solidFill>
                  <a:schemeClr val="dk1"/>
                </a:solidFill>
                <a:latin typeface="Montserrat"/>
                <a:ea typeface="Montserrat"/>
                <a:cs typeface="Montserrat"/>
                <a:sym typeface="Montserrat"/>
              </a:rPr>
              <a:t>: Drive intended use</a:t>
            </a:r>
            <a:endParaRPr sz="1600">
              <a:solidFill>
                <a:schemeClr val="dk1"/>
              </a:solidFill>
              <a:latin typeface="Montserrat"/>
              <a:ea typeface="Montserrat"/>
              <a:cs typeface="Montserrat"/>
              <a:sym typeface="Montserrat"/>
            </a:endParaRPr>
          </a:p>
        </p:txBody>
      </p:sp>
      <p:sp>
        <p:nvSpPr>
          <p:cNvPr id="1044" name="Google Shape;1044;p56"/>
          <p:cNvSpPr txBox="1"/>
          <p:nvPr/>
        </p:nvSpPr>
        <p:spPr>
          <a:xfrm>
            <a:off x="843575" y="5782200"/>
            <a:ext cx="2290500" cy="558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Validation Policy</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Req are different in each country - align at higher level</a:t>
            </a:r>
            <a:endParaRPr i="1" sz="1100">
              <a:solidFill>
                <a:srgbClr val="9E9E9E"/>
              </a:solidFill>
              <a:latin typeface="Montserrat"/>
              <a:ea typeface="Montserrat"/>
              <a:cs typeface="Montserrat"/>
              <a:sym typeface="Montserrat"/>
            </a:endParaRPr>
          </a:p>
        </p:txBody>
      </p:sp>
      <p:sp>
        <p:nvSpPr>
          <p:cNvPr id="1045" name="Google Shape;1045;p56"/>
          <p:cNvSpPr txBox="1"/>
          <p:nvPr/>
        </p:nvSpPr>
        <p:spPr>
          <a:xfrm>
            <a:off x="3669850" y="5712300"/>
            <a:ext cx="1946400" cy="875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Regulatory Statement</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Bring clarity &amp; unify all regions to common Intended use</a:t>
            </a:r>
            <a:endParaRPr i="1" sz="1100">
              <a:solidFill>
                <a:srgbClr val="9E9E9E"/>
              </a:solidFill>
              <a:latin typeface="Montserrat"/>
              <a:ea typeface="Montserrat"/>
              <a:cs typeface="Montserrat"/>
              <a:sym typeface="Montserrat"/>
            </a:endParaRPr>
          </a:p>
        </p:txBody>
      </p:sp>
      <p:sp>
        <p:nvSpPr>
          <p:cNvPr id="1046" name="Google Shape;1046;p56"/>
          <p:cNvSpPr txBox="1"/>
          <p:nvPr/>
        </p:nvSpPr>
        <p:spPr>
          <a:xfrm>
            <a:off x="5852675" y="5750850"/>
            <a:ext cx="1495800" cy="75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Validation Plan</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Focus testing per region to meet local req</a:t>
            </a:r>
            <a:endParaRPr i="1" sz="1100">
              <a:solidFill>
                <a:srgbClr val="9E9E9E"/>
              </a:solidFill>
              <a:latin typeface="Montserrat"/>
              <a:ea typeface="Montserrat"/>
              <a:cs typeface="Montserrat"/>
              <a:sym typeface="Montserrat"/>
            </a:endParaRPr>
          </a:p>
        </p:txBody>
      </p:sp>
      <p:sp>
        <p:nvSpPr>
          <p:cNvPr id="1047" name="Google Shape;1047;p56"/>
          <p:cNvSpPr txBox="1"/>
          <p:nvPr/>
        </p:nvSpPr>
        <p:spPr>
          <a:xfrm>
            <a:off x="7591950" y="5782200"/>
            <a:ext cx="1722900" cy="372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Orcanos &amp; DocuSign</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Under utilization</a:t>
            </a:r>
            <a:endParaRPr i="1" sz="1100">
              <a:solidFill>
                <a:srgbClr val="9E9E9E"/>
              </a:solidFill>
              <a:latin typeface="Montserrat"/>
              <a:ea typeface="Montserrat"/>
              <a:cs typeface="Montserrat"/>
              <a:sym typeface="Montserrat"/>
            </a:endParaRPr>
          </a:p>
        </p:txBody>
      </p:sp>
      <p:sp>
        <p:nvSpPr>
          <p:cNvPr id="1048" name="Google Shape;1048;p56"/>
          <p:cNvSpPr txBox="1"/>
          <p:nvPr/>
        </p:nvSpPr>
        <p:spPr>
          <a:xfrm>
            <a:off x="9893425" y="5750850"/>
            <a:ext cx="1781400" cy="60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Align terms to testing objectives</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Mixing of terms</a:t>
            </a:r>
            <a:endParaRPr i="1" sz="1100">
              <a:solidFill>
                <a:srgbClr val="9E9E9E"/>
              </a:solidFill>
              <a:latin typeface="Montserrat"/>
              <a:ea typeface="Montserrat"/>
              <a:cs typeface="Montserrat"/>
              <a:sym typeface="Montserrat"/>
            </a:endParaRPr>
          </a:p>
        </p:txBody>
      </p:sp>
      <p:sp>
        <p:nvSpPr>
          <p:cNvPr id="1049" name="Google Shape;1049;p56"/>
          <p:cNvSpPr txBox="1"/>
          <p:nvPr/>
        </p:nvSpPr>
        <p:spPr>
          <a:xfrm rot="-5400000">
            <a:off x="420875" y="5290300"/>
            <a:ext cx="639900" cy="205500"/>
          </a:xfrm>
          <a:prstGeom prst="rect">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RCA</a:t>
            </a:r>
            <a:endParaRPr sz="1000">
              <a:solidFill>
                <a:schemeClr val="dk1"/>
              </a:solidFill>
              <a:latin typeface="Montserrat"/>
              <a:ea typeface="Montserrat"/>
              <a:cs typeface="Montserrat"/>
              <a:sym typeface="Montserrat"/>
            </a:endParaRPr>
          </a:p>
        </p:txBody>
      </p:sp>
      <p:sp>
        <p:nvSpPr>
          <p:cNvPr id="1050" name="Google Shape;1050;p56"/>
          <p:cNvSpPr txBox="1"/>
          <p:nvPr/>
        </p:nvSpPr>
        <p:spPr>
          <a:xfrm rot="-5400000">
            <a:off x="3825050" y="3920900"/>
            <a:ext cx="1103400" cy="3807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Common Causes</a:t>
            </a:r>
            <a:endParaRPr sz="900">
              <a:solidFill>
                <a:schemeClr val="dk1"/>
              </a:solidFill>
              <a:latin typeface="Montserrat"/>
              <a:ea typeface="Montserrat"/>
              <a:cs typeface="Montserrat"/>
              <a:sym typeface="Montserrat"/>
            </a:endParaRPr>
          </a:p>
        </p:txBody>
      </p:sp>
      <p:cxnSp>
        <p:nvCxnSpPr>
          <p:cNvPr id="1051" name="Google Shape;1051;p56"/>
          <p:cNvCxnSpPr>
            <a:stCxn id="1032" idx="2"/>
            <a:endCxn id="1040" idx="0"/>
          </p:cNvCxnSpPr>
          <p:nvPr/>
        </p:nvCxnSpPr>
        <p:spPr>
          <a:xfrm rot="5400000">
            <a:off x="4079225" y="2602700"/>
            <a:ext cx="405900" cy="4535100"/>
          </a:xfrm>
          <a:prstGeom prst="bentConnector3">
            <a:avLst>
              <a:gd fmla="val 49988" name="adj1"/>
            </a:avLst>
          </a:prstGeom>
          <a:noFill/>
          <a:ln cap="flat" cmpd="sng" w="9525">
            <a:solidFill>
              <a:srgbClr val="C9DAF8"/>
            </a:solidFill>
            <a:prstDash val="dash"/>
            <a:round/>
            <a:headEnd len="med" w="med" type="none"/>
            <a:tailEnd len="med" w="med" type="triangle"/>
          </a:ln>
        </p:spPr>
      </p:cxnSp>
      <p:cxnSp>
        <p:nvCxnSpPr>
          <p:cNvPr id="1052" name="Google Shape;1052;p56"/>
          <p:cNvCxnSpPr>
            <a:stCxn id="1032" idx="2"/>
            <a:endCxn id="1043" idx="0"/>
          </p:cNvCxnSpPr>
          <p:nvPr/>
        </p:nvCxnSpPr>
        <p:spPr>
          <a:xfrm rot="5400000">
            <a:off x="5373575" y="3897050"/>
            <a:ext cx="405900" cy="1946400"/>
          </a:xfrm>
          <a:prstGeom prst="bentConnector3">
            <a:avLst>
              <a:gd fmla="val 49988" name="adj1"/>
            </a:avLst>
          </a:prstGeom>
          <a:noFill/>
          <a:ln cap="flat" cmpd="sng" w="9525">
            <a:solidFill>
              <a:srgbClr val="C9DAF8"/>
            </a:solidFill>
            <a:prstDash val="dash"/>
            <a:round/>
            <a:headEnd len="med" w="med" type="none"/>
            <a:tailEnd len="med" w="med" type="triangle"/>
          </a:ln>
        </p:spPr>
      </p:cxnSp>
      <p:cxnSp>
        <p:nvCxnSpPr>
          <p:cNvPr id="1053" name="Google Shape;1053;p56"/>
          <p:cNvCxnSpPr>
            <a:stCxn id="1032" idx="2"/>
            <a:endCxn id="1039" idx="0"/>
          </p:cNvCxnSpPr>
          <p:nvPr/>
        </p:nvCxnSpPr>
        <p:spPr>
          <a:xfrm flipH="1" rot="-5400000">
            <a:off x="6270725" y="4946300"/>
            <a:ext cx="558600" cy="600"/>
          </a:xfrm>
          <a:prstGeom prst="bentConnector3">
            <a:avLst>
              <a:gd fmla="val 50011" name="adj1"/>
            </a:avLst>
          </a:prstGeom>
          <a:noFill/>
          <a:ln cap="flat" cmpd="sng" w="9525">
            <a:solidFill>
              <a:srgbClr val="C9DAF8"/>
            </a:solidFill>
            <a:prstDash val="dash"/>
            <a:round/>
            <a:headEnd len="med" w="med" type="none"/>
            <a:tailEnd len="med" w="med" type="triangle"/>
          </a:ln>
        </p:spPr>
      </p:cxnSp>
      <p:cxnSp>
        <p:nvCxnSpPr>
          <p:cNvPr id="1054" name="Google Shape;1054;p56"/>
          <p:cNvCxnSpPr>
            <a:stCxn id="1032" idx="2"/>
            <a:endCxn id="1042" idx="0"/>
          </p:cNvCxnSpPr>
          <p:nvPr/>
        </p:nvCxnSpPr>
        <p:spPr>
          <a:xfrm flipH="1" rot="-5400000">
            <a:off x="7298525" y="3918500"/>
            <a:ext cx="405900" cy="1903500"/>
          </a:xfrm>
          <a:prstGeom prst="bentConnector3">
            <a:avLst>
              <a:gd fmla="val 49988" name="adj1"/>
            </a:avLst>
          </a:prstGeom>
          <a:noFill/>
          <a:ln cap="flat" cmpd="sng" w="9525">
            <a:solidFill>
              <a:srgbClr val="C9DAF8"/>
            </a:solidFill>
            <a:prstDash val="dash"/>
            <a:round/>
            <a:headEnd len="med" w="med" type="none"/>
            <a:tailEnd len="med" w="med" type="triangle"/>
          </a:ln>
        </p:spPr>
      </p:cxnSp>
      <p:cxnSp>
        <p:nvCxnSpPr>
          <p:cNvPr id="1055" name="Google Shape;1055;p56"/>
          <p:cNvCxnSpPr>
            <a:stCxn id="1032" idx="2"/>
            <a:endCxn id="1041" idx="0"/>
          </p:cNvCxnSpPr>
          <p:nvPr/>
        </p:nvCxnSpPr>
        <p:spPr>
          <a:xfrm flipH="1" rot="-5400000">
            <a:off x="8464025" y="2753000"/>
            <a:ext cx="405900" cy="4234500"/>
          </a:xfrm>
          <a:prstGeom prst="bentConnector3">
            <a:avLst>
              <a:gd fmla="val 49988" name="adj1"/>
            </a:avLst>
          </a:prstGeom>
          <a:noFill/>
          <a:ln cap="flat" cmpd="sng" w="9525">
            <a:solidFill>
              <a:srgbClr val="C9DAF8"/>
            </a:solidFill>
            <a:prstDash val="dash"/>
            <a:round/>
            <a:headEnd len="med" w="med" type="none"/>
            <a:tailEnd len="med" w="med" type="triangle"/>
          </a:ln>
        </p:spPr>
      </p:cxnSp>
      <p:sp>
        <p:nvSpPr>
          <p:cNvPr id="1056" name="Google Shape;1056;p56"/>
          <p:cNvSpPr txBox="1"/>
          <p:nvPr/>
        </p:nvSpPr>
        <p:spPr>
          <a:xfrm>
            <a:off x="8532350" y="3789525"/>
            <a:ext cx="3297600" cy="648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i="1" lang="en-US" sz="1100">
                <a:solidFill>
                  <a:srgbClr val="9E9E9E"/>
                </a:solidFill>
                <a:latin typeface="Montserrat"/>
                <a:ea typeface="Montserrat"/>
                <a:cs typeface="Montserrat"/>
                <a:sym typeface="Montserrat"/>
              </a:rPr>
              <a:t>OPQ are dusty - they were performed prior to CLIA certification - the model has changed significantly</a:t>
            </a:r>
            <a:endParaRPr i="1" sz="1100">
              <a:solidFill>
                <a:srgbClr val="9E9E9E"/>
              </a:solidFill>
              <a:latin typeface="Montserrat"/>
              <a:ea typeface="Montserrat"/>
              <a:cs typeface="Montserrat"/>
              <a:sym typeface="Montserrat"/>
            </a:endParaRPr>
          </a:p>
        </p:txBody>
      </p:sp>
      <p:pic>
        <p:nvPicPr>
          <p:cNvPr id="1057" name="Google Shape;1057;p56"/>
          <p:cNvPicPr preferRelativeResize="0"/>
          <p:nvPr/>
        </p:nvPicPr>
        <p:blipFill>
          <a:blip r:embed="rId3">
            <a:alphaModFix/>
          </a:blip>
          <a:stretch>
            <a:fillRect/>
          </a:stretch>
        </p:blipFill>
        <p:spPr>
          <a:xfrm>
            <a:off x="11457850" y="171800"/>
            <a:ext cx="428625" cy="457200"/>
          </a:xfrm>
          <a:prstGeom prst="rect">
            <a:avLst/>
          </a:prstGeom>
          <a:noFill/>
          <a:ln>
            <a:noFill/>
          </a:ln>
        </p:spPr>
      </p:pic>
      <p:cxnSp>
        <p:nvCxnSpPr>
          <p:cNvPr id="1058" name="Google Shape;1058;p56"/>
          <p:cNvCxnSpPr>
            <a:stCxn id="1040" idx="3"/>
            <a:endCxn id="1043" idx="1"/>
          </p:cNvCxnSpPr>
          <p:nvPr/>
        </p:nvCxnSpPr>
        <p:spPr>
          <a:xfrm>
            <a:off x="3134075" y="5397400"/>
            <a:ext cx="607800" cy="600"/>
          </a:xfrm>
          <a:prstGeom prst="bentConnector3">
            <a:avLst>
              <a:gd fmla="val 50010" name="adj1"/>
            </a:avLst>
          </a:prstGeom>
          <a:noFill/>
          <a:ln cap="flat" cmpd="sng" w="9525">
            <a:solidFill>
              <a:srgbClr val="0000FF"/>
            </a:solidFill>
            <a:prstDash val="solid"/>
            <a:round/>
            <a:headEnd len="med" w="med" type="none"/>
            <a:tailEnd len="med" w="med" type="none"/>
          </a:ln>
        </p:spPr>
      </p:cxnSp>
      <p:sp>
        <p:nvSpPr>
          <p:cNvPr id="1059" name="Google Shape;1059;p56"/>
          <p:cNvSpPr txBox="1"/>
          <p:nvPr/>
        </p:nvSpPr>
        <p:spPr>
          <a:xfrm>
            <a:off x="593725" y="6680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600"/>
              </a:spcAft>
              <a:buNone/>
            </a:pPr>
            <a:r>
              <a:rPr lang="en-US" sz="1600" u="sng">
                <a:solidFill>
                  <a:srgbClr val="0000FF"/>
                </a:solidFill>
                <a:latin typeface="Montserrat"/>
                <a:ea typeface="Montserrat"/>
                <a:cs typeface="Montserrat"/>
                <a:sym typeface="Montserrat"/>
                <a:hlinkClick r:id="rId4">
                  <a:extLst>
                    <a:ext uri="{A12FA001-AC4F-418D-AE19-62706E023703}">
                      <ahyp:hlinkClr val="tx"/>
                    </a:ext>
                  </a:extLst>
                </a:hlinkClick>
              </a:rPr>
              <a:t>Gap Analysis</a:t>
            </a:r>
            <a:r>
              <a:rPr lang="en-US" sz="1600">
                <a:solidFill>
                  <a:srgbClr val="0000FF"/>
                </a:solidFill>
                <a:latin typeface="Montserrat"/>
                <a:ea typeface="Montserrat"/>
                <a:cs typeface="Montserrat"/>
                <a:sym typeface="Montserrat"/>
              </a:rPr>
              <a:t> - 12 Nov</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4" name="Shape 1064"/>
        <p:cNvGrpSpPr/>
        <p:nvPr/>
      </p:nvGrpSpPr>
      <p:grpSpPr>
        <a:xfrm>
          <a:off x="0" y="0"/>
          <a:ext cx="0" cy="0"/>
          <a:chOff x="0" y="0"/>
          <a:chExt cx="0" cy="0"/>
        </a:xfrm>
      </p:grpSpPr>
      <p:sp>
        <p:nvSpPr>
          <p:cNvPr id="1065" name="Google Shape;1065;p57"/>
          <p:cNvSpPr txBox="1"/>
          <p:nvPr>
            <p:ph type="title"/>
          </p:nvPr>
        </p:nvSpPr>
        <p:spPr>
          <a:xfrm>
            <a:off x="593725" y="331475"/>
            <a:ext cx="104925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Audfdn-107271 - </a:t>
            </a:r>
            <a:r>
              <a:rPr b="0" i="1" lang="en-US">
                <a:solidFill>
                  <a:srgbClr val="0000FF"/>
                </a:solidFill>
              </a:rPr>
              <a:t>Corrective </a:t>
            </a:r>
            <a:r>
              <a:rPr b="0" i="1" lang="en-US"/>
              <a:t>and</a:t>
            </a:r>
            <a:r>
              <a:rPr b="0" i="1" lang="en-US">
                <a:solidFill>
                  <a:srgbClr val="0000FF"/>
                </a:solidFill>
              </a:rPr>
              <a:t> preventative actions</a:t>
            </a:r>
            <a:endParaRPr b="0" i="1">
              <a:solidFill>
                <a:srgbClr val="0000FF"/>
              </a:solidFill>
            </a:endParaRPr>
          </a:p>
        </p:txBody>
      </p:sp>
      <p:sp>
        <p:nvSpPr>
          <p:cNvPr id="1066" name="Google Shape;1066;p57"/>
          <p:cNvSpPr txBox="1"/>
          <p:nvPr/>
        </p:nvSpPr>
        <p:spPr>
          <a:xfrm>
            <a:off x="833725" y="1603050"/>
            <a:ext cx="4729200" cy="1107000"/>
          </a:xfrm>
          <a:prstGeom prst="rect">
            <a:avLst/>
          </a:prstGeom>
          <a:solidFill>
            <a:srgbClr val="F4CC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Failure to meet requirements</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b="1" lang="en-US" sz="1600">
                <a:solidFill>
                  <a:schemeClr val="dk1"/>
                </a:solidFill>
                <a:latin typeface="Montserrat"/>
                <a:ea typeface="Montserrat"/>
                <a:cs typeface="Montserrat"/>
                <a:sym typeface="Montserrat"/>
              </a:rPr>
              <a:t>FDA</a:t>
            </a:r>
            <a:r>
              <a:rPr lang="en-US" sz="1600">
                <a:solidFill>
                  <a:schemeClr val="dk1"/>
                </a:solidFill>
                <a:latin typeface="Montserrat"/>
                <a:ea typeface="Montserrat"/>
                <a:cs typeface="Montserrat"/>
                <a:sym typeface="Montserrat"/>
              </a:rPr>
              <a:t>: RUO equipment in clinical Dx</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b="1" lang="en-US" sz="1600">
                <a:solidFill>
                  <a:schemeClr val="dk1"/>
                </a:solidFill>
                <a:latin typeface="Montserrat"/>
                <a:ea typeface="Montserrat"/>
                <a:cs typeface="Montserrat"/>
                <a:sym typeface="Montserrat"/>
              </a:rPr>
              <a:t>CLIA/CAP</a:t>
            </a:r>
            <a:r>
              <a:rPr lang="en-US" sz="1600">
                <a:solidFill>
                  <a:schemeClr val="dk1"/>
                </a:solidFill>
                <a:latin typeface="Montserrat"/>
                <a:ea typeface="Montserrat"/>
                <a:cs typeface="Montserrat"/>
                <a:sym typeface="Montserrat"/>
              </a:rPr>
              <a:t> regulatory req - evidence</a:t>
            </a:r>
            <a:endParaRPr sz="1600">
              <a:solidFill>
                <a:schemeClr val="dk1"/>
              </a:solidFill>
              <a:latin typeface="Montserrat"/>
              <a:ea typeface="Montserrat"/>
              <a:cs typeface="Montserrat"/>
              <a:sym typeface="Montserrat"/>
            </a:endParaRPr>
          </a:p>
        </p:txBody>
      </p:sp>
      <p:sp>
        <p:nvSpPr>
          <p:cNvPr id="1067" name="Google Shape;1067;p57"/>
          <p:cNvSpPr txBox="1"/>
          <p:nvPr/>
        </p:nvSpPr>
        <p:spPr>
          <a:xfrm>
            <a:off x="6674375" y="1603050"/>
            <a:ext cx="4641900" cy="11070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Diagnexia LIS - Security</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lang="en-US" sz="1600">
                <a:solidFill>
                  <a:schemeClr val="dk1"/>
                </a:solidFill>
                <a:latin typeface="Montserrat"/>
                <a:ea typeface="Montserrat"/>
                <a:cs typeface="Montserrat"/>
                <a:sym typeface="Montserrat"/>
              </a:rPr>
              <a:t>Vendor intg - testing record(s)</a:t>
            </a:r>
            <a:endParaRPr sz="1600">
              <a:solidFill>
                <a:schemeClr val="dk1"/>
              </a:solidFill>
              <a:latin typeface="Montserrat"/>
              <a:ea typeface="Montserrat"/>
              <a:cs typeface="Montserrat"/>
              <a:sym typeface="Montserrat"/>
            </a:endParaRPr>
          </a:p>
          <a:p>
            <a:pPr indent="-330200" lvl="0" marL="457200" rtl="0" algn="l">
              <a:spcBef>
                <a:spcPts val="0"/>
              </a:spcBef>
              <a:spcAft>
                <a:spcPts val="0"/>
              </a:spcAft>
              <a:buClr>
                <a:schemeClr val="dk1"/>
              </a:buClr>
              <a:buSzPts val="1600"/>
              <a:buFont typeface="Montserrat"/>
              <a:buChar char="➔"/>
            </a:pPr>
            <a:r>
              <a:rPr lang="en-US" sz="1600">
                <a:solidFill>
                  <a:schemeClr val="dk1"/>
                </a:solidFill>
                <a:latin typeface="Montserrat"/>
                <a:ea typeface="Montserrat"/>
                <a:cs typeface="Montserrat"/>
                <a:sym typeface="Montserrat"/>
              </a:rPr>
              <a:t>BC / Security </a:t>
            </a:r>
            <a:r>
              <a:rPr i="1" lang="en-US" sz="1100">
                <a:solidFill>
                  <a:schemeClr val="dk1"/>
                </a:solidFill>
                <a:latin typeface="Montserrat"/>
                <a:ea typeface="Montserrat"/>
                <a:cs typeface="Montserrat"/>
                <a:sym typeface="Montserrat"/>
              </a:rPr>
              <a:t>(UK → IL → customer) –? ECA only</a:t>
            </a:r>
            <a:endParaRPr i="1" sz="1100">
              <a:solidFill>
                <a:schemeClr val="dk1"/>
              </a:solidFill>
              <a:latin typeface="Montserrat"/>
              <a:ea typeface="Montserrat"/>
              <a:cs typeface="Montserrat"/>
              <a:sym typeface="Montserrat"/>
            </a:endParaRPr>
          </a:p>
        </p:txBody>
      </p:sp>
      <p:sp>
        <p:nvSpPr>
          <p:cNvPr id="1068" name="Google Shape;1068;p57"/>
          <p:cNvSpPr txBox="1"/>
          <p:nvPr/>
        </p:nvSpPr>
        <p:spPr>
          <a:xfrm>
            <a:off x="833725" y="1356450"/>
            <a:ext cx="4312800" cy="24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ontserrat"/>
                <a:ea typeface="Montserrat"/>
                <a:cs typeface="Montserrat"/>
                <a:sym typeface="Montserrat"/>
              </a:rPr>
              <a:t>CAPA - 107823 - Validation process</a:t>
            </a:r>
            <a:endParaRPr sz="1600">
              <a:solidFill>
                <a:schemeClr val="dk1"/>
              </a:solidFill>
              <a:latin typeface="Montserrat"/>
              <a:ea typeface="Montserrat"/>
              <a:cs typeface="Montserrat"/>
              <a:sym typeface="Montserrat"/>
            </a:endParaRPr>
          </a:p>
        </p:txBody>
      </p:sp>
      <p:sp>
        <p:nvSpPr>
          <p:cNvPr id="1069" name="Google Shape;1069;p57"/>
          <p:cNvSpPr txBox="1"/>
          <p:nvPr/>
        </p:nvSpPr>
        <p:spPr>
          <a:xfrm>
            <a:off x="6674375" y="1356450"/>
            <a:ext cx="4170900" cy="2466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sz="1600">
                <a:solidFill>
                  <a:schemeClr val="dk1"/>
                </a:solidFill>
                <a:latin typeface="Montserrat"/>
                <a:ea typeface="Montserrat"/>
                <a:cs typeface="Montserrat"/>
                <a:sym typeface="Montserrat"/>
              </a:rPr>
              <a:t>CAPA - 107829 - Intg process</a:t>
            </a:r>
            <a:endParaRPr sz="1600">
              <a:solidFill>
                <a:schemeClr val="dk1"/>
              </a:solidFill>
              <a:latin typeface="Montserrat"/>
              <a:ea typeface="Montserrat"/>
              <a:cs typeface="Montserrat"/>
              <a:sym typeface="Montserrat"/>
            </a:endParaRPr>
          </a:p>
        </p:txBody>
      </p:sp>
      <p:sp>
        <p:nvSpPr>
          <p:cNvPr id="1070" name="Google Shape;1070;p57"/>
          <p:cNvSpPr txBox="1"/>
          <p:nvPr/>
        </p:nvSpPr>
        <p:spPr>
          <a:xfrm>
            <a:off x="833725" y="2862750"/>
            <a:ext cx="4729200" cy="336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CAI-107891: VSR - summarize testing already performed</a:t>
            </a:r>
            <a:endParaRPr sz="1200">
              <a:solidFill>
                <a:schemeClr val="dk1"/>
              </a:solidFill>
              <a:latin typeface="Montserrat"/>
              <a:ea typeface="Montserrat"/>
              <a:cs typeface="Montserrat"/>
              <a:sym typeface="Montserrat"/>
            </a:endParaRPr>
          </a:p>
        </p:txBody>
      </p:sp>
      <p:sp>
        <p:nvSpPr>
          <p:cNvPr id="1071" name="Google Shape;1071;p57"/>
          <p:cNvSpPr txBox="1"/>
          <p:nvPr/>
        </p:nvSpPr>
        <p:spPr>
          <a:xfrm rot="-5400000">
            <a:off x="-214325" y="3465300"/>
            <a:ext cx="1410600" cy="205500"/>
          </a:xfrm>
          <a:prstGeom prst="rect">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CAIs - Corrective</a:t>
            </a:r>
            <a:endParaRPr sz="1000">
              <a:solidFill>
                <a:schemeClr val="dk1"/>
              </a:solidFill>
              <a:latin typeface="Montserrat"/>
              <a:ea typeface="Montserrat"/>
              <a:cs typeface="Montserrat"/>
              <a:sym typeface="Montserrat"/>
            </a:endParaRPr>
          </a:p>
        </p:txBody>
      </p:sp>
      <p:pic>
        <p:nvPicPr>
          <p:cNvPr id="1072" name="Google Shape;1072;p57"/>
          <p:cNvPicPr preferRelativeResize="0"/>
          <p:nvPr/>
        </p:nvPicPr>
        <p:blipFill>
          <a:blip r:embed="rId3">
            <a:alphaModFix/>
          </a:blip>
          <a:stretch>
            <a:fillRect/>
          </a:stretch>
        </p:blipFill>
        <p:spPr>
          <a:xfrm>
            <a:off x="11457850" y="171800"/>
            <a:ext cx="428625" cy="457200"/>
          </a:xfrm>
          <a:prstGeom prst="rect">
            <a:avLst/>
          </a:prstGeom>
          <a:noFill/>
          <a:ln>
            <a:noFill/>
          </a:ln>
        </p:spPr>
      </p:pic>
      <p:sp>
        <p:nvSpPr>
          <p:cNvPr id="1073" name="Google Shape;1073;p57"/>
          <p:cNvSpPr txBox="1"/>
          <p:nvPr/>
        </p:nvSpPr>
        <p:spPr>
          <a:xfrm>
            <a:off x="593725" y="668075"/>
            <a:ext cx="3000000" cy="4311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600"/>
              </a:spcAft>
              <a:buNone/>
            </a:pPr>
            <a:r>
              <a:rPr lang="en-US" sz="1600" u="sng">
                <a:solidFill>
                  <a:srgbClr val="0000FF"/>
                </a:solidFill>
                <a:latin typeface="Montserrat"/>
                <a:ea typeface="Montserrat"/>
                <a:cs typeface="Montserrat"/>
                <a:sym typeface="Montserrat"/>
                <a:hlinkClick r:id="rId4">
                  <a:extLst>
                    <a:ext uri="{A12FA001-AC4F-418D-AE19-62706E023703}">
                      <ahyp:hlinkClr val="tx"/>
                    </a:ext>
                  </a:extLst>
                </a:hlinkClick>
              </a:rPr>
              <a:t>Gap Analysis</a:t>
            </a:r>
            <a:r>
              <a:rPr lang="en-US" sz="1600">
                <a:solidFill>
                  <a:srgbClr val="0000FF"/>
                </a:solidFill>
                <a:latin typeface="Montserrat"/>
                <a:ea typeface="Montserrat"/>
                <a:cs typeface="Montserrat"/>
                <a:sym typeface="Montserrat"/>
              </a:rPr>
              <a:t> - 24 Nov</a:t>
            </a:r>
            <a:endParaRPr/>
          </a:p>
        </p:txBody>
      </p:sp>
      <p:sp>
        <p:nvSpPr>
          <p:cNvPr id="1074" name="Google Shape;1074;p57"/>
          <p:cNvSpPr txBox="1"/>
          <p:nvPr/>
        </p:nvSpPr>
        <p:spPr>
          <a:xfrm>
            <a:off x="833725" y="3658650"/>
            <a:ext cx="4729200" cy="336600"/>
          </a:xfrm>
          <a:prstGeom prst="rect">
            <a:avLst/>
          </a:prstGeom>
          <a:solidFill>
            <a:srgbClr val="B6D7A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CAI-107825 - </a:t>
            </a:r>
            <a:r>
              <a:rPr lang="en-US" sz="1200">
                <a:solidFill>
                  <a:schemeClr val="dk1"/>
                </a:solidFill>
                <a:latin typeface="Montserrat"/>
                <a:ea typeface="Montserrat"/>
                <a:cs typeface="Montserrat"/>
                <a:sym typeface="Montserrat"/>
              </a:rPr>
              <a:t>Validation</a:t>
            </a:r>
            <a:r>
              <a:rPr lang="en-US" sz="1200">
                <a:solidFill>
                  <a:schemeClr val="dk1"/>
                </a:solidFill>
                <a:latin typeface="Montserrat"/>
                <a:ea typeface="Montserrat"/>
                <a:cs typeface="Montserrat"/>
                <a:sym typeface="Montserrat"/>
              </a:rPr>
              <a:t> Policy - GLOBAL</a:t>
            </a:r>
            <a:endParaRPr sz="1200">
              <a:solidFill>
                <a:schemeClr val="dk1"/>
              </a:solidFill>
              <a:latin typeface="Montserrat"/>
              <a:ea typeface="Montserrat"/>
              <a:cs typeface="Montserrat"/>
              <a:sym typeface="Montserrat"/>
            </a:endParaRPr>
          </a:p>
        </p:txBody>
      </p:sp>
      <p:sp>
        <p:nvSpPr>
          <p:cNvPr id="1075" name="Google Shape;1075;p57"/>
          <p:cNvSpPr txBox="1"/>
          <p:nvPr/>
        </p:nvSpPr>
        <p:spPr>
          <a:xfrm rot="-5400000">
            <a:off x="-335825" y="5036000"/>
            <a:ext cx="1653600" cy="205500"/>
          </a:xfrm>
          <a:prstGeom prst="rect">
            <a:avLst/>
          </a:prstGeom>
          <a:solidFill>
            <a:srgbClr val="B6D7A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Montserrat"/>
                <a:ea typeface="Montserrat"/>
                <a:cs typeface="Montserrat"/>
                <a:sym typeface="Montserrat"/>
              </a:rPr>
              <a:t>CAIs - </a:t>
            </a:r>
            <a:r>
              <a:rPr lang="en-US" sz="1000">
                <a:solidFill>
                  <a:schemeClr val="dk1"/>
                </a:solidFill>
                <a:latin typeface="Montserrat"/>
                <a:ea typeface="Montserrat"/>
                <a:cs typeface="Montserrat"/>
                <a:sym typeface="Montserrat"/>
              </a:rPr>
              <a:t>Preventative</a:t>
            </a:r>
            <a:endParaRPr sz="1000">
              <a:solidFill>
                <a:schemeClr val="dk1"/>
              </a:solidFill>
              <a:latin typeface="Montserrat"/>
              <a:ea typeface="Montserrat"/>
              <a:cs typeface="Montserrat"/>
              <a:sym typeface="Montserrat"/>
            </a:endParaRPr>
          </a:p>
        </p:txBody>
      </p:sp>
      <p:sp>
        <p:nvSpPr>
          <p:cNvPr id="1076" name="Google Shape;1076;p57"/>
          <p:cNvSpPr txBox="1"/>
          <p:nvPr/>
        </p:nvSpPr>
        <p:spPr>
          <a:xfrm>
            <a:off x="833725" y="3260700"/>
            <a:ext cx="4729200" cy="336600"/>
          </a:xfrm>
          <a:prstGeom prst="rect">
            <a:avLst/>
          </a:prstGeom>
          <a:solidFill>
            <a:srgbClr val="CFE2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CAI-107827 - </a:t>
            </a:r>
            <a:r>
              <a:rPr lang="en-US" sz="1200">
                <a:solidFill>
                  <a:schemeClr val="dk1"/>
                </a:solidFill>
                <a:latin typeface="Montserrat"/>
                <a:ea typeface="Montserrat"/>
                <a:cs typeface="Montserrat"/>
                <a:sym typeface="Montserrat"/>
              </a:rPr>
              <a:t>Intended</a:t>
            </a:r>
            <a:r>
              <a:rPr lang="en-US" sz="1200">
                <a:solidFill>
                  <a:schemeClr val="dk1"/>
                </a:solidFill>
                <a:latin typeface="Montserrat"/>
                <a:ea typeface="Montserrat"/>
                <a:cs typeface="Montserrat"/>
                <a:sym typeface="Montserrat"/>
              </a:rPr>
              <a:t> Use statement - R.A. - </a:t>
            </a:r>
            <a:r>
              <a:rPr i="1" lang="en-US" sz="1200">
                <a:solidFill>
                  <a:srgbClr val="980000"/>
                </a:solidFill>
                <a:latin typeface="Montserrat"/>
                <a:ea typeface="Montserrat"/>
                <a:cs typeface="Montserrat"/>
                <a:sym typeface="Montserrat"/>
              </a:rPr>
              <a:t>GLOBAL</a:t>
            </a:r>
            <a:r>
              <a:rPr lang="en-US" sz="1200">
                <a:solidFill>
                  <a:schemeClr val="dk1"/>
                </a:solidFill>
                <a:latin typeface="Montserrat"/>
                <a:ea typeface="Montserrat"/>
                <a:cs typeface="Montserrat"/>
                <a:sym typeface="Montserrat"/>
              </a:rPr>
              <a:t> </a:t>
            </a:r>
            <a:endParaRPr sz="1200">
              <a:solidFill>
                <a:schemeClr val="dk1"/>
              </a:solidFill>
              <a:latin typeface="Montserrat"/>
              <a:ea typeface="Montserrat"/>
              <a:cs typeface="Montserrat"/>
              <a:sym typeface="Montserrat"/>
            </a:endParaRPr>
          </a:p>
        </p:txBody>
      </p:sp>
      <p:sp>
        <p:nvSpPr>
          <p:cNvPr id="1077" name="Google Shape;1077;p57"/>
          <p:cNvSpPr txBox="1"/>
          <p:nvPr/>
        </p:nvSpPr>
        <p:spPr>
          <a:xfrm>
            <a:off x="833725" y="4056600"/>
            <a:ext cx="4729200" cy="336600"/>
          </a:xfrm>
          <a:prstGeom prst="rect">
            <a:avLst/>
          </a:prstGeom>
          <a:solidFill>
            <a:srgbClr val="B6D7A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CAI-107826 - </a:t>
            </a:r>
            <a:r>
              <a:rPr lang="en-US" sz="1200">
                <a:solidFill>
                  <a:schemeClr val="dk1"/>
                </a:solidFill>
                <a:latin typeface="Montserrat"/>
                <a:ea typeface="Montserrat"/>
                <a:cs typeface="Montserrat"/>
                <a:sym typeface="Montserrat"/>
              </a:rPr>
              <a:t>Validation</a:t>
            </a:r>
            <a:r>
              <a:rPr lang="en-US" sz="1200">
                <a:solidFill>
                  <a:schemeClr val="dk1"/>
                </a:solidFill>
                <a:latin typeface="Montserrat"/>
                <a:ea typeface="Montserrat"/>
                <a:cs typeface="Montserrat"/>
                <a:sym typeface="Montserrat"/>
              </a:rPr>
              <a:t> Plan - REGIONAL</a:t>
            </a:r>
            <a:endParaRPr sz="1200">
              <a:solidFill>
                <a:schemeClr val="dk1"/>
              </a:solidFill>
              <a:latin typeface="Montserrat"/>
              <a:ea typeface="Montserrat"/>
              <a:cs typeface="Montserrat"/>
              <a:sym typeface="Montserrat"/>
            </a:endParaRPr>
          </a:p>
        </p:txBody>
      </p:sp>
      <p:sp>
        <p:nvSpPr>
          <p:cNvPr id="1078" name="Google Shape;1078;p57"/>
          <p:cNvSpPr txBox="1"/>
          <p:nvPr/>
        </p:nvSpPr>
        <p:spPr>
          <a:xfrm>
            <a:off x="833725" y="4454550"/>
            <a:ext cx="4729200" cy="336600"/>
          </a:xfrm>
          <a:prstGeom prst="rect">
            <a:avLst/>
          </a:prstGeom>
          <a:solidFill>
            <a:srgbClr val="B6D7A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CAI-108563 - Validation template(s) - REGIONAL</a:t>
            </a:r>
            <a:endParaRPr sz="1200">
              <a:solidFill>
                <a:schemeClr val="dk1"/>
              </a:solidFill>
              <a:latin typeface="Montserrat"/>
              <a:ea typeface="Montserrat"/>
              <a:cs typeface="Montserrat"/>
              <a:sym typeface="Montserrat"/>
            </a:endParaRPr>
          </a:p>
        </p:txBody>
      </p:sp>
      <p:sp>
        <p:nvSpPr>
          <p:cNvPr id="1079" name="Google Shape;1079;p57"/>
          <p:cNvSpPr txBox="1"/>
          <p:nvPr/>
        </p:nvSpPr>
        <p:spPr>
          <a:xfrm>
            <a:off x="833725" y="4852500"/>
            <a:ext cx="4729200" cy="336600"/>
          </a:xfrm>
          <a:prstGeom prst="rect">
            <a:avLst/>
          </a:prstGeom>
          <a:solidFill>
            <a:srgbClr val="D9EAD3"/>
          </a:solidFill>
          <a:ln cap="flat" cmpd="sng" w="9525">
            <a:solidFill>
              <a:srgbClr val="38761D"/>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CAI-108564 - BYOD testing → for project deliverable</a:t>
            </a:r>
            <a:endParaRPr sz="1200">
              <a:solidFill>
                <a:schemeClr val="dk1"/>
              </a:solidFill>
              <a:latin typeface="Montserrat"/>
              <a:ea typeface="Montserrat"/>
              <a:cs typeface="Montserrat"/>
              <a:sym typeface="Montserrat"/>
            </a:endParaRPr>
          </a:p>
        </p:txBody>
      </p:sp>
      <p:sp>
        <p:nvSpPr>
          <p:cNvPr id="1080" name="Google Shape;1080;p57"/>
          <p:cNvSpPr txBox="1"/>
          <p:nvPr/>
        </p:nvSpPr>
        <p:spPr>
          <a:xfrm>
            <a:off x="833725" y="5250450"/>
            <a:ext cx="4729200" cy="336600"/>
          </a:xfrm>
          <a:prstGeom prst="rect">
            <a:avLst/>
          </a:prstGeom>
          <a:solidFill>
            <a:srgbClr val="B6D7A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CAI-107824 - Equipment testing - UPDATE </a:t>
            </a:r>
            <a:r>
              <a:rPr i="1" lang="en-US" sz="1200">
                <a:solidFill>
                  <a:srgbClr val="980000"/>
                </a:solidFill>
                <a:latin typeface="Montserrat"/>
                <a:ea typeface="Montserrat"/>
                <a:cs typeface="Montserrat"/>
                <a:sym typeface="Montserrat"/>
              </a:rPr>
              <a:t>(global)</a:t>
            </a:r>
            <a:endParaRPr i="1" sz="1200">
              <a:solidFill>
                <a:srgbClr val="980000"/>
              </a:solidFill>
              <a:latin typeface="Montserrat"/>
              <a:ea typeface="Montserrat"/>
              <a:cs typeface="Montserrat"/>
              <a:sym typeface="Montserrat"/>
            </a:endParaRPr>
          </a:p>
        </p:txBody>
      </p:sp>
      <p:sp>
        <p:nvSpPr>
          <p:cNvPr id="1081" name="Google Shape;1081;p57"/>
          <p:cNvSpPr txBox="1"/>
          <p:nvPr/>
        </p:nvSpPr>
        <p:spPr>
          <a:xfrm>
            <a:off x="833725" y="5648400"/>
            <a:ext cx="4729200" cy="336600"/>
          </a:xfrm>
          <a:prstGeom prst="rect">
            <a:avLst/>
          </a:prstGeom>
          <a:solidFill>
            <a:srgbClr val="B6D7A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strike="sngStrike">
                <a:solidFill>
                  <a:schemeClr val="dk1"/>
                </a:solidFill>
                <a:latin typeface="Montserrat"/>
                <a:ea typeface="Montserrat"/>
                <a:cs typeface="Montserrat"/>
                <a:sym typeface="Montserrat"/>
              </a:rPr>
              <a:t>CAI-107828 - ORCANOS folder naming - </a:t>
            </a:r>
            <a:r>
              <a:rPr b="1" lang="en-US" sz="1200">
                <a:solidFill>
                  <a:srgbClr val="980000"/>
                </a:solidFill>
                <a:latin typeface="Montserrat"/>
                <a:ea typeface="Montserrat"/>
                <a:cs typeface="Montserrat"/>
                <a:sym typeface="Montserrat"/>
              </a:rPr>
              <a:t>DONE</a:t>
            </a:r>
            <a:endParaRPr b="1" sz="1200">
              <a:solidFill>
                <a:srgbClr val="980000"/>
              </a:solidFill>
              <a:latin typeface="Montserrat"/>
              <a:ea typeface="Montserrat"/>
              <a:cs typeface="Montserrat"/>
              <a:sym typeface="Montserrat"/>
            </a:endParaRPr>
          </a:p>
        </p:txBody>
      </p:sp>
      <p:sp>
        <p:nvSpPr>
          <p:cNvPr id="1082" name="Google Shape;1082;p57"/>
          <p:cNvSpPr txBox="1"/>
          <p:nvPr/>
        </p:nvSpPr>
        <p:spPr>
          <a:xfrm>
            <a:off x="6630725" y="2862750"/>
            <a:ext cx="4729200" cy="336600"/>
          </a:xfrm>
          <a:prstGeom prst="rect">
            <a:avLst/>
          </a:prstGeom>
          <a:solidFill>
            <a:srgbClr val="C9DAF8"/>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CAI-107830 - FreshDesk + DocuSign - records for e-sign</a:t>
            </a:r>
            <a:endParaRPr sz="1200">
              <a:solidFill>
                <a:schemeClr val="dk1"/>
              </a:solidFill>
              <a:latin typeface="Montserrat"/>
              <a:ea typeface="Montserrat"/>
              <a:cs typeface="Montserrat"/>
              <a:sym typeface="Montserrat"/>
            </a:endParaRPr>
          </a:p>
        </p:txBody>
      </p:sp>
      <p:sp>
        <p:nvSpPr>
          <p:cNvPr id="1083" name="Google Shape;1083;p57"/>
          <p:cNvSpPr txBox="1"/>
          <p:nvPr/>
        </p:nvSpPr>
        <p:spPr>
          <a:xfrm>
            <a:off x="6587075" y="3645025"/>
            <a:ext cx="4729200" cy="506400"/>
          </a:xfrm>
          <a:prstGeom prst="rect">
            <a:avLst/>
          </a:prstGeom>
          <a:solidFill>
            <a:srgbClr val="D9EAD3"/>
          </a:solid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chemeClr val="dk1"/>
                </a:solidFill>
                <a:latin typeface="Montserrat"/>
                <a:ea typeface="Montserrat"/>
                <a:cs typeface="Montserrat"/>
                <a:sym typeface="Montserrat"/>
              </a:rPr>
              <a:t>ECA</a:t>
            </a:r>
            <a:r>
              <a:rPr lang="en-US" sz="1200">
                <a:solidFill>
                  <a:schemeClr val="dk1"/>
                </a:solidFill>
                <a:latin typeface="Montserrat"/>
                <a:ea typeface="Montserrat"/>
                <a:cs typeface="Montserrat"/>
                <a:sym typeface="Montserrat"/>
              </a:rPr>
              <a:t>-108619 Update Security doc to include Integrations + cloud offerings</a:t>
            </a:r>
            <a:endParaRPr sz="1200">
              <a:solidFill>
                <a:schemeClr val="dk1"/>
              </a:solidFill>
              <a:latin typeface="Montserrat"/>
              <a:ea typeface="Montserrat"/>
              <a:cs typeface="Montserrat"/>
              <a:sym typeface="Montserrat"/>
            </a:endParaRPr>
          </a:p>
        </p:txBody>
      </p:sp>
      <p:sp>
        <p:nvSpPr>
          <p:cNvPr id="1084" name="Google Shape;1084;p57"/>
          <p:cNvSpPr txBox="1"/>
          <p:nvPr/>
        </p:nvSpPr>
        <p:spPr>
          <a:xfrm>
            <a:off x="7451675" y="4805250"/>
            <a:ext cx="3000000" cy="431100"/>
          </a:xfrm>
          <a:prstGeom prst="rect">
            <a:avLst/>
          </a:prstGeom>
          <a:solidFill>
            <a:srgbClr val="9E9E9E"/>
          </a:solidFill>
          <a:ln cap="flat" cmpd="sng" w="9525">
            <a:solidFill>
              <a:srgbClr val="000000"/>
            </a:solidFill>
            <a:prstDash val="dot"/>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chemeClr val="lt1"/>
                </a:solidFill>
                <a:latin typeface="Montserrat"/>
                <a:ea typeface="Montserrat"/>
                <a:cs typeface="Montserrat"/>
                <a:sym typeface="Montserrat"/>
              </a:rPr>
              <a:t>ECO-108614 My Diagnexia</a:t>
            </a:r>
            <a:endParaRPr b="1" sz="1600">
              <a:solidFill>
                <a:schemeClr val="lt1"/>
              </a:solidFill>
              <a:latin typeface="Montserrat"/>
              <a:ea typeface="Montserrat"/>
              <a:cs typeface="Montserrat"/>
              <a:sym typeface="Montserrat"/>
            </a:endParaRPr>
          </a:p>
        </p:txBody>
      </p:sp>
      <p:cxnSp>
        <p:nvCxnSpPr>
          <p:cNvPr id="1085" name="Google Shape;1085;p57"/>
          <p:cNvCxnSpPr>
            <a:stCxn id="1079" idx="3"/>
            <a:endCxn id="1084" idx="1"/>
          </p:cNvCxnSpPr>
          <p:nvPr/>
        </p:nvCxnSpPr>
        <p:spPr>
          <a:xfrm>
            <a:off x="5562925" y="5020800"/>
            <a:ext cx="1888800" cy="600"/>
          </a:xfrm>
          <a:prstGeom prst="bentConnector3">
            <a:avLst>
              <a:gd fmla="val 49999" name="adj1"/>
            </a:avLst>
          </a:prstGeom>
          <a:noFill/>
          <a:ln cap="flat" cmpd="sng" w="9525">
            <a:solidFill>
              <a:srgbClr val="980000"/>
            </a:solidFill>
            <a:prstDash val="solid"/>
            <a:round/>
            <a:headEnd len="med" w="med" type="none"/>
            <a:tailEnd len="med" w="med" type="triangle"/>
          </a:ln>
        </p:spPr>
      </p:cxnSp>
      <p:cxnSp>
        <p:nvCxnSpPr>
          <p:cNvPr id="1086" name="Google Shape;1086;p57"/>
          <p:cNvCxnSpPr>
            <a:stCxn id="1083" idx="2"/>
            <a:endCxn id="1084" idx="0"/>
          </p:cNvCxnSpPr>
          <p:nvPr/>
        </p:nvCxnSpPr>
        <p:spPr>
          <a:xfrm flipH="1" rot="-5400000">
            <a:off x="8625125" y="4477975"/>
            <a:ext cx="653700" cy="600"/>
          </a:xfrm>
          <a:prstGeom prst="bentConnector3">
            <a:avLst>
              <a:gd fmla="val 50010" name="adj1"/>
            </a:avLst>
          </a:prstGeom>
          <a:noFill/>
          <a:ln cap="flat" cmpd="sng" w="9525">
            <a:solidFill>
              <a:srgbClr val="980000"/>
            </a:solidFill>
            <a:prstDash val="solid"/>
            <a:round/>
            <a:headEnd len="med" w="med" type="none"/>
            <a:tailEnd len="med" w="med" type="triangle"/>
          </a:ln>
        </p:spPr>
      </p:cxnSp>
      <p:sp>
        <p:nvSpPr>
          <p:cNvPr id="1087" name="Google Shape;1087;p57"/>
          <p:cNvSpPr txBox="1"/>
          <p:nvPr/>
        </p:nvSpPr>
        <p:spPr>
          <a:xfrm>
            <a:off x="5734775" y="4774350"/>
            <a:ext cx="1480500" cy="24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000">
                <a:solidFill>
                  <a:srgbClr val="980000"/>
                </a:solidFill>
                <a:latin typeface="Montserrat"/>
                <a:ea typeface="Montserrat"/>
                <a:cs typeface="Montserrat"/>
                <a:sym typeface="Montserrat"/>
              </a:rPr>
              <a:t>Dependency</a:t>
            </a:r>
            <a:endParaRPr i="1" sz="1000">
              <a:solidFill>
                <a:srgbClr val="980000"/>
              </a:solidFill>
              <a:latin typeface="Montserrat"/>
              <a:ea typeface="Montserrat"/>
              <a:cs typeface="Montserrat"/>
              <a:sym typeface="Montserrat"/>
            </a:endParaRPr>
          </a:p>
        </p:txBody>
      </p:sp>
      <p:sp>
        <p:nvSpPr>
          <p:cNvPr id="1088" name="Google Shape;1088;p57"/>
          <p:cNvSpPr txBox="1"/>
          <p:nvPr/>
        </p:nvSpPr>
        <p:spPr>
          <a:xfrm>
            <a:off x="9037775" y="4355038"/>
            <a:ext cx="1480500" cy="246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000">
                <a:solidFill>
                  <a:srgbClr val="980000"/>
                </a:solidFill>
                <a:latin typeface="Montserrat"/>
                <a:ea typeface="Montserrat"/>
                <a:cs typeface="Montserrat"/>
                <a:sym typeface="Montserrat"/>
              </a:rPr>
              <a:t>Dependency</a:t>
            </a:r>
            <a:endParaRPr i="1" sz="1000">
              <a:solidFill>
                <a:srgbClr val="98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3" name="Shape 1093"/>
        <p:cNvGrpSpPr/>
        <p:nvPr/>
      </p:nvGrpSpPr>
      <p:grpSpPr>
        <a:xfrm>
          <a:off x="0" y="0"/>
          <a:ext cx="0" cy="0"/>
          <a:chOff x="0" y="0"/>
          <a:chExt cx="0" cy="0"/>
        </a:xfrm>
      </p:grpSpPr>
      <p:sp>
        <p:nvSpPr>
          <p:cNvPr id="1094" name="Google Shape;1094;p58"/>
          <p:cNvSpPr/>
          <p:nvPr/>
        </p:nvSpPr>
        <p:spPr>
          <a:xfrm>
            <a:off x="9818525" y="2036775"/>
            <a:ext cx="1843200" cy="3511800"/>
          </a:xfrm>
          <a:prstGeom prst="roundRect">
            <a:avLst>
              <a:gd fmla="val 16667" name="adj"/>
            </a:avLst>
          </a:prstGeom>
          <a:noFill/>
          <a:ln cap="flat" cmpd="sng" w="9525">
            <a:solidFill>
              <a:srgbClr val="CCCCCC"/>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95" name="Google Shape;1095;p58"/>
          <p:cNvSpPr/>
          <p:nvPr/>
        </p:nvSpPr>
        <p:spPr>
          <a:xfrm>
            <a:off x="6054725" y="2036775"/>
            <a:ext cx="1843200" cy="3511800"/>
          </a:xfrm>
          <a:prstGeom prst="roundRect">
            <a:avLst>
              <a:gd fmla="val 16667" name="adj"/>
            </a:avLst>
          </a:prstGeom>
          <a:noFill/>
          <a:ln cap="flat" cmpd="sng" w="9525">
            <a:solidFill>
              <a:srgbClr val="CCCCCC"/>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96" name="Google Shape;1096;p58"/>
          <p:cNvSpPr/>
          <p:nvPr/>
        </p:nvSpPr>
        <p:spPr>
          <a:xfrm>
            <a:off x="7926175" y="2036775"/>
            <a:ext cx="1843200" cy="3511800"/>
          </a:xfrm>
          <a:prstGeom prst="roundRect">
            <a:avLst>
              <a:gd fmla="val 16667" name="adj"/>
            </a:avLst>
          </a:prstGeom>
          <a:noFill/>
          <a:ln cap="flat" cmpd="sng" w="9525">
            <a:solidFill>
              <a:srgbClr val="98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97" name="Google Shape;1097;p58"/>
          <p:cNvSpPr/>
          <p:nvPr/>
        </p:nvSpPr>
        <p:spPr>
          <a:xfrm>
            <a:off x="4179725" y="2036775"/>
            <a:ext cx="1843200" cy="3511800"/>
          </a:xfrm>
          <a:prstGeom prst="roundRect">
            <a:avLst>
              <a:gd fmla="val 16667" name="adj"/>
            </a:avLst>
          </a:prstGeom>
          <a:noFill/>
          <a:ln cap="flat" cmpd="sng" w="9525">
            <a:solidFill>
              <a:srgbClr val="CCCCCC"/>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98" name="Google Shape;1098;p58"/>
          <p:cNvSpPr txBox="1"/>
          <p:nvPr>
            <p:ph type="title"/>
          </p:nvPr>
        </p:nvSpPr>
        <p:spPr>
          <a:xfrm>
            <a:off x="593725" y="331475"/>
            <a:ext cx="70341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Validation Policy - </a:t>
            </a:r>
            <a:r>
              <a:rPr b="0" i="1" lang="en-US" sz="2400"/>
              <a:t>regional</a:t>
            </a:r>
            <a:endParaRPr b="0" i="1" sz="2400"/>
          </a:p>
        </p:txBody>
      </p:sp>
      <p:sp>
        <p:nvSpPr>
          <p:cNvPr id="1099" name="Google Shape;1099;p58"/>
          <p:cNvSpPr txBox="1"/>
          <p:nvPr/>
        </p:nvSpPr>
        <p:spPr>
          <a:xfrm>
            <a:off x="4261175" y="2207425"/>
            <a:ext cx="1660200" cy="4311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UK: Val </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Plan</a:t>
            </a:r>
            <a:endParaRPr sz="1200">
              <a:solidFill>
                <a:schemeClr val="dk1"/>
              </a:solidFill>
              <a:latin typeface="Montserrat"/>
              <a:ea typeface="Montserrat"/>
              <a:cs typeface="Montserrat"/>
              <a:sym typeface="Montserrat"/>
            </a:endParaRPr>
          </a:p>
        </p:txBody>
      </p:sp>
      <p:sp>
        <p:nvSpPr>
          <p:cNvPr id="1100" name="Google Shape;1100;p58"/>
          <p:cNvSpPr txBox="1"/>
          <p:nvPr/>
        </p:nvSpPr>
        <p:spPr>
          <a:xfrm>
            <a:off x="3951350" y="934800"/>
            <a:ext cx="3676500" cy="372000"/>
          </a:xfrm>
          <a:prstGeom prst="rect">
            <a:avLst/>
          </a:prstGeom>
          <a:solidFill>
            <a:srgbClr val="1155CC"/>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ctr">
              <a:spcBef>
                <a:spcPts val="0"/>
              </a:spcBef>
              <a:spcAft>
                <a:spcPts val="0"/>
              </a:spcAft>
              <a:buNone/>
            </a:pPr>
            <a:r>
              <a:rPr lang="en-US" sz="1600">
                <a:solidFill>
                  <a:schemeClr val="lt1"/>
                </a:solidFill>
                <a:latin typeface="Montserrat"/>
                <a:ea typeface="Montserrat"/>
                <a:cs typeface="Montserrat"/>
                <a:sym typeface="Montserrat"/>
              </a:rPr>
              <a:t>RA: intended use statement</a:t>
            </a:r>
            <a:endParaRPr sz="1600">
              <a:solidFill>
                <a:schemeClr val="lt1"/>
              </a:solidFill>
              <a:latin typeface="Montserrat"/>
              <a:ea typeface="Montserrat"/>
              <a:cs typeface="Montserrat"/>
              <a:sym typeface="Montserrat"/>
            </a:endParaRPr>
          </a:p>
        </p:txBody>
      </p:sp>
      <p:sp>
        <p:nvSpPr>
          <p:cNvPr id="1101" name="Google Shape;1101;p58"/>
          <p:cNvSpPr txBox="1"/>
          <p:nvPr/>
        </p:nvSpPr>
        <p:spPr>
          <a:xfrm>
            <a:off x="3669850" y="1383150"/>
            <a:ext cx="4312800" cy="405900"/>
          </a:xfrm>
          <a:prstGeom prst="rect">
            <a:avLst/>
          </a:prstGeom>
          <a:solidFill>
            <a:srgbClr val="B4A7D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lt1"/>
                </a:solidFill>
                <a:latin typeface="Montserrat"/>
                <a:ea typeface="Montserrat"/>
                <a:cs typeface="Montserrat"/>
                <a:sym typeface="Montserrat"/>
              </a:rPr>
              <a:t>Validation Policy</a:t>
            </a:r>
            <a:endParaRPr i="1" sz="1100">
              <a:solidFill>
                <a:schemeClr val="lt1"/>
              </a:solidFill>
              <a:latin typeface="Montserrat"/>
              <a:ea typeface="Montserrat"/>
              <a:cs typeface="Montserrat"/>
              <a:sym typeface="Montserrat"/>
            </a:endParaRPr>
          </a:p>
        </p:txBody>
      </p:sp>
      <p:sp>
        <p:nvSpPr>
          <p:cNvPr id="1102" name="Google Shape;1102;p58"/>
          <p:cNvSpPr txBox="1"/>
          <p:nvPr/>
        </p:nvSpPr>
        <p:spPr>
          <a:xfrm>
            <a:off x="4645763" y="3243000"/>
            <a:ext cx="911100" cy="372000"/>
          </a:xfrm>
          <a:prstGeom prst="rect">
            <a:avLst/>
          </a:prstGeom>
          <a:solidFill>
            <a:srgbClr val="F9CB9C"/>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Protocols</a:t>
            </a:r>
            <a:endParaRPr sz="1100">
              <a:solidFill>
                <a:schemeClr val="dk1"/>
              </a:solidFill>
              <a:latin typeface="Montserrat"/>
              <a:ea typeface="Montserrat"/>
              <a:cs typeface="Montserrat"/>
              <a:sym typeface="Montserrat"/>
            </a:endParaRPr>
          </a:p>
        </p:txBody>
      </p:sp>
      <p:sp>
        <p:nvSpPr>
          <p:cNvPr id="1103" name="Google Shape;1103;p58"/>
          <p:cNvSpPr txBox="1"/>
          <p:nvPr/>
        </p:nvSpPr>
        <p:spPr>
          <a:xfrm rot="-5400000">
            <a:off x="-1271200" y="4040650"/>
            <a:ext cx="4171500" cy="314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Orcanos Records</a:t>
            </a:r>
            <a:endParaRPr sz="1600">
              <a:solidFill>
                <a:schemeClr val="dk1"/>
              </a:solidFill>
              <a:latin typeface="Montserrat"/>
              <a:ea typeface="Montserrat"/>
              <a:cs typeface="Montserrat"/>
              <a:sym typeface="Montserrat"/>
            </a:endParaRPr>
          </a:p>
        </p:txBody>
      </p:sp>
      <p:sp>
        <p:nvSpPr>
          <p:cNvPr id="1104" name="Google Shape;1104;p58"/>
          <p:cNvSpPr txBox="1"/>
          <p:nvPr/>
        </p:nvSpPr>
        <p:spPr>
          <a:xfrm>
            <a:off x="4374350" y="4949925"/>
            <a:ext cx="1474800" cy="488400"/>
          </a:xfrm>
          <a:prstGeom prst="rect">
            <a:avLst/>
          </a:prstGeom>
          <a:solidFill>
            <a:srgbClr val="C9DAF8"/>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UK: Validation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Summary Report</a:t>
            </a:r>
            <a:endParaRPr sz="1100">
              <a:solidFill>
                <a:schemeClr val="dk1"/>
              </a:solidFill>
              <a:latin typeface="Montserrat"/>
              <a:ea typeface="Montserrat"/>
              <a:cs typeface="Montserrat"/>
              <a:sym typeface="Montserrat"/>
            </a:endParaRPr>
          </a:p>
        </p:txBody>
      </p:sp>
      <p:sp>
        <p:nvSpPr>
          <p:cNvPr id="1105" name="Google Shape;1105;p58"/>
          <p:cNvSpPr txBox="1"/>
          <p:nvPr/>
        </p:nvSpPr>
        <p:spPr>
          <a:xfrm>
            <a:off x="8284475" y="1074150"/>
            <a:ext cx="3340200" cy="558600"/>
          </a:xfrm>
          <a:prstGeom prst="rect">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Validation Policy</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Req are different in each country - align at higher level</a:t>
            </a:r>
            <a:endParaRPr i="1" sz="1100">
              <a:solidFill>
                <a:srgbClr val="9E9E9E"/>
              </a:solidFill>
              <a:latin typeface="Montserrat"/>
              <a:ea typeface="Montserrat"/>
              <a:cs typeface="Montserrat"/>
              <a:sym typeface="Montserrat"/>
            </a:endParaRPr>
          </a:p>
        </p:txBody>
      </p:sp>
      <p:sp>
        <p:nvSpPr>
          <p:cNvPr id="1106" name="Google Shape;1106;p58"/>
          <p:cNvSpPr txBox="1"/>
          <p:nvPr/>
        </p:nvSpPr>
        <p:spPr>
          <a:xfrm>
            <a:off x="5849150" y="581250"/>
            <a:ext cx="3806100" cy="3366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900">
                <a:solidFill>
                  <a:schemeClr val="dk1"/>
                </a:solidFill>
                <a:latin typeface="Montserrat"/>
                <a:ea typeface="Montserrat"/>
                <a:cs typeface="Montserrat"/>
                <a:sym typeface="Montserrat"/>
              </a:rPr>
              <a:t>Regulatory Statement</a:t>
            </a:r>
            <a:endParaRPr i="1" sz="9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900">
                <a:solidFill>
                  <a:srgbClr val="9E9E9E"/>
                </a:solidFill>
                <a:latin typeface="Montserrat"/>
                <a:ea typeface="Montserrat"/>
                <a:cs typeface="Montserrat"/>
                <a:sym typeface="Montserrat"/>
              </a:rPr>
              <a:t>Bring clarity &amp; unify all regions to common Intended use</a:t>
            </a:r>
            <a:endParaRPr i="1" sz="900">
              <a:solidFill>
                <a:srgbClr val="9E9E9E"/>
              </a:solidFill>
              <a:latin typeface="Montserrat"/>
              <a:ea typeface="Montserrat"/>
              <a:cs typeface="Montserrat"/>
              <a:sym typeface="Montserrat"/>
            </a:endParaRPr>
          </a:p>
        </p:txBody>
      </p:sp>
      <p:sp>
        <p:nvSpPr>
          <p:cNvPr id="1107" name="Google Shape;1107;p58"/>
          <p:cNvSpPr txBox="1"/>
          <p:nvPr/>
        </p:nvSpPr>
        <p:spPr>
          <a:xfrm>
            <a:off x="1773175" y="2174875"/>
            <a:ext cx="2290500" cy="558600"/>
          </a:xfrm>
          <a:prstGeom prst="rect">
            <a:avLst/>
          </a:prstGeom>
          <a:noFill/>
          <a:ln cap="flat" cmpd="sng" w="9525">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Validation Plan by location</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Focus testing per region to meet local requirements</a:t>
            </a:r>
            <a:endParaRPr i="1" sz="1100">
              <a:solidFill>
                <a:srgbClr val="9E9E9E"/>
              </a:solidFill>
              <a:latin typeface="Montserrat"/>
              <a:ea typeface="Montserrat"/>
              <a:cs typeface="Montserrat"/>
              <a:sym typeface="Montserrat"/>
            </a:endParaRPr>
          </a:p>
        </p:txBody>
      </p:sp>
      <p:sp>
        <p:nvSpPr>
          <p:cNvPr id="1108" name="Google Shape;1108;p58"/>
          <p:cNvSpPr txBox="1"/>
          <p:nvPr/>
        </p:nvSpPr>
        <p:spPr>
          <a:xfrm>
            <a:off x="4635725" y="2895900"/>
            <a:ext cx="911100" cy="2538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IQ, OPQs</a:t>
            </a:r>
            <a:endParaRPr sz="900">
              <a:solidFill>
                <a:schemeClr val="dk1"/>
              </a:solidFill>
              <a:latin typeface="Montserrat"/>
              <a:ea typeface="Montserrat"/>
              <a:cs typeface="Montserrat"/>
              <a:sym typeface="Montserrat"/>
            </a:endParaRPr>
          </a:p>
        </p:txBody>
      </p:sp>
      <p:pic>
        <p:nvPicPr>
          <p:cNvPr id="1109" name="Google Shape;1109;p58"/>
          <p:cNvPicPr preferRelativeResize="0"/>
          <p:nvPr/>
        </p:nvPicPr>
        <p:blipFill>
          <a:blip r:embed="rId3">
            <a:alphaModFix/>
          </a:blip>
          <a:stretch>
            <a:fillRect/>
          </a:stretch>
        </p:blipFill>
        <p:spPr>
          <a:xfrm>
            <a:off x="11457850" y="171800"/>
            <a:ext cx="428625" cy="457200"/>
          </a:xfrm>
          <a:prstGeom prst="rect">
            <a:avLst/>
          </a:prstGeom>
          <a:noFill/>
          <a:ln>
            <a:noFill/>
          </a:ln>
        </p:spPr>
      </p:pic>
      <p:sp>
        <p:nvSpPr>
          <p:cNvPr id="1110" name="Google Shape;1110;p58"/>
          <p:cNvSpPr txBox="1"/>
          <p:nvPr/>
        </p:nvSpPr>
        <p:spPr>
          <a:xfrm>
            <a:off x="593725" y="66807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0000"/>
              </a:lnSpc>
              <a:spcBef>
                <a:spcPts val="0"/>
              </a:spcBef>
              <a:spcAft>
                <a:spcPts val="600"/>
              </a:spcAft>
              <a:buNone/>
            </a:pPr>
            <a:r>
              <a:t/>
            </a:r>
            <a:endParaRPr/>
          </a:p>
        </p:txBody>
      </p:sp>
      <p:sp>
        <p:nvSpPr>
          <p:cNvPr id="1111" name="Google Shape;1111;p58"/>
          <p:cNvSpPr txBox="1"/>
          <p:nvPr/>
        </p:nvSpPr>
        <p:spPr>
          <a:xfrm>
            <a:off x="8077650" y="2207425"/>
            <a:ext cx="1573200" cy="4311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USA: Val </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Plan</a:t>
            </a:r>
            <a:endParaRPr sz="1200">
              <a:solidFill>
                <a:schemeClr val="dk1"/>
              </a:solidFill>
              <a:latin typeface="Montserrat"/>
              <a:ea typeface="Montserrat"/>
              <a:cs typeface="Montserrat"/>
              <a:sym typeface="Montserrat"/>
            </a:endParaRPr>
          </a:p>
        </p:txBody>
      </p:sp>
      <p:sp>
        <p:nvSpPr>
          <p:cNvPr id="1112" name="Google Shape;1112;p58"/>
          <p:cNvSpPr txBox="1"/>
          <p:nvPr/>
        </p:nvSpPr>
        <p:spPr>
          <a:xfrm>
            <a:off x="9919500" y="2207425"/>
            <a:ext cx="1616400" cy="4311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Canada: Val Plan</a:t>
            </a:r>
            <a:endParaRPr sz="1200">
              <a:solidFill>
                <a:schemeClr val="dk1"/>
              </a:solidFill>
              <a:latin typeface="Montserrat"/>
              <a:ea typeface="Montserrat"/>
              <a:cs typeface="Montserrat"/>
              <a:sym typeface="Montserrat"/>
            </a:endParaRPr>
          </a:p>
        </p:txBody>
      </p:sp>
      <p:sp>
        <p:nvSpPr>
          <p:cNvPr id="1113" name="Google Shape;1113;p58"/>
          <p:cNvSpPr txBox="1"/>
          <p:nvPr/>
        </p:nvSpPr>
        <p:spPr>
          <a:xfrm>
            <a:off x="6213500" y="2207425"/>
            <a:ext cx="1573200" cy="4311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ROW: Val Plan</a:t>
            </a:r>
            <a:endParaRPr sz="1200">
              <a:solidFill>
                <a:schemeClr val="dk1"/>
              </a:solidFill>
              <a:latin typeface="Montserrat"/>
              <a:ea typeface="Montserrat"/>
              <a:cs typeface="Montserrat"/>
              <a:sym typeface="Montserrat"/>
            </a:endParaRPr>
          </a:p>
        </p:txBody>
      </p:sp>
      <p:cxnSp>
        <p:nvCxnSpPr>
          <p:cNvPr id="1114" name="Google Shape;1114;p58"/>
          <p:cNvCxnSpPr>
            <a:stCxn id="1100" idx="3"/>
            <a:endCxn id="1101" idx="3"/>
          </p:cNvCxnSpPr>
          <p:nvPr/>
        </p:nvCxnSpPr>
        <p:spPr>
          <a:xfrm>
            <a:off x="7627850" y="1120800"/>
            <a:ext cx="354900" cy="465300"/>
          </a:xfrm>
          <a:prstGeom prst="bentConnector3">
            <a:avLst>
              <a:gd fmla="val 167068" name="adj1"/>
            </a:avLst>
          </a:prstGeom>
          <a:noFill/>
          <a:ln cap="flat" cmpd="sng" w="9525">
            <a:solidFill>
              <a:schemeClr val="dk2"/>
            </a:solidFill>
            <a:prstDash val="solid"/>
            <a:round/>
            <a:headEnd len="med" w="med" type="none"/>
            <a:tailEnd len="med" w="med" type="triangle"/>
          </a:ln>
        </p:spPr>
      </p:cxnSp>
      <p:cxnSp>
        <p:nvCxnSpPr>
          <p:cNvPr id="1115" name="Google Shape;1115;p58"/>
          <p:cNvCxnSpPr>
            <a:stCxn id="1100" idx="1"/>
            <a:endCxn id="1101" idx="1"/>
          </p:cNvCxnSpPr>
          <p:nvPr/>
        </p:nvCxnSpPr>
        <p:spPr>
          <a:xfrm flipH="1">
            <a:off x="3669950" y="1120800"/>
            <a:ext cx="281400" cy="465300"/>
          </a:xfrm>
          <a:prstGeom prst="bentConnector3">
            <a:avLst>
              <a:gd fmla="val 184657" name="adj1"/>
            </a:avLst>
          </a:prstGeom>
          <a:noFill/>
          <a:ln cap="flat" cmpd="sng" w="9525">
            <a:solidFill>
              <a:schemeClr val="dk2"/>
            </a:solidFill>
            <a:prstDash val="solid"/>
            <a:round/>
            <a:headEnd len="med" w="med" type="none"/>
            <a:tailEnd len="med" w="med" type="triangle"/>
          </a:ln>
        </p:spPr>
      </p:cxnSp>
      <p:sp>
        <p:nvSpPr>
          <p:cNvPr id="1116" name="Google Shape;1116;p58"/>
          <p:cNvSpPr txBox="1"/>
          <p:nvPr/>
        </p:nvSpPr>
        <p:spPr>
          <a:xfrm>
            <a:off x="4538000" y="3708300"/>
            <a:ext cx="1147500" cy="602100"/>
          </a:xfrm>
          <a:prstGeom prst="rect">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Projects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(ECOs, Risk)</a:t>
            </a:r>
            <a:endParaRPr sz="1200">
              <a:solidFill>
                <a:schemeClr val="dk1"/>
              </a:solidFill>
              <a:latin typeface="Montserrat"/>
              <a:ea typeface="Montserrat"/>
              <a:cs typeface="Montserrat"/>
              <a:sym typeface="Montserrat"/>
            </a:endParaRPr>
          </a:p>
        </p:txBody>
      </p:sp>
      <p:cxnSp>
        <p:nvCxnSpPr>
          <p:cNvPr id="1117" name="Google Shape;1117;p58"/>
          <p:cNvCxnSpPr>
            <a:stCxn id="1101" idx="2"/>
            <a:endCxn id="1099" idx="0"/>
          </p:cNvCxnSpPr>
          <p:nvPr/>
        </p:nvCxnSpPr>
        <p:spPr>
          <a:xfrm rot="5400000">
            <a:off x="5249500" y="1630800"/>
            <a:ext cx="418500" cy="735000"/>
          </a:xfrm>
          <a:prstGeom prst="bentConnector3">
            <a:avLst>
              <a:gd fmla="val 49985" name="adj1"/>
            </a:avLst>
          </a:prstGeom>
          <a:noFill/>
          <a:ln cap="flat" cmpd="sng" w="9525">
            <a:solidFill>
              <a:schemeClr val="dk2"/>
            </a:solidFill>
            <a:prstDash val="solid"/>
            <a:round/>
            <a:headEnd len="med" w="med" type="none"/>
            <a:tailEnd len="med" w="med" type="triangle"/>
          </a:ln>
        </p:spPr>
      </p:cxnSp>
      <p:cxnSp>
        <p:nvCxnSpPr>
          <p:cNvPr id="1118" name="Google Shape;1118;p58"/>
          <p:cNvCxnSpPr>
            <a:stCxn id="1101" idx="2"/>
            <a:endCxn id="1113" idx="0"/>
          </p:cNvCxnSpPr>
          <p:nvPr/>
        </p:nvCxnSpPr>
        <p:spPr>
          <a:xfrm flipH="1" rot="-5400000">
            <a:off x="6203950" y="1411350"/>
            <a:ext cx="418500" cy="1173900"/>
          </a:xfrm>
          <a:prstGeom prst="bentConnector3">
            <a:avLst>
              <a:gd fmla="val 49985" name="adj1"/>
            </a:avLst>
          </a:prstGeom>
          <a:noFill/>
          <a:ln cap="flat" cmpd="sng" w="9525">
            <a:solidFill>
              <a:schemeClr val="dk2"/>
            </a:solidFill>
            <a:prstDash val="solid"/>
            <a:round/>
            <a:headEnd len="med" w="med" type="none"/>
            <a:tailEnd len="med" w="med" type="triangle"/>
          </a:ln>
        </p:spPr>
      </p:cxnSp>
      <p:cxnSp>
        <p:nvCxnSpPr>
          <p:cNvPr id="1119" name="Google Shape;1119;p58"/>
          <p:cNvCxnSpPr>
            <a:stCxn id="1101" idx="2"/>
            <a:endCxn id="1111" idx="0"/>
          </p:cNvCxnSpPr>
          <p:nvPr/>
        </p:nvCxnSpPr>
        <p:spPr>
          <a:xfrm flipH="1" rot="-5400000">
            <a:off x="7136050" y="479250"/>
            <a:ext cx="418500" cy="3038100"/>
          </a:xfrm>
          <a:prstGeom prst="bentConnector3">
            <a:avLst>
              <a:gd fmla="val 49985" name="adj1"/>
            </a:avLst>
          </a:prstGeom>
          <a:noFill/>
          <a:ln cap="flat" cmpd="sng" w="9525">
            <a:solidFill>
              <a:schemeClr val="dk2"/>
            </a:solidFill>
            <a:prstDash val="solid"/>
            <a:round/>
            <a:headEnd len="med" w="med" type="none"/>
            <a:tailEnd len="med" w="med" type="triangle"/>
          </a:ln>
        </p:spPr>
      </p:cxnSp>
      <p:cxnSp>
        <p:nvCxnSpPr>
          <p:cNvPr id="1120" name="Google Shape;1120;p58"/>
          <p:cNvCxnSpPr>
            <a:stCxn id="1101" idx="2"/>
            <a:endCxn id="1112" idx="0"/>
          </p:cNvCxnSpPr>
          <p:nvPr/>
        </p:nvCxnSpPr>
        <p:spPr>
          <a:xfrm flipH="1" rot="-5400000">
            <a:off x="8067700" y="-452400"/>
            <a:ext cx="418500" cy="4901400"/>
          </a:xfrm>
          <a:prstGeom prst="bentConnector3">
            <a:avLst>
              <a:gd fmla="val 49985" name="adj1"/>
            </a:avLst>
          </a:prstGeom>
          <a:noFill/>
          <a:ln cap="flat" cmpd="sng" w="9525">
            <a:solidFill>
              <a:schemeClr val="dk2"/>
            </a:solidFill>
            <a:prstDash val="solid"/>
            <a:round/>
            <a:headEnd len="med" w="med" type="none"/>
            <a:tailEnd len="med" w="med" type="triangle"/>
          </a:ln>
        </p:spPr>
      </p:cxnSp>
      <p:sp>
        <p:nvSpPr>
          <p:cNvPr id="1121" name="Google Shape;1121;p58"/>
          <p:cNvSpPr txBox="1"/>
          <p:nvPr/>
        </p:nvSpPr>
        <p:spPr>
          <a:xfrm>
            <a:off x="6237150" y="4949925"/>
            <a:ext cx="1474800" cy="488400"/>
          </a:xfrm>
          <a:prstGeom prst="rect">
            <a:avLst/>
          </a:prstGeom>
          <a:solidFill>
            <a:srgbClr val="C9DAF8"/>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ROW</a:t>
            </a:r>
            <a:r>
              <a:rPr lang="en-US" sz="1100">
                <a:solidFill>
                  <a:schemeClr val="dk1"/>
                </a:solidFill>
                <a:latin typeface="Montserrat"/>
                <a:ea typeface="Montserrat"/>
                <a:cs typeface="Montserrat"/>
                <a:sym typeface="Montserrat"/>
              </a:rPr>
              <a:t>: Validation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Summary Report</a:t>
            </a:r>
            <a:endParaRPr sz="1100">
              <a:solidFill>
                <a:schemeClr val="dk1"/>
              </a:solidFill>
              <a:latin typeface="Montserrat"/>
              <a:ea typeface="Montserrat"/>
              <a:cs typeface="Montserrat"/>
              <a:sym typeface="Montserrat"/>
            </a:endParaRPr>
          </a:p>
        </p:txBody>
      </p:sp>
      <p:sp>
        <p:nvSpPr>
          <p:cNvPr id="1122" name="Google Shape;1122;p58"/>
          <p:cNvSpPr txBox="1"/>
          <p:nvPr/>
        </p:nvSpPr>
        <p:spPr>
          <a:xfrm>
            <a:off x="6510725" y="2895900"/>
            <a:ext cx="911100" cy="2538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IQ, OPQs</a:t>
            </a:r>
            <a:endParaRPr sz="900">
              <a:solidFill>
                <a:schemeClr val="dk1"/>
              </a:solidFill>
              <a:latin typeface="Montserrat"/>
              <a:ea typeface="Montserrat"/>
              <a:cs typeface="Montserrat"/>
              <a:sym typeface="Montserrat"/>
            </a:endParaRPr>
          </a:p>
        </p:txBody>
      </p:sp>
      <p:sp>
        <p:nvSpPr>
          <p:cNvPr id="1123" name="Google Shape;1123;p58"/>
          <p:cNvSpPr txBox="1"/>
          <p:nvPr/>
        </p:nvSpPr>
        <p:spPr>
          <a:xfrm>
            <a:off x="6413000" y="3708300"/>
            <a:ext cx="1147500" cy="602100"/>
          </a:xfrm>
          <a:prstGeom prst="rect">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Projects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(ECOs, Risk)</a:t>
            </a:r>
            <a:endParaRPr sz="1200">
              <a:solidFill>
                <a:schemeClr val="dk1"/>
              </a:solidFill>
              <a:latin typeface="Montserrat"/>
              <a:ea typeface="Montserrat"/>
              <a:cs typeface="Montserrat"/>
              <a:sym typeface="Montserrat"/>
            </a:endParaRPr>
          </a:p>
        </p:txBody>
      </p:sp>
      <p:sp>
        <p:nvSpPr>
          <p:cNvPr id="1124" name="Google Shape;1124;p58"/>
          <p:cNvSpPr txBox="1"/>
          <p:nvPr/>
        </p:nvSpPr>
        <p:spPr>
          <a:xfrm>
            <a:off x="8120813" y="4442350"/>
            <a:ext cx="1474800" cy="488400"/>
          </a:xfrm>
          <a:prstGeom prst="rect">
            <a:avLst/>
          </a:prstGeom>
          <a:solidFill>
            <a:srgbClr val="C9DAF8"/>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1100">
                <a:solidFill>
                  <a:srgbClr val="980000"/>
                </a:solidFill>
                <a:latin typeface="Montserrat"/>
                <a:ea typeface="Montserrat"/>
                <a:cs typeface="Montserrat"/>
                <a:sym typeface="Montserrat"/>
              </a:rPr>
              <a:t>*</a:t>
            </a:r>
            <a:r>
              <a:rPr lang="en-US" sz="1100">
                <a:solidFill>
                  <a:schemeClr val="dk1"/>
                </a:solidFill>
                <a:latin typeface="Montserrat"/>
                <a:ea typeface="Montserrat"/>
                <a:cs typeface="Montserrat"/>
                <a:sym typeface="Montserrat"/>
              </a:rPr>
              <a:t>USA: Validation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Summary Report</a:t>
            </a:r>
            <a:endParaRPr sz="1100">
              <a:solidFill>
                <a:schemeClr val="dk1"/>
              </a:solidFill>
              <a:latin typeface="Montserrat"/>
              <a:ea typeface="Montserrat"/>
              <a:cs typeface="Montserrat"/>
              <a:sym typeface="Montserrat"/>
            </a:endParaRPr>
          </a:p>
        </p:txBody>
      </p:sp>
      <p:sp>
        <p:nvSpPr>
          <p:cNvPr id="1125" name="Google Shape;1125;p58"/>
          <p:cNvSpPr txBox="1"/>
          <p:nvPr/>
        </p:nvSpPr>
        <p:spPr>
          <a:xfrm>
            <a:off x="8392613" y="2685550"/>
            <a:ext cx="911100" cy="2538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IQ, OPQs</a:t>
            </a:r>
            <a:endParaRPr sz="900">
              <a:solidFill>
                <a:schemeClr val="dk1"/>
              </a:solidFill>
              <a:latin typeface="Montserrat"/>
              <a:ea typeface="Montserrat"/>
              <a:cs typeface="Montserrat"/>
              <a:sym typeface="Montserrat"/>
            </a:endParaRPr>
          </a:p>
        </p:txBody>
      </p:sp>
      <p:sp>
        <p:nvSpPr>
          <p:cNvPr id="1126" name="Google Shape;1126;p58"/>
          <p:cNvSpPr txBox="1"/>
          <p:nvPr/>
        </p:nvSpPr>
        <p:spPr>
          <a:xfrm>
            <a:off x="8284463" y="3407500"/>
            <a:ext cx="1147500" cy="602100"/>
          </a:xfrm>
          <a:prstGeom prst="rect">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Projects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(ECOs, Risk)</a:t>
            </a:r>
            <a:endParaRPr sz="1200">
              <a:solidFill>
                <a:schemeClr val="dk1"/>
              </a:solidFill>
              <a:latin typeface="Montserrat"/>
              <a:ea typeface="Montserrat"/>
              <a:cs typeface="Montserrat"/>
              <a:sym typeface="Montserrat"/>
            </a:endParaRPr>
          </a:p>
        </p:txBody>
      </p:sp>
      <p:sp>
        <p:nvSpPr>
          <p:cNvPr id="1127" name="Google Shape;1127;p58"/>
          <p:cNvSpPr txBox="1"/>
          <p:nvPr/>
        </p:nvSpPr>
        <p:spPr>
          <a:xfrm>
            <a:off x="9983600" y="4949925"/>
            <a:ext cx="1474800" cy="488400"/>
          </a:xfrm>
          <a:prstGeom prst="rect">
            <a:avLst/>
          </a:prstGeom>
          <a:solidFill>
            <a:srgbClr val="C9DAF8"/>
          </a:solidFill>
          <a:ln cap="flat" cmpd="sng" w="952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CA</a:t>
            </a:r>
            <a:r>
              <a:rPr lang="en-US" sz="1100">
                <a:solidFill>
                  <a:schemeClr val="dk1"/>
                </a:solidFill>
                <a:latin typeface="Montserrat"/>
                <a:ea typeface="Montserrat"/>
                <a:cs typeface="Montserrat"/>
                <a:sym typeface="Montserrat"/>
              </a:rPr>
              <a:t>: Validation</a:t>
            </a:r>
            <a:endParaRPr sz="11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100">
                <a:solidFill>
                  <a:schemeClr val="dk1"/>
                </a:solidFill>
                <a:latin typeface="Montserrat"/>
                <a:ea typeface="Montserrat"/>
                <a:cs typeface="Montserrat"/>
                <a:sym typeface="Montserrat"/>
              </a:rPr>
              <a:t>Summary Report</a:t>
            </a:r>
            <a:endParaRPr sz="1100">
              <a:solidFill>
                <a:schemeClr val="dk1"/>
              </a:solidFill>
              <a:latin typeface="Montserrat"/>
              <a:ea typeface="Montserrat"/>
              <a:cs typeface="Montserrat"/>
              <a:sym typeface="Montserrat"/>
            </a:endParaRPr>
          </a:p>
        </p:txBody>
      </p:sp>
      <p:sp>
        <p:nvSpPr>
          <p:cNvPr id="1128" name="Google Shape;1128;p58"/>
          <p:cNvSpPr txBox="1"/>
          <p:nvPr/>
        </p:nvSpPr>
        <p:spPr>
          <a:xfrm>
            <a:off x="10274525" y="2895900"/>
            <a:ext cx="911100" cy="2538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900">
                <a:solidFill>
                  <a:schemeClr val="dk1"/>
                </a:solidFill>
                <a:latin typeface="Montserrat"/>
                <a:ea typeface="Montserrat"/>
                <a:cs typeface="Montserrat"/>
                <a:sym typeface="Montserrat"/>
              </a:rPr>
              <a:t>IQ, OPQs</a:t>
            </a:r>
            <a:endParaRPr sz="900">
              <a:solidFill>
                <a:schemeClr val="dk1"/>
              </a:solidFill>
              <a:latin typeface="Montserrat"/>
              <a:ea typeface="Montserrat"/>
              <a:cs typeface="Montserrat"/>
              <a:sym typeface="Montserrat"/>
            </a:endParaRPr>
          </a:p>
        </p:txBody>
      </p:sp>
      <p:sp>
        <p:nvSpPr>
          <p:cNvPr id="1129" name="Google Shape;1129;p58"/>
          <p:cNvSpPr txBox="1"/>
          <p:nvPr/>
        </p:nvSpPr>
        <p:spPr>
          <a:xfrm>
            <a:off x="10176800" y="3708300"/>
            <a:ext cx="1147500" cy="602100"/>
          </a:xfrm>
          <a:prstGeom prst="rect">
            <a:avLst/>
          </a:prstGeom>
          <a:solidFill>
            <a:schemeClr val="lt2"/>
          </a:solidFill>
          <a:ln cap="flat" cmpd="sng" w="9525">
            <a:solidFill>
              <a:schemeClr val="accent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Projects</a:t>
            </a:r>
            <a:endParaRPr sz="1600">
              <a:solidFill>
                <a:schemeClr val="dk1"/>
              </a:solidFill>
              <a:latin typeface="Montserrat"/>
              <a:ea typeface="Montserrat"/>
              <a:cs typeface="Montserrat"/>
              <a:sym typeface="Montserrat"/>
            </a:endParaRPr>
          </a:p>
          <a:p>
            <a:pPr indent="0" lvl="0" marL="0" rtl="0" algn="ctr">
              <a:spcBef>
                <a:spcPts val="0"/>
              </a:spcBef>
              <a:spcAft>
                <a:spcPts val="0"/>
              </a:spcAft>
              <a:buNone/>
            </a:pPr>
            <a:r>
              <a:rPr lang="en-US" sz="1200">
                <a:solidFill>
                  <a:schemeClr val="dk1"/>
                </a:solidFill>
                <a:latin typeface="Montserrat"/>
                <a:ea typeface="Montserrat"/>
                <a:cs typeface="Montserrat"/>
                <a:sym typeface="Montserrat"/>
              </a:rPr>
              <a:t>(ECOs, Risk)</a:t>
            </a:r>
            <a:endParaRPr sz="1200">
              <a:solidFill>
                <a:schemeClr val="dk1"/>
              </a:solidFill>
              <a:latin typeface="Montserrat"/>
              <a:ea typeface="Montserrat"/>
              <a:cs typeface="Montserrat"/>
              <a:sym typeface="Montserrat"/>
            </a:endParaRPr>
          </a:p>
        </p:txBody>
      </p:sp>
      <p:sp>
        <p:nvSpPr>
          <p:cNvPr id="1130" name="Google Shape;1130;p58"/>
          <p:cNvSpPr txBox="1"/>
          <p:nvPr/>
        </p:nvSpPr>
        <p:spPr>
          <a:xfrm>
            <a:off x="6518988" y="3243000"/>
            <a:ext cx="911100" cy="372000"/>
          </a:xfrm>
          <a:prstGeom prst="rect">
            <a:avLst/>
          </a:prstGeom>
          <a:solidFill>
            <a:srgbClr val="F9CB9C"/>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Protocols</a:t>
            </a:r>
            <a:endParaRPr sz="1100">
              <a:solidFill>
                <a:schemeClr val="dk1"/>
              </a:solidFill>
              <a:latin typeface="Montserrat"/>
              <a:ea typeface="Montserrat"/>
              <a:cs typeface="Montserrat"/>
              <a:sym typeface="Montserrat"/>
            </a:endParaRPr>
          </a:p>
        </p:txBody>
      </p:sp>
      <p:sp>
        <p:nvSpPr>
          <p:cNvPr id="1131" name="Google Shape;1131;p58"/>
          <p:cNvSpPr txBox="1"/>
          <p:nvPr/>
        </p:nvSpPr>
        <p:spPr>
          <a:xfrm>
            <a:off x="8402663" y="2987413"/>
            <a:ext cx="911100" cy="372000"/>
          </a:xfrm>
          <a:prstGeom prst="rect">
            <a:avLst/>
          </a:prstGeom>
          <a:solidFill>
            <a:srgbClr val="F9CB9C"/>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Protocols</a:t>
            </a:r>
            <a:endParaRPr sz="1100">
              <a:solidFill>
                <a:schemeClr val="dk1"/>
              </a:solidFill>
              <a:latin typeface="Montserrat"/>
              <a:ea typeface="Montserrat"/>
              <a:cs typeface="Montserrat"/>
              <a:sym typeface="Montserrat"/>
            </a:endParaRPr>
          </a:p>
        </p:txBody>
      </p:sp>
      <p:sp>
        <p:nvSpPr>
          <p:cNvPr id="1132" name="Google Shape;1132;p58"/>
          <p:cNvSpPr txBox="1"/>
          <p:nvPr/>
        </p:nvSpPr>
        <p:spPr>
          <a:xfrm>
            <a:off x="10265438" y="3243000"/>
            <a:ext cx="911100" cy="372000"/>
          </a:xfrm>
          <a:prstGeom prst="rect">
            <a:avLst/>
          </a:prstGeom>
          <a:solidFill>
            <a:srgbClr val="F9CB9C"/>
          </a:solid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Protocols</a:t>
            </a:r>
            <a:endParaRPr sz="1100">
              <a:solidFill>
                <a:schemeClr val="dk1"/>
              </a:solidFill>
              <a:latin typeface="Montserrat"/>
              <a:ea typeface="Montserrat"/>
              <a:cs typeface="Montserrat"/>
              <a:sym typeface="Montserrat"/>
            </a:endParaRPr>
          </a:p>
        </p:txBody>
      </p:sp>
      <p:sp>
        <p:nvSpPr>
          <p:cNvPr id="1133" name="Google Shape;1133;p58"/>
          <p:cNvSpPr txBox="1"/>
          <p:nvPr/>
        </p:nvSpPr>
        <p:spPr>
          <a:xfrm rot="1394">
            <a:off x="4223962" y="5649448"/>
            <a:ext cx="7400701" cy="336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TEMPLATES: </a:t>
            </a:r>
            <a:endParaRPr sz="1100" u="sng">
              <a:solidFill>
                <a:srgbClr val="0000FF"/>
              </a:solidFill>
              <a:latin typeface="Montserrat"/>
              <a:ea typeface="Montserrat"/>
              <a:cs typeface="Montserrat"/>
              <a:sym typeface="Montserrat"/>
            </a:endParaRPr>
          </a:p>
        </p:txBody>
      </p:sp>
      <p:sp>
        <p:nvSpPr>
          <p:cNvPr id="1134" name="Google Shape;1134;p58"/>
          <p:cNvSpPr txBox="1"/>
          <p:nvPr/>
        </p:nvSpPr>
        <p:spPr>
          <a:xfrm>
            <a:off x="4374350" y="4403700"/>
            <a:ext cx="1474800" cy="336600"/>
          </a:xfrm>
          <a:prstGeom prst="rect">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UK Pathologist</a:t>
            </a:r>
            <a:endParaRPr sz="1100">
              <a:solidFill>
                <a:schemeClr val="dk1"/>
              </a:solidFill>
              <a:latin typeface="Montserrat"/>
              <a:ea typeface="Montserrat"/>
              <a:cs typeface="Montserrat"/>
              <a:sym typeface="Montserrat"/>
            </a:endParaRPr>
          </a:p>
        </p:txBody>
      </p:sp>
      <p:sp>
        <p:nvSpPr>
          <p:cNvPr id="1135" name="Google Shape;1135;p58"/>
          <p:cNvSpPr txBox="1"/>
          <p:nvPr/>
        </p:nvSpPr>
        <p:spPr>
          <a:xfrm>
            <a:off x="6237150" y="4403688"/>
            <a:ext cx="1474800" cy="336600"/>
          </a:xfrm>
          <a:prstGeom prst="rect">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ROW</a:t>
            </a:r>
            <a:r>
              <a:rPr lang="en-US" sz="1100">
                <a:solidFill>
                  <a:schemeClr val="dk1"/>
                </a:solidFill>
                <a:latin typeface="Montserrat"/>
                <a:ea typeface="Montserrat"/>
                <a:cs typeface="Montserrat"/>
                <a:sym typeface="Montserrat"/>
              </a:rPr>
              <a:t> Pathologist</a:t>
            </a:r>
            <a:endParaRPr sz="1100">
              <a:solidFill>
                <a:schemeClr val="dk1"/>
              </a:solidFill>
              <a:latin typeface="Montserrat"/>
              <a:ea typeface="Montserrat"/>
              <a:cs typeface="Montserrat"/>
              <a:sym typeface="Montserrat"/>
            </a:endParaRPr>
          </a:p>
        </p:txBody>
      </p:sp>
      <p:sp>
        <p:nvSpPr>
          <p:cNvPr id="1136" name="Google Shape;1136;p58"/>
          <p:cNvSpPr txBox="1"/>
          <p:nvPr/>
        </p:nvSpPr>
        <p:spPr>
          <a:xfrm>
            <a:off x="8120825" y="4057675"/>
            <a:ext cx="1474800" cy="336600"/>
          </a:xfrm>
          <a:prstGeom prst="rect">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USA Pathologist</a:t>
            </a:r>
            <a:endParaRPr sz="1100">
              <a:solidFill>
                <a:schemeClr val="dk1"/>
              </a:solidFill>
              <a:latin typeface="Montserrat"/>
              <a:ea typeface="Montserrat"/>
              <a:cs typeface="Montserrat"/>
              <a:sym typeface="Montserrat"/>
            </a:endParaRPr>
          </a:p>
        </p:txBody>
      </p:sp>
      <p:sp>
        <p:nvSpPr>
          <p:cNvPr id="1137" name="Google Shape;1137;p58"/>
          <p:cNvSpPr txBox="1"/>
          <p:nvPr/>
        </p:nvSpPr>
        <p:spPr>
          <a:xfrm>
            <a:off x="10004500" y="4403700"/>
            <a:ext cx="1474800" cy="336600"/>
          </a:xfrm>
          <a:prstGeom prst="rect">
            <a:avLst/>
          </a:prstGeom>
          <a:solidFill>
            <a:srgbClr val="CFE2F3"/>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CA</a:t>
            </a:r>
            <a:r>
              <a:rPr lang="en-US" sz="1100">
                <a:solidFill>
                  <a:schemeClr val="dk1"/>
                </a:solidFill>
                <a:latin typeface="Montserrat"/>
                <a:ea typeface="Montserrat"/>
                <a:cs typeface="Montserrat"/>
                <a:sym typeface="Montserrat"/>
              </a:rPr>
              <a:t> Pathologist</a:t>
            </a:r>
            <a:endParaRPr sz="1100">
              <a:solidFill>
                <a:schemeClr val="dk1"/>
              </a:solidFill>
              <a:latin typeface="Montserrat"/>
              <a:ea typeface="Montserrat"/>
              <a:cs typeface="Montserrat"/>
              <a:sym typeface="Montserrat"/>
            </a:endParaRPr>
          </a:p>
        </p:txBody>
      </p:sp>
      <p:sp>
        <p:nvSpPr>
          <p:cNvPr id="1138" name="Google Shape;1138;p58"/>
          <p:cNvSpPr txBox="1"/>
          <p:nvPr/>
        </p:nvSpPr>
        <p:spPr>
          <a:xfrm rot="1394">
            <a:off x="4223975" y="6088423"/>
            <a:ext cx="7400701" cy="336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ADLC, SSDLC - Release notes (Global)</a:t>
            </a:r>
            <a:endParaRPr i="1" sz="1100">
              <a:solidFill>
                <a:srgbClr val="9E9E9E"/>
              </a:solidFill>
              <a:latin typeface="Montserrat"/>
              <a:ea typeface="Montserrat"/>
              <a:cs typeface="Montserrat"/>
              <a:sym typeface="Montserrat"/>
            </a:endParaRPr>
          </a:p>
        </p:txBody>
      </p:sp>
      <p:sp>
        <p:nvSpPr>
          <p:cNvPr id="1139" name="Google Shape;1139;p58"/>
          <p:cNvSpPr txBox="1"/>
          <p:nvPr/>
        </p:nvSpPr>
        <p:spPr>
          <a:xfrm rot="5401162">
            <a:off x="9661400" y="4009725"/>
            <a:ext cx="4436700" cy="336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TRAINING </a:t>
            </a:r>
            <a:endParaRPr i="1" sz="1100">
              <a:solidFill>
                <a:srgbClr val="9E9E9E"/>
              </a:solidFill>
              <a:latin typeface="Montserrat"/>
              <a:ea typeface="Montserrat"/>
              <a:cs typeface="Montserrat"/>
              <a:sym typeface="Montserrat"/>
            </a:endParaRPr>
          </a:p>
        </p:txBody>
      </p:sp>
      <p:sp>
        <p:nvSpPr>
          <p:cNvPr id="1140" name="Google Shape;1140;p58"/>
          <p:cNvSpPr txBox="1"/>
          <p:nvPr/>
        </p:nvSpPr>
        <p:spPr>
          <a:xfrm rot="1464">
            <a:off x="2201077" y="2854500"/>
            <a:ext cx="1408500" cy="3366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rgbClr val="980000"/>
                </a:solidFill>
                <a:latin typeface="Montserrat"/>
                <a:ea typeface="Montserrat"/>
                <a:cs typeface="Montserrat"/>
                <a:sym typeface="Montserrat"/>
              </a:rPr>
              <a:t>DMS-8765.H1</a:t>
            </a:r>
            <a:endParaRPr i="1" sz="1100">
              <a:solidFill>
                <a:srgbClr val="980000"/>
              </a:solidFill>
              <a:latin typeface="Montserrat"/>
              <a:ea typeface="Montserrat"/>
              <a:cs typeface="Montserrat"/>
              <a:sym typeface="Montserrat"/>
            </a:endParaRPr>
          </a:p>
        </p:txBody>
      </p:sp>
      <p:cxnSp>
        <p:nvCxnSpPr>
          <p:cNvPr id="1141" name="Google Shape;1141;p58"/>
          <p:cNvCxnSpPr>
            <a:stCxn id="1140" idx="3"/>
            <a:endCxn id="1108" idx="1"/>
          </p:cNvCxnSpPr>
          <p:nvPr/>
        </p:nvCxnSpPr>
        <p:spPr>
          <a:xfrm>
            <a:off x="3609578" y="3023100"/>
            <a:ext cx="1026000" cy="600"/>
          </a:xfrm>
          <a:prstGeom prst="bentConnector3">
            <a:avLst>
              <a:gd fmla="val 50007" name="adj1"/>
            </a:avLst>
          </a:prstGeom>
          <a:noFill/>
          <a:ln cap="flat" cmpd="sng" w="9525">
            <a:solidFill>
              <a:schemeClr val="dk2"/>
            </a:solidFill>
            <a:prstDash val="solid"/>
            <a:round/>
            <a:headEnd len="med" w="med" type="none"/>
            <a:tailEnd len="med" w="med" type="none"/>
          </a:ln>
        </p:spPr>
      </p:cxnSp>
      <p:sp>
        <p:nvSpPr>
          <p:cNvPr id="1142" name="Google Shape;1142;p58"/>
          <p:cNvSpPr txBox="1"/>
          <p:nvPr/>
        </p:nvSpPr>
        <p:spPr>
          <a:xfrm rot="1464">
            <a:off x="2200777" y="3191700"/>
            <a:ext cx="1408500" cy="336600"/>
          </a:xfrm>
          <a:prstGeom prst="rect">
            <a:avLst/>
          </a:prstGeom>
          <a:solidFill>
            <a:srgbClr val="FFF2CC"/>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rgbClr val="980000"/>
                </a:solidFill>
                <a:latin typeface="Montserrat"/>
                <a:ea typeface="Montserrat"/>
                <a:cs typeface="Montserrat"/>
                <a:sym typeface="Montserrat"/>
              </a:rPr>
              <a:t>DMS-61978</a:t>
            </a:r>
            <a:endParaRPr i="1" sz="1100">
              <a:solidFill>
                <a:srgbClr val="980000"/>
              </a:solidFill>
              <a:latin typeface="Montserrat"/>
              <a:ea typeface="Montserrat"/>
              <a:cs typeface="Montserrat"/>
              <a:sym typeface="Montserrat"/>
            </a:endParaRPr>
          </a:p>
        </p:txBody>
      </p:sp>
      <p:sp>
        <p:nvSpPr>
          <p:cNvPr id="1143" name="Google Shape;1143;p58"/>
          <p:cNvSpPr txBox="1"/>
          <p:nvPr/>
        </p:nvSpPr>
        <p:spPr>
          <a:xfrm>
            <a:off x="9242500" y="6509325"/>
            <a:ext cx="2816100" cy="253800"/>
          </a:xfrm>
          <a:prstGeom prst="rect">
            <a:avLst/>
          </a:prstGeom>
          <a:solidFill>
            <a:srgbClr val="C9DA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1200">
                <a:solidFill>
                  <a:srgbClr val="980000"/>
                </a:solidFill>
                <a:latin typeface="Montserrat"/>
                <a:ea typeface="Montserrat"/>
                <a:cs typeface="Montserrat"/>
                <a:sym typeface="Montserrat"/>
              </a:rPr>
              <a:t>*</a:t>
            </a:r>
            <a:r>
              <a:rPr i="1" lang="en-US" sz="1200">
                <a:solidFill>
                  <a:schemeClr val="dk1"/>
                </a:solidFill>
                <a:latin typeface="Montserrat"/>
                <a:ea typeface="Montserrat"/>
                <a:cs typeface="Montserrat"/>
                <a:sym typeface="Montserrat"/>
              </a:rPr>
              <a:t>Medical attestation on Dgx Hub</a:t>
            </a:r>
            <a:endParaRPr i="1" sz="1200">
              <a:solidFill>
                <a:schemeClr val="dk1"/>
              </a:solidFill>
              <a:latin typeface="Montserrat"/>
              <a:ea typeface="Montserrat"/>
              <a:cs typeface="Montserrat"/>
              <a:sym typeface="Montserrat"/>
            </a:endParaRPr>
          </a:p>
        </p:txBody>
      </p:sp>
      <p:sp>
        <p:nvSpPr>
          <p:cNvPr id="1144" name="Google Shape;1144;p58"/>
          <p:cNvSpPr txBox="1"/>
          <p:nvPr/>
        </p:nvSpPr>
        <p:spPr>
          <a:xfrm>
            <a:off x="8120825" y="5025825"/>
            <a:ext cx="1474800" cy="336600"/>
          </a:xfrm>
          <a:prstGeom prst="rect">
            <a:avLst/>
          </a:prstGeom>
          <a:solidFill>
            <a:srgbClr val="B6D7A8"/>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latin typeface="Montserrat"/>
                <a:ea typeface="Montserrat"/>
                <a:cs typeface="Montserrat"/>
                <a:sym typeface="Montserrat"/>
              </a:rPr>
              <a:t>Customer records - validation</a:t>
            </a:r>
            <a:endParaRPr sz="1100">
              <a:solidFill>
                <a:schemeClr val="dk1"/>
              </a:solidFill>
              <a:latin typeface="Montserrat"/>
              <a:ea typeface="Montserrat"/>
              <a:cs typeface="Montserrat"/>
              <a:sym typeface="Montserrat"/>
            </a:endParaRPr>
          </a:p>
        </p:txBody>
      </p:sp>
      <p:sp>
        <p:nvSpPr>
          <p:cNvPr id="1145" name="Google Shape;1145;p58"/>
          <p:cNvSpPr txBox="1"/>
          <p:nvPr/>
        </p:nvSpPr>
        <p:spPr>
          <a:xfrm rot="-5398763">
            <a:off x="-873175" y="4009725"/>
            <a:ext cx="4169400" cy="336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Quality Plan</a:t>
            </a:r>
            <a:r>
              <a:rPr i="1" lang="en-US" sz="1100">
                <a:solidFill>
                  <a:schemeClr val="dk1"/>
                </a:solidFill>
                <a:latin typeface="Montserrat"/>
                <a:ea typeface="Montserrat"/>
                <a:cs typeface="Montserrat"/>
                <a:sym typeface="Montserrat"/>
              </a:rPr>
              <a:t> </a:t>
            </a:r>
            <a:endParaRPr i="1" sz="1100">
              <a:solidFill>
                <a:srgbClr val="9E9E9E"/>
              </a:solidFill>
              <a:latin typeface="Montserrat"/>
              <a:ea typeface="Montserrat"/>
              <a:cs typeface="Montserrat"/>
              <a:sym typeface="Montserrat"/>
            </a:endParaRPr>
          </a:p>
        </p:txBody>
      </p:sp>
      <p:sp>
        <p:nvSpPr>
          <p:cNvPr id="1146" name="Google Shape;1146;p58"/>
          <p:cNvSpPr txBox="1"/>
          <p:nvPr/>
        </p:nvSpPr>
        <p:spPr>
          <a:xfrm rot="-5399066">
            <a:off x="659075" y="1381500"/>
            <a:ext cx="1104600" cy="3366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500">
                <a:solidFill>
                  <a:srgbClr val="980000"/>
                </a:solidFill>
                <a:latin typeface="Montserrat"/>
                <a:ea typeface="Montserrat"/>
                <a:cs typeface="Montserrat"/>
                <a:sym typeface="Montserrat"/>
              </a:rPr>
              <a:t>Risk</a:t>
            </a:r>
            <a:r>
              <a:rPr i="1" lang="en-US" sz="1100">
                <a:solidFill>
                  <a:schemeClr val="dk1"/>
                </a:solidFill>
                <a:latin typeface="Montserrat"/>
                <a:ea typeface="Montserrat"/>
                <a:cs typeface="Montserrat"/>
                <a:sym typeface="Montserrat"/>
              </a:rPr>
              <a:t> </a:t>
            </a:r>
            <a:endParaRPr i="1" sz="1100">
              <a:solidFill>
                <a:srgbClr val="9E9E9E"/>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1" name="Shape 1151"/>
        <p:cNvGrpSpPr/>
        <p:nvPr/>
      </p:nvGrpSpPr>
      <p:grpSpPr>
        <a:xfrm>
          <a:off x="0" y="0"/>
          <a:ext cx="0" cy="0"/>
          <a:chOff x="0" y="0"/>
          <a:chExt cx="0" cy="0"/>
        </a:xfrm>
      </p:grpSpPr>
      <p:sp>
        <p:nvSpPr>
          <p:cNvPr id="1152" name="Google Shape;1152;p59"/>
          <p:cNvSpPr/>
          <p:nvPr/>
        </p:nvSpPr>
        <p:spPr>
          <a:xfrm>
            <a:off x="1899625" y="1900200"/>
            <a:ext cx="2890800" cy="3586200"/>
          </a:xfrm>
          <a:prstGeom prst="roundRect">
            <a:avLst>
              <a:gd fmla="val 16667" name="adj"/>
            </a:avLst>
          </a:prstGeom>
          <a:noFill/>
          <a:ln cap="flat" cmpd="sng" w="9550">
            <a:solidFill>
              <a:srgbClr val="CCCCCC"/>
            </a:solidFill>
            <a:prstDash val="dash"/>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t/>
            </a:r>
            <a:endParaRPr sz="1404">
              <a:latin typeface="Montserrat"/>
              <a:ea typeface="Montserrat"/>
              <a:cs typeface="Montserrat"/>
              <a:sym typeface="Montserrat"/>
            </a:endParaRPr>
          </a:p>
        </p:txBody>
      </p:sp>
      <p:sp>
        <p:nvSpPr>
          <p:cNvPr id="1153" name="Google Shape;1153;p59"/>
          <p:cNvSpPr txBox="1"/>
          <p:nvPr>
            <p:ph type="title"/>
          </p:nvPr>
        </p:nvSpPr>
        <p:spPr>
          <a:xfrm>
            <a:off x="593725" y="331475"/>
            <a:ext cx="8994000" cy="336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Regulatory Affairs - </a:t>
            </a:r>
            <a:r>
              <a:rPr b="0" i="1" lang="en-US">
                <a:solidFill>
                  <a:srgbClr val="9E9E9E"/>
                </a:solidFill>
              </a:rPr>
              <a:t>record</a:t>
            </a:r>
            <a:r>
              <a:rPr b="0" i="1" lang="en-US">
                <a:solidFill>
                  <a:srgbClr val="9E9E9E"/>
                </a:solidFill>
              </a:rPr>
              <a:t> Intended Use</a:t>
            </a:r>
            <a:r>
              <a:rPr lang="en-US"/>
              <a:t> </a:t>
            </a:r>
            <a:endParaRPr b="0" i="1" sz="2000">
              <a:solidFill>
                <a:srgbClr val="1155CC"/>
              </a:solidFill>
            </a:endParaRPr>
          </a:p>
        </p:txBody>
      </p:sp>
      <p:sp>
        <p:nvSpPr>
          <p:cNvPr id="1154" name="Google Shape;1154;p59"/>
          <p:cNvSpPr txBox="1"/>
          <p:nvPr/>
        </p:nvSpPr>
        <p:spPr>
          <a:xfrm>
            <a:off x="2011500" y="2239400"/>
            <a:ext cx="2683800" cy="558600"/>
          </a:xfrm>
          <a:prstGeom prst="rect">
            <a:avLst/>
          </a:prstGeom>
          <a:solidFill>
            <a:srgbClr val="EAD1D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1305">
                <a:solidFill>
                  <a:schemeClr val="accent4"/>
                </a:solidFill>
                <a:latin typeface="Montserrat"/>
                <a:ea typeface="Montserrat"/>
                <a:cs typeface="Montserrat"/>
                <a:sym typeface="Montserrat"/>
              </a:rPr>
              <a:t>PROCEDURE</a:t>
            </a:r>
            <a:endParaRPr sz="1305">
              <a:solidFill>
                <a:schemeClr val="accent4"/>
              </a:solidFill>
              <a:latin typeface="Montserrat"/>
              <a:ea typeface="Montserrat"/>
              <a:cs typeface="Montserrat"/>
              <a:sym typeface="Montserrat"/>
            </a:endParaRPr>
          </a:p>
          <a:p>
            <a:pPr indent="0" lvl="0" marL="0" rtl="0" algn="ctr">
              <a:spcBef>
                <a:spcPts val="0"/>
              </a:spcBef>
              <a:spcAft>
                <a:spcPts val="0"/>
              </a:spcAft>
              <a:buNone/>
            </a:pPr>
            <a:r>
              <a:rPr lang="en-US" sz="1305">
                <a:solidFill>
                  <a:schemeClr val="dk1"/>
                </a:solidFill>
                <a:latin typeface="Montserrat"/>
                <a:ea typeface="Montserrat"/>
                <a:cs typeface="Montserrat"/>
                <a:sym typeface="Montserrat"/>
              </a:rPr>
              <a:t>Regulatory Statement - </a:t>
            </a:r>
            <a:r>
              <a:rPr b="1" lang="en-US" sz="1305">
                <a:solidFill>
                  <a:schemeClr val="dk1"/>
                </a:solidFill>
                <a:latin typeface="Montserrat"/>
                <a:ea typeface="Montserrat"/>
                <a:cs typeface="Montserrat"/>
                <a:sym typeface="Montserrat"/>
              </a:rPr>
              <a:t>Diagnexia</a:t>
            </a:r>
            <a:r>
              <a:rPr lang="en-US" sz="1305">
                <a:solidFill>
                  <a:schemeClr val="dk1"/>
                </a:solidFill>
                <a:latin typeface="Montserrat"/>
                <a:ea typeface="Montserrat"/>
                <a:cs typeface="Montserrat"/>
                <a:sym typeface="Montserrat"/>
              </a:rPr>
              <a:t> </a:t>
            </a:r>
            <a:endParaRPr sz="904">
              <a:solidFill>
                <a:schemeClr val="dk1"/>
              </a:solidFill>
              <a:latin typeface="Montserrat"/>
              <a:ea typeface="Montserrat"/>
              <a:cs typeface="Montserrat"/>
              <a:sym typeface="Montserrat"/>
            </a:endParaRPr>
          </a:p>
        </p:txBody>
      </p:sp>
      <p:sp>
        <p:nvSpPr>
          <p:cNvPr id="1155" name="Google Shape;1155;p59"/>
          <p:cNvSpPr txBox="1"/>
          <p:nvPr/>
        </p:nvSpPr>
        <p:spPr>
          <a:xfrm>
            <a:off x="1068675" y="1127875"/>
            <a:ext cx="9784200" cy="356400"/>
          </a:xfrm>
          <a:prstGeom prst="rect">
            <a:avLst/>
          </a:prstGeom>
          <a:solidFill>
            <a:srgbClr val="1155CC"/>
          </a:solidFill>
          <a:ln>
            <a:noFill/>
          </a:ln>
        </p:spPr>
        <p:txBody>
          <a:bodyPr anchorCtr="0" anchor="ctr" bIns="91425" lIns="91425" spcFirstLastPara="1" rIns="91425" wrap="square" tIns="91425">
            <a:noAutofit/>
          </a:bodyPr>
          <a:lstStyle/>
          <a:p>
            <a:pPr indent="0" lvl="0" marL="457200" rtl="0" algn="ctr">
              <a:spcBef>
                <a:spcPts val="0"/>
              </a:spcBef>
              <a:spcAft>
                <a:spcPts val="0"/>
              </a:spcAft>
              <a:buNone/>
            </a:pPr>
            <a:r>
              <a:rPr lang="en-US" sz="1600">
                <a:solidFill>
                  <a:srgbClr val="999999"/>
                </a:solidFill>
                <a:latin typeface="Montserrat"/>
                <a:ea typeface="Montserrat"/>
                <a:cs typeface="Montserrat"/>
                <a:sym typeface="Montserrat"/>
              </a:rPr>
              <a:t>POLICY:</a:t>
            </a:r>
            <a:r>
              <a:rPr lang="en-US" sz="1600">
                <a:solidFill>
                  <a:schemeClr val="lt1"/>
                </a:solidFill>
                <a:latin typeface="Montserrat"/>
                <a:ea typeface="Montserrat"/>
                <a:cs typeface="Montserrat"/>
                <a:sym typeface="Montserrat"/>
              </a:rPr>
              <a:t> </a:t>
            </a:r>
            <a:r>
              <a:rPr i="1" lang="en-US" sz="1600">
                <a:solidFill>
                  <a:schemeClr val="lt1"/>
                </a:solidFill>
                <a:latin typeface="Montserrat"/>
                <a:ea typeface="Montserrat"/>
                <a:cs typeface="Montserrat"/>
                <a:sym typeface="Montserrat"/>
              </a:rPr>
              <a:t>Deciphex </a:t>
            </a:r>
            <a:r>
              <a:rPr i="1" lang="en-US" sz="1600">
                <a:solidFill>
                  <a:schemeClr val="lt1"/>
                </a:solidFill>
                <a:latin typeface="Montserrat"/>
                <a:ea typeface="Montserrat"/>
                <a:cs typeface="Montserrat"/>
                <a:sym typeface="Montserrat"/>
              </a:rPr>
              <a:t>Regulatory Statement for Products &amp; Services</a:t>
            </a:r>
            <a:endParaRPr i="1" sz="1600">
              <a:solidFill>
                <a:schemeClr val="lt1"/>
              </a:solidFill>
              <a:latin typeface="Montserrat"/>
              <a:ea typeface="Montserrat"/>
              <a:cs typeface="Montserrat"/>
              <a:sym typeface="Montserrat"/>
            </a:endParaRPr>
          </a:p>
        </p:txBody>
      </p:sp>
      <p:sp>
        <p:nvSpPr>
          <p:cNvPr id="1156" name="Google Shape;1156;p59"/>
          <p:cNvSpPr txBox="1"/>
          <p:nvPr/>
        </p:nvSpPr>
        <p:spPr>
          <a:xfrm>
            <a:off x="4196425" y="5842825"/>
            <a:ext cx="6564900" cy="336600"/>
          </a:xfrm>
          <a:prstGeom prst="rect">
            <a:avLst/>
          </a:prstGeom>
          <a:solidFill>
            <a:srgbClr val="B4A7D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rgbClr val="666666"/>
                </a:solidFill>
                <a:latin typeface="Montserrat"/>
                <a:ea typeface="Montserrat"/>
                <a:cs typeface="Montserrat"/>
                <a:sym typeface="Montserrat"/>
              </a:rPr>
              <a:t>POLICY: </a:t>
            </a:r>
            <a:r>
              <a:rPr lang="en-US" sz="1600">
                <a:solidFill>
                  <a:schemeClr val="lt1"/>
                </a:solidFill>
                <a:latin typeface="Montserrat"/>
                <a:ea typeface="Montserrat"/>
                <a:cs typeface="Montserrat"/>
                <a:sym typeface="Montserrat"/>
              </a:rPr>
              <a:t>Deciphex Validation for Products &amp; Services</a:t>
            </a:r>
            <a:endParaRPr i="1" sz="1100">
              <a:solidFill>
                <a:schemeClr val="lt1"/>
              </a:solidFill>
              <a:latin typeface="Montserrat"/>
              <a:ea typeface="Montserrat"/>
              <a:cs typeface="Montserrat"/>
              <a:sym typeface="Montserrat"/>
            </a:endParaRPr>
          </a:p>
        </p:txBody>
      </p:sp>
      <p:sp>
        <p:nvSpPr>
          <p:cNvPr id="1157" name="Google Shape;1157;p59"/>
          <p:cNvSpPr txBox="1"/>
          <p:nvPr/>
        </p:nvSpPr>
        <p:spPr>
          <a:xfrm rot="-5400000">
            <a:off x="-1688650" y="3456700"/>
            <a:ext cx="5053800" cy="362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Montserrat"/>
                <a:ea typeface="Montserrat"/>
                <a:cs typeface="Montserrat"/>
                <a:sym typeface="Montserrat"/>
              </a:rPr>
              <a:t>Orcanos Records</a:t>
            </a:r>
            <a:endParaRPr sz="1600">
              <a:solidFill>
                <a:schemeClr val="dk1"/>
              </a:solidFill>
              <a:latin typeface="Montserrat"/>
              <a:ea typeface="Montserrat"/>
              <a:cs typeface="Montserrat"/>
              <a:sym typeface="Montserrat"/>
            </a:endParaRPr>
          </a:p>
        </p:txBody>
      </p:sp>
      <p:sp>
        <p:nvSpPr>
          <p:cNvPr id="1158" name="Google Shape;1158;p59"/>
          <p:cNvSpPr txBox="1"/>
          <p:nvPr/>
        </p:nvSpPr>
        <p:spPr>
          <a:xfrm>
            <a:off x="1068675" y="5842825"/>
            <a:ext cx="3060000" cy="336600"/>
          </a:xfrm>
          <a:prstGeom prst="rect">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800">
                <a:solidFill>
                  <a:schemeClr val="dk1"/>
                </a:solidFill>
                <a:latin typeface="Montserrat"/>
                <a:ea typeface="Montserrat"/>
                <a:cs typeface="Montserrat"/>
                <a:sym typeface="Montserrat"/>
              </a:rPr>
              <a:t>Validation Policy</a:t>
            </a:r>
            <a:endParaRPr i="1" sz="8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800">
                <a:solidFill>
                  <a:srgbClr val="9E9E9E"/>
                </a:solidFill>
                <a:latin typeface="Montserrat"/>
                <a:ea typeface="Montserrat"/>
                <a:cs typeface="Montserrat"/>
                <a:sym typeface="Montserrat"/>
              </a:rPr>
              <a:t>Req are different in each country - align at higher level</a:t>
            </a:r>
            <a:endParaRPr i="1" sz="800">
              <a:solidFill>
                <a:srgbClr val="9E9E9E"/>
              </a:solidFill>
              <a:latin typeface="Montserrat"/>
              <a:ea typeface="Montserrat"/>
              <a:cs typeface="Montserrat"/>
              <a:sym typeface="Montserrat"/>
            </a:endParaRPr>
          </a:p>
        </p:txBody>
      </p:sp>
      <p:sp>
        <p:nvSpPr>
          <p:cNvPr id="1159" name="Google Shape;1159;p59"/>
          <p:cNvSpPr txBox="1"/>
          <p:nvPr/>
        </p:nvSpPr>
        <p:spPr>
          <a:xfrm>
            <a:off x="2486025" y="729675"/>
            <a:ext cx="6993300" cy="336600"/>
          </a:xfrm>
          <a:prstGeom prst="rect">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Regulatory Statement</a:t>
            </a:r>
            <a:endParaRPr i="1" sz="1100">
              <a:solidFill>
                <a:schemeClr val="dk1"/>
              </a:solidFill>
              <a:latin typeface="Montserrat"/>
              <a:ea typeface="Montserrat"/>
              <a:cs typeface="Montserrat"/>
              <a:sym typeface="Montserrat"/>
            </a:endParaRPr>
          </a:p>
          <a:p>
            <a:pPr indent="0" lvl="0" marL="0" rtl="0" algn="ctr">
              <a:spcBef>
                <a:spcPts val="0"/>
              </a:spcBef>
              <a:spcAft>
                <a:spcPts val="0"/>
              </a:spcAft>
              <a:buNone/>
            </a:pPr>
            <a:r>
              <a:rPr i="1" lang="en-US" sz="1100">
                <a:solidFill>
                  <a:srgbClr val="9E9E9E"/>
                </a:solidFill>
                <a:latin typeface="Montserrat"/>
                <a:ea typeface="Montserrat"/>
                <a:cs typeface="Montserrat"/>
                <a:sym typeface="Montserrat"/>
              </a:rPr>
              <a:t>Bring clarity &amp; unify all regions to common Intended use</a:t>
            </a:r>
            <a:endParaRPr i="1" sz="1100">
              <a:solidFill>
                <a:srgbClr val="9E9E9E"/>
              </a:solidFill>
              <a:latin typeface="Montserrat"/>
              <a:ea typeface="Montserrat"/>
              <a:cs typeface="Montserrat"/>
              <a:sym typeface="Montserrat"/>
            </a:endParaRPr>
          </a:p>
        </p:txBody>
      </p:sp>
      <p:sp>
        <p:nvSpPr>
          <p:cNvPr id="1160" name="Google Shape;1160;p59"/>
          <p:cNvSpPr txBox="1"/>
          <p:nvPr/>
        </p:nvSpPr>
        <p:spPr>
          <a:xfrm>
            <a:off x="2011500" y="29166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States</a:t>
            </a:r>
            <a:endParaRPr b="1" sz="903">
              <a:solidFill>
                <a:schemeClr val="dk1"/>
              </a:solidFill>
              <a:latin typeface="Montserrat"/>
              <a:ea typeface="Montserrat"/>
              <a:cs typeface="Montserrat"/>
              <a:sym typeface="Montserrat"/>
            </a:endParaRPr>
          </a:p>
        </p:txBody>
      </p:sp>
      <p:pic>
        <p:nvPicPr>
          <p:cNvPr id="1161" name="Google Shape;1161;p59"/>
          <p:cNvPicPr preferRelativeResize="0"/>
          <p:nvPr/>
        </p:nvPicPr>
        <p:blipFill>
          <a:blip r:embed="rId4">
            <a:alphaModFix/>
          </a:blip>
          <a:stretch>
            <a:fillRect/>
          </a:stretch>
        </p:blipFill>
        <p:spPr>
          <a:xfrm>
            <a:off x="11457850" y="171800"/>
            <a:ext cx="428625" cy="457200"/>
          </a:xfrm>
          <a:prstGeom prst="rect">
            <a:avLst/>
          </a:prstGeom>
          <a:noFill/>
          <a:ln>
            <a:noFill/>
          </a:ln>
        </p:spPr>
      </p:pic>
      <p:sp>
        <p:nvSpPr>
          <p:cNvPr id="1162" name="Google Shape;1162;p59"/>
          <p:cNvSpPr txBox="1"/>
          <p:nvPr/>
        </p:nvSpPr>
        <p:spPr>
          <a:xfrm rot="5401029">
            <a:off x="8567600" y="3470975"/>
            <a:ext cx="5013000" cy="349500"/>
          </a:xfrm>
          <a:prstGeom prst="rect">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US" sz="1100">
                <a:solidFill>
                  <a:schemeClr val="dk1"/>
                </a:solidFill>
                <a:latin typeface="Montserrat"/>
                <a:ea typeface="Montserrat"/>
                <a:cs typeface="Montserrat"/>
                <a:sym typeface="Montserrat"/>
              </a:rPr>
              <a:t>TRAINING </a:t>
            </a:r>
            <a:endParaRPr i="1" sz="1100">
              <a:solidFill>
                <a:srgbClr val="9E9E9E"/>
              </a:solidFill>
              <a:latin typeface="Montserrat"/>
              <a:ea typeface="Montserrat"/>
              <a:cs typeface="Montserrat"/>
              <a:sym typeface="Montserrat"/>
            </a:endParaRPr>
          </a:p>
        </p:txBody>
      </p:sp>
      <p:sp>
        <p:nvSpPr>
          <p:cNvPr id="1163" name="Google Shape;1163;p59"/>
          <p:cNvSpPr txBox="1"/>
          <p:nvPr/>
        </p:nvSpPr>
        <p:spPr>
          <a:xfrm>
            <a:off x="2003125" y="33198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Canada</a:t>
            </a:r>
            <a:endParaRPr b="1" sz="903">
              <a:solidFill>
                <a:schemeClr val="dk1"/>
              </a:solidFill>
              <a:latin typeface="Montserrat"/>
              <a:ea typeface="Montserrat"/>
              <a:cs typeface="Montserrat"/>
              <a:sym typeface="Montserrat"/>
            </a:endParaRPr>
          </a:p>
        </p:txBody>
      </p:sp>
      <p:sp>
        <p:nvSpPr>
          <p:cNvPr id="1164" name="Google Shape;1164;p59"/>
          <p:cNvSpPr txBox="1"/>
          <p:nvPr/>
        </p:nvSpPr>
        <p:spPr>
          <a:xfrm>
            <a:off x="2003125" y="37230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Kingdom</a:t>
            </a:r>
            <a:endParaRPr b="1" sz="903">
              <a:solidFill>
                <a:schemeClr val="dk1"/>
              </a:solidFill>
              <a:latin typeface="Montserrat"/>
              <a:ea typeface="Montserrat"/>
              <a:cs typeface="Montserrat"/>
              <a:sym typeface="Montserrat"/>
            </a:endParaRPr>
          </a:p>
        </p:txBody>
      </p:sp>
      <p:sp>
        <p:nvSpPr>
          <p:cNvPr id="1165" name="Google Shape;1165;p59"/>
          <p:cNvSpPr txBox="1"/>
          <p:nvPr/>
        </p:nvSpPr>
        <p:spPr>
          <a:xfrm>
            <a:off x="2003125" y="41223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EU</a:t>
            </a:r>
            <a:endParaRPr b="1" sz="903">
              <a:solidFill>
                <a:schemeClr val="dk1"/>
              </a:solidFill>
              <a:latin typeface="Montserrat"/>
              <a:ea typeface="Montserrat"/>
              <a:cs typeface="Montserrat"/>
              <a:sym typeface="Montserrat"/>
            </a:endParaRPr>
          </a:p>
        </p:txBody>
      </p:sp>
      <p:sp>
        <p:nvSpPr>
          <p:cNvPr id="1166" name="Google Shape;1166;p59"/>
          <p:cNvSpPr/>
          <p:nvPr/>
        </p:nvSpPr>
        <p:spPr>
          <a:xfrm>
            <a:off x="4868750" y="1900200"/>
            <a:ext cx="2890800" cy="3586200"/>
          </a:xfrm>
          <a:prstGeom prst="roundRect">
            <a:avLst>
              <a:gd fmla="val 16667" name="adj"/>
            </a:avLst>
          </a:prstGeom>
          <a:noFill/>
          <a:ln cap="flat" cmpd="sng" w="9550">
            <a:solidFill>
              <a:srgbClr val="CCCCCC"/>
            </a:solidFill>
            <a:prstDash val="dash"/>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t/>
            </a:r>
            <a:endParaRPr sz="1404">
              <a:latin typeface="Montserrat"/>
              <a:ea typeface="Montserrat"/>
              <a:cs typeface="Montserrat"/>
              <a:sym typeface="Montserrat"/>
            </a:endParaRPr>
          </a:p>
        </p:txBody>
      </p:sp>
      <p:sp>
        <p:nvSpPr>
          <p:cNvPr id="1167" name="Google Shape;1167;p59"/>
          <p:cNvSpPr txBox="1"/>
          <p:nvPr/>
        </p:nvSpPr>
        <p:spPr>
          <a:xfrm>
            <a:off x="4980613" y="2239400"/>
            <a:ext cx="2683800" cy="558600"/>
          </a:xfrm>
          <a:prstGeom prst="rect">
            <a:avLst/>
          </a:prstGeom>
          <a:solidFill>
            <a:srgbClr val="EAD1D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1305">
                <a:solidFill>
                  <a:schemeClr val="accent4"/>
                </a:solidFill>
                <a:latin typeface="Montserrat"/>
                <a:ea typeface="Montserrat"/>
                <a:cs typeface="Montserrat"/>
                <a:sym typeface="Montserrat"/>
              </a:rPr>
              <a:t>PROCEDURE</a:t>
            </a:r>
            <a:endParaRPr sz="1305">
              <a:solidFill>
                <a:schemeClr val="accent4"/>
              </a:solidFill>
              <a:latin typeface="Montserrat"/>
              <a:ea typeface="Montserrat"/>
              <a:cs typeface="Montserrat"/>
              <a:sym typeface="Montserrat"/>
            </a:endParaRPr>
          </a:p>
          <a:p>
            <a:pPr indent="0" lvl="0" marL="0" rtl="0" algn="ctr">
              <a:spcBef>
                <a:spcPts val="0"/>
              </a:spcBef>
              <a:spcAft>
                <a:spcPts val="0"/>
              </a:spcAft>
              <a:buNone/>
            </a:pPr>
            <a:r>
              <a:rPr lang="en-US" sz="1305">
                <a:solidFill>
                  <a:schemeClr val="dk1"/>
                </a:solidFill>
                <a:latin typeface="Montserrat"/>
                <a:ea typeface="Montserrat"/>
                <a:cs typeface="Montserrat"/>
                <a:sym typeface="Montserrat"/>
              </a:rPr>
              <a:t>Regulatory Statement - </a:t>
            </a:r>
            <a:r>
              <a:rPr b="1" lang="en-US" sz="1305">
                <a:solidFill>
                  <a:schemeClr val="accent3"/>
                </a:solidFill>
                <a:latin typeface="Montserrat"/>
                <a:ea typeface="Montserrat"/>
                <a:cs typeface="Montserrat"/>
                <a:sym typeface="Montserrat"/>
              </a:rPr>
              <a:t>Patholytix</a:t>
            </a:r>
            <a:r>
              <a:rPr lang="en-US" sz="1305">
                <a:solidFill>
                  <a:schemeClr val="accent3"/>
                </a:solidFill>
                <a:latin typeface="Montserrat"/>
                <a:ea typeface="Montserrat"/>
                <a:cs typeface="Montserrat"/>
                <a:sym typeface="Montserrat"/>
              </a:rPr>
              <a:t> </a:t>
            </a:r>
            <a:endParaRPr sz="904">
              <a:solidFill>
                <a:schemeClr val="accent3"/>
              </a:solidFill>
              <a:latin typeface="Montserrat"/>
              <a:ea typeface="Montserrat"/>
              <a:cs typeface="Montserrat"/>
              <a:sym typeface="Montserrat"/>
            </a:endParaRPr>
          </a:p>
        </p:txBody>
      </p:sp>
      <p:sp>
        <p:nvSpPr>
          <p:cNvPr id="1168" name="Google Shape;1168;p59"/>
          <p:cNvSpPr txBox="1"/>
          <p:nvPr/>
        </p:nvSpPr>
        <p:spPr>
          <a:xfrm>
            <a:off x="4980613" y="29166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States</a:t>
            </a:r>
            <a:endParaRPr b="1" sz="903">
              <a:solidFill>
                <a:schemeClr val="dk1"/>
              </a:solidFill>
              <a:latin typeface="Montserrat"/>
              <a:ea typeface="Montserrat"/>
              <a:cs typeface="Montserrat"/>
              <a:sym typeface="Montserrat"/>
            </a:endParaRPr>
          </a:p>
        </p:txBody>
      </p:sp>
      <p:sp>
        <p:nvSpPr>
          <p:cNvPr id="1169" name="Google Shape;1169;p59"/>
          <p:cNvSpPr txBox="1"/>
          <p:nvPr/>
        </p:nvSpPr>
        <p:spPr>
          <a:xfrm>
            <a:off x="4972238" y="33198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Canada</a:t>
            </a:r>
            <a:endParaRPr b="1" sz="903">
              <a:solidFill>
                <a:schemeClr val="dk1"/>
              </a:solidFill>
              <a:latin typeface="Montserrat"/>
              <a:ea typeface="Montserrat"/>
              <a:cs typeface="Montserrat"/>
              <a:sym typeface="Montserrat"/>
            </a:endParaRPr>
          </a:p>
        </p:txBody>
      </p:sp>
      <p:sp>
        <p:nvSpPr>
          <p:cNvPr id="1170" name="Google Shape;1170;p59"/>
          <p:cNvSpPr txBox="1"/>
          <p:nvPr/>
        </p:nvSpPr>
        <p:spPr>
          <a:xfrm>
            <a:off x="4972238" y="37230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Kingdom</a:t>
            </a:r>
            <a:endParaRPr b="1" sz="903">
              <a:solidFill>
                <a:schemeClr val="dk1"/>
              </a:solidFill>
              <a:latin typeface="Montserrat"/>
              <a:ea typeface="Montserrat"/>
              <a:cs typeface="Montserrat"/>
              <a:sym typeface="Montserrat"/>
            </a:endParaRPr>
          </a:p>
        </p:txBody>
      </p:sp>
      <p:sp>
        <p:nvSpPr>
          <p:cNvPr id="1171" name="Google Shape;1171;p59"/>
          <p:cNvSpPr txBox="1"/>
          <p:nvPr/>
        </p:nvSpPr>
        <p:spPr>
          <a:xfrm>
            <a:off x="4972238" y="41223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EU</a:t>
            </a:r>
            <a:endParaRPr b="1" sz="903">
              <a:solidFill>
                <a:schemeClr val="dk1"/>
              </a:solidFill>
              <a:latin typeface="Montserrat"/>
              <a:ea typeface="Montserrat"/>
              <a:cs typeface="Montserrat"/>
              <a:sym typeface="Montserrat"/>
            </a:endParaRPr>
          </a:p>
        </p:txBody>
      </p:sp>
      <p:sp>
        <p:nvSpPr>
          <p:cNvPr id="1172" name="Google Shape;1172;p59"/>
          <p:cNvSpPr txBox="1"/>
          <p:nvPr/>
        </p:nvSpPr>
        <p:spPr>
          <a:xfrm>
            <a:off x="4972238" y="452362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Japan</a:t>
            </a:r>
            <a:endParaRPr b="1" sz="903">
              <a:solidFill>
                <a:schemeClr val="dk1"/>
              </a:solidFill>
              <a:latin typeface="Montserrat"/>
              <a:ea typeface="Montserrat"/>
              <a:cs typeface="Montserrat"/>
              <a:sym typeface="Montserrat"/>
            </a:endParaRPr>
          </a:p>
        </p:txBody>
      </p:sp>
      <p:sp>
        <p:nvSpPr>
          <p:cNvPr id="1173" name="Google Shape;1173;p59"/>
          <p:cNvSpPr/>
          <p:nvPr/>
        </p:nvSpPr>
        <p:spPr>
          <a:xfrm>
            <a:off x="7837875" y="1900200"/>
            <a:ext cx="2890800" cy="3586200"/>
          </a:xfrm>
          <a:prstGeom prst="roundRect">
            <a:avLst>
              <a:gd fmla="val 16667" name="adj"/>
            </a:avLst>
          </a:prstGeom>
          <a:noFill/>
          <a:ln cap="flat" cmpd="sng" w="9550">
            <a:solidFill>
              <a:srgbClr val="CCCCCC"/>
            </a:solidFill>
            <a:prstDash val="dash"/>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t/>
            </a:r>
            <a:endParaRPr sz="1404">
              <a:latin typeface="Montserrat"/>
              <a:ea typeface="Montserrat"/>
              <a:cs typeface="Montserrat"/>
              <a:sym typeface="Montserrat"/>
            </a:endParaRPr>
          </a:p>
        </p:txBody>
      </p:sp>
      <p:sp>
        <p:nvSpPr>
          <p:cNvPr id="1174" name="Google Shape;1174;p59"/>
          <p:cNvSpPr txBox="1"/>
          <p:nvPr/>
        </p:nvSpPr>
        <p:spPr>
          <a:xfrm>
            <a:off x="7949750" y="2239400"/>
            <a:ext cx="2683800" cy="558600"/>
          </a:xfrm>
          <a:prstGeom prst="rect">
            <a:avLst/>
          </a:prstGeom>
          <a:solidFill>
            <a:srgbClr val="EAD1D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1305">
                <a:solidFill>
                  <a:schemeClr val="accent4"/>
                </a:solidFill>
                <a:latin typeface="Montserrat"/>
                <a:ea typeface="Montserrat"/>
                <a:cs typeface="Montserrat"/>
                <a:sym typeface="Montserrat"/>
              </a:rPr>
              <a:t>PROCEDURE</a:t>
            </a:r>
            <a:endParaRPr sz="1305">
              <a:solidFill>
                <a:schemeClr val="accent4"/>
              </a:solidFill>
              <a:latin typeface="Montserrat"/>
              <a:ea typeface="Montserrat"/>
              <a:cs typeface="Montserrat"/>
              <a:sym typeface="Montserrat"/>
            </a:endParaRPr>
          </a:p>
          <a:p>
            <a:pPr indent="0" lvl="0" marL="0" rtl="0" algn="ctr">
              <a:spcBef>
                <a:spcPts val="0"/>
              </a:spcBef>
              <a:spcAft>
                <a:spcPts val="0"/>
              </a:spcAft>
              <a:buNone/>
            </a:pPr>
            <a:r>
              <a:rPr lang="en-US" sz="1305">
                <a:solidFill>
                  <a:schemeClr val="dk1"/>
                </a:solidFill>
                <a:latin typeface="Montserrat"/>
                <a:ea typeface="Montserrat"/>
                <a:cs typeface="Montserrat"/>
                <a:sym typeface="Montserrat"/>
              </a:rPr>
              <a:t>Regulatory Statement - </a:t>
            </a:r>
            <a:r>
              <a:rPr b="1" lang="en-US" sz="1305">
                <a:solidFill>
                  <a:srgbClr val="0000FF"/>
                </a:solidFill>
                <a:latin typeface="Montserrat"/>
                <a:ea typeface="Montserrat"/>
                <a:cs typeface="Montserrat"/>
                <a:sym typeface="Montserrat"/>
              </a:rPr>
              <a:t>Diagnexia</a:t>
            </a:r>
            <a:r>
              <a:rPr b="1" lang="en-US" sz="1305">
                <a:solidFill>
                  <a:srgbClr val="0000FF"/>
                </a:solidFill>
                <a:latin typeface="Montserrat"/>
                <a:ea typeface="Montserrat"/>
                <a:cs typeface="Montserrat"/>
                <a:sym typeface="Montserrat"/>
              </a:rPr>
              <a:t> Analytix</a:t>
            </a:r>
            <a:endParaRPr b="1" sz="904">
              <a:solidFill>
                <a:srgbClr val="0000FF"/>
              </a:solidFill>
              <a:latin typeface="Montserrat"/>
              <a:ea typeface="Montserrat"/>
              <a:cs typeface="Montserrat"/>
              <a:sym typeface="Montserrat"/>
            </a:endParaRPr>
          </a:p>
        </p:txBody>
      </p:sp>
      <p:sp>
        <p:nvSpPr>
          <p:cNvPr id="1175" name="Google Shape;1175;p59"/>
          <p:cNvSpPr txBox="1"/>
          <p:nvPr/>
        </p:nvSpPr>
        <p:spPr>
          <a:xfrm>
            <a:off x="7949750" y="29166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States</a:t>
            </a:r>
            <a:endParaRPr b="1" sz="903">
              <a:solidFill>
                <a:schemeClr val="dk1"/>
              </a:solidFill>
              <a:latin typeface="Montserrat"/>
              <a:ea typeface="Montserrat"/>
              <a:cs typeface="Montserrat"/>
              <a:sym typeface="Montserrat"/>
            </a:endParaRPr>
          </a:p>
        </p:txBody>
      </p:sp>
      <p:sp>
        <p:nvSpPr>
          <p:cNvPr id="1176" name="Google Shape;1176;p59"/>
          <p:cNvSpPr txBox="1"/>
          <p:nvPr/>
        </p:nvSpPr>
        <p:spPr>
          <a:xfrm>
            <a:off x="7935363" y="3371950"/>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United Kingdom</a:t>
            </a:r>
            <a:endParaRPr b="1" sz="903">
              <a:solidFill>
                <a:schemeClr val="dk1"/>
              </a:solidFill>
              <a:latin typeface="Montserrat"/>
              <a:ea typeface="Montserrat"/>
              <a:cs typeface="Montserrat"/>
              <a:sym typeface="Montserrat"/>
            </a:endParaRPr>
          </a:p>
        </p:txBody>
      </p:sp>
      <p:sp>
        <p:nvSpPr>
          <p:cNvPr id="1177" name="Google Shape;1177;p59"/>
          <p:cNvSpPr txBox="1"/>
          <p:nvPr/>
        </p:nvSpPr>
        <p:spPr>
          <a:xfrm>
            <a:off x="7935363" y="3836300"/>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EU</a:t>
            </a:r>
            <a:endParaRPr b="1" sz="903">
              <a:solidFill>
                <a:schemeClr val="dk1"/>
              </a:solidFill>
              <a:latin typeface="Montserrat"/>
              <a:ea typeface="Montserrat"/>
              <a:cs typeface="Montserrat"/>
              <a:sym typeface="Montserrat"/>
            </a:endParaRPr>
          </a:p>
        </p:txBody>
      </p:sp>
      <p:sp>
        <p:nvSpPr>
          <p:cNvPr id="1178" name="Google Shape;1178;p59"/>
          <p:cNvSpPr txBox="1"/>
          <p:nvPr/>
        </p:nvSpPr>
        <p:spPr>
          <a:xfrm>
            <a:off x="4972238" y="4924875"/>
            <a:ext cx="2683800" cy="336600"/>
          </a:xfrm>
          <a:prstGeom prst="rect">
            <a:avLst/>
          </a:prstGeom>
          <a:solidFill>
            <a:srgbClr val="FFF2CC"/>
          </a:solidFill>
          <a:ln cap="flat" cmpd="sng" w="9525">
            <a:solidFill>
              <a:schemeClr val="dk1"/>
            </a:solidFill>
            <a:prstDash val="solid"/>
            <a:round/>
            <a:headEnd len="sm" w="sm" type="none"/>
            <a:tailEnd len="sm" w="sm" type="none"/>
          </a:ln>
        </p:spPr>
        <p:txBody>
          <a:bodyPr anchorCtr="0" anchor="ctr" bIns="91750" lIns="91750" spcFirstLastPara="1" rIns="91750" wrap="square" tIns="91750">
            <a:noAutofit/>
          </a:bodyPr>
          <a:lstStyle/>
          <a:p>
            <a:pPr indent="0" lvl="0" marL="0" rtl="0" algn="ctr">
              <a:spcBef>
                <a:spcPts val="0"/>
              </a:spcBef>
              <a:spcAft>
                <a:spcPts val="0"/>
              </a:spcAft>
              <a:buNone/>
            </a:pPr>
            <a:r>
              <a:rPr lang="en-US" sz="903">
                <a:solidFill>
                  <a:srgbClr val="999999"/>
                </a:solidFill>
                <a:latin typeface="Montserrat"/>
                <a:ea typeface="Montserrat"/>
                <a:cs typeface="Montserrat"/>
                <a:sym typeface="Montserrat"/>
              </a:rPr>
              <a:t>FORM: </a:t>
            </a:r>
            <a:r>
              <a:rPr lang="en-US" sz="903">
                <a:solidFill>
                  <a:schemeClr val="dk1"/>
                </a:solidFill>
                <a:latin typeface="Montserrat"/>
                <a:ea typeface="Montserrat"/>
                <a:cs typeface="Montserrat"/>
                <a:sym typeface="Montserrat"/>
              </a:rPr>
              <a:t>Regulatory Statement - Diagnexia </a:t>
            </a:r>
            <a:r>
              <a:rPr b="1" lang="en-US" sz="903">
                <a:solidFill>
                  <a:schemeClr val="dk1"/>
                </a:solidFill>
                <a:latin typeface="Montserrat"/>
                <a:ea typeface="Montserrat"/>
                <a:cs typeface="Montserrat"/>
                <a:sym typeface="Montserrat"/>
              </a:rPr>
              <a:t>ROW</a:t>
            </a:r>
            <a:endParaRPr b="1" sz="903">
              <a:solidFill>
                <a:schemeClr val="dk1"/>
              </a:solidFill>
              <a:latin typeface="Montserrat"/>
              <a:ea typeface="Montserrat"/>
              <a:cs typeface="Montserrat"/>
              <a:sym typeface="Montserrat"/>
            </a:endParaRPr>
          </a:p>
        </p:txBody>
      </p:sp>
      <p:cxnSp>
        <p:nvCxnSpPr>
          <p:cNvPr id="1179" name="Google Shape;1179;p59"/>
          <p:cNvCxnSpPr>
            <a:stCxn id="1155" idx="2"/>
            <a:endCxn id="1152" idx="0"/>
          </p:cNvCxnSpPr>
          <p:nvPr/>
        </p:nvCxnSpPr>
        <p:spPr>
          <a:xfrm rot="5400000">
            <a:off x="4445025" y="384325"/>
            <a:ext cx="415800" cy="2615700"/>
          </a:xfrm>
          <a:prstGeom prst="bentConnector3">
            <a:avLst>
              <a:gd fmla="val 50015" name="adj1"/>
            </a:avLst>
          </a:prstGeom>
          <a:noFill/>
          <a:ln cap="flat" cmpd="sng" w="9525">
            <a:solidFill>
              <a:schemeClr val="dk2"/>
            </a:solidFill>
            <a:prstDash val="solid"/>
            <a:round/>
            <a:headEnd len="med" w="med" type="none"/>
            <a:tailEnd len="med" w="med" type="triangle"/>
          </a:ln>
        </p:spPr>
      </p:cxnSp>
      <p:cxnSp>
        <p:nvCxnSpPr>
          <p:cNvPr id="1180" name="Google Shape;1180;p59"/>
          <p:cNvCxnSpPr>
            <a:stCxn id="1155" idx="2"/>
            <a:endCxn id="1166" idx="0"/>
          </p:cNvCxnSpPr>
          <p:nvPr/>
        </p:nvCxnSpPr>
        <p:spPr>
          <a:xfrm flipH="1" rot="-5400000">
            <a:off x="5929575" y="1515475"/>
            <a:ext cx="415800" cy="353400"/>
          </a:xfrm>
          <a:prstGeom prst="bentConnector3">
            <a:avLst>
              <a:gd fmla="val 50015" name="adj1"/>
            </a:avLst>
          </a:prstGeom>
          <a:noFill/>
          <a:ln cap="flat" cmpd="sng" w="9525">
            <a:solidFill>
              <a:schemeClr val="dk2"/>
            </a:solidFill>
            <a:prstDash val="solid"/>
            <a:round/>
            <a:headEnd len="med" w="med" type="none"/>
            <a:tailEnd len="med" w="med" type="triangle"/>
          </a:ln>
        </p:spPr>
      </p:cxnSp>
      <p:cxnSp>
        <p:nvCxnSpPr>
          <p:cNvPr id="1181" name="Google Shape;1181;p59"/>
          <p:cNvCxnSpPr>
            <a:stCxn id="1155" idx="2"/>
            <a:endCxn id="1173" idx="0"/>
          </p:cNvCxnSpPr>
          <p:nvPr/>
        </p:nvCxnSpPr>
        <p:spPr>
          <a:xfrm flipH="1" rot="-5400000">
            <a:off x="7414125" y="30925"/>
            <a:ext cx="415800" cy="3322500"/>
          </a:xfrm>
          <a:prstGeom prst="bentConnector3">
            <a:avLst>
              <a:gd fmla="val 50015" name="adj1"/>
            </a:avLst>
          </a:prstGeom>
          <a:noFill/>
          <a:ln cap="flat" cmpd="sng" w="9525">
            <a:solidFill>
              <a:schemeClr val="dk2"/>
            </a:solidFill>
            <a:prstDash val="solid"/>
            <a:round/>
            <a:headEnd len="med" w="med" type="none"/>
            <a:tailEnd len="med" w="med" type="triangle"/>
          </a:ln>
        </p:spPr>
      </p:cxnSp>
      <p:cxnSp>
        <p:nvCxnSpPr>
          <p:cNvPr id="1182" name="Google Shape;1182;p59"/>
          <p:cNvCxnSpPr>
            <a:stCxn id="1152" idx="2"/>
            <a:endCxn id="1156" idx="0"/>
          </p:cNvCxnSpPr>
          <p:nvPr/>
        </p:nvCxnSpPr>
        <p:spPr>
          <a:xfrm flipH="1" rot="-5400000">
            <a:off x="5233825" y="3597600"/>
            <a:ext cx="356400" cy="41340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1183" name="Google Shape;1183;p59"/>
          <p:cNvCxnSpPr>
            <a:stCxn id="1166" idx="2"/>
            <a:endCxn id="1156" idx="0"/>
          </p:cNvCxnSpPr>
          <p:nvPr/>
        </p:nvCxnSpPr>
        <p:spPr>
          <a:xfrm flipH="1" rot="-5400000">
            <a:off x="6718250" y="5082300"/>
            <a:ext cx="356400" cy="1164600"/>
          </a:xfrm>
          <a:prstGeom prst="bentConnector3">
            <a:avLst>
              <a:gd fmla="val 50004" name="adj1"/>
            </a:avLst>
          </a:prstGeom>
          <a:noFill/>
          <a:ln cap="flat" cmpd="sng" w="9525">
            <a:solidFill>
              <a:schemeClr val="dk2"/>
            </a:solidFill>
            <a:prstDash val="solid"/>
            <a:round/>
            <a:headEnd len="med" w="med" type="none"/>
            <a:tailEnd len="med" w="med" type="triangle"/>
          </a:ln>
        </p:spPr>
      </p:cxnSp>
      <p:cxnSp>
        <p:nvCxnSpPr>
          <p:cNvPr id="1184" name="Google Shape;1184;p59"/>
          <p:cNvCxnSpPr>
            <a:stCxn id="1173" idx="2"/>
            <a:endCxn id="1156" idx="0"/>
          </p:cNvCxnSpPr>
          <p:nvPr/>
        </p:nvCxnSpPr>
        <p:spPr>
          <a:xfrm rot="5400000">
            <a:off x="8202825" y="4762350"/>
            <a:ext cx="356400" cy="1804500"/>
          </a:xfrm>
          <a:prstGeom prst="bentConnector3">
            <a:avLst>
              <a:gd fmla="val 50004"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name="Diagnexia Theme">
  <a:themeElements>
    <a:clrScheme name="Custom 36">
      <a:dk1>
        <a:srgbClr val="000000"/>
      </a:dk1>
      <a:lt1>
        <a:srgbClr val="FFFFFF"/>
      </a:lt1>
      <a:dk2>
        <a:srgbClr val="000000"/>
      </a:dk2>
      <a:lt2>
        <a:srgbClr val="F2F2F2"/>
      </a:lt2>
      <a:accent1>
        <a:srgbClr val="FF00FF"/>
      </a:accent1>
      <a:accent2>
        <a:srgbClr val="000000"/>
      </a:accent2>
      <a:accent3>
        <a:srgbClr val="FF00FF"/>
      </a:accent3>
      <a:accent4>
        <a:srgbClr val="A09C9B"/>
      </a:accent4>
      <a:accent5>
        <a:srgbClr val="393535"/>
      </a:accent5>
      <a:accent6>
        <a:srgbClr val="01CC9B"/>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gnexia Theme">
  <a:themeElements>
    <a:clrScheme name="Custom 36">
      <a:dk1>
        <a:srgbClr val="000000"/>
      </a:dk1>
      <a:lt1>
        <a:srgbClr val="FFFFFF"/>
      </a:lt1>
      <a:dk2>
        <a:srgbClr val="000000"/>
      </a:dk2>
      <a:lt2>
        <a:srgbClr val="F2F2F2"/>
      </a:lt2>
      <a:accent1>
        <a:srgbClr val="FF00FF"/>
      </a:accent1>
      <a:accent2>
        <a:srgbClr val="000000"/>
      </a:accent2>
      <a:accent3>
        <a:srgbClr val="FF00FF"/>
      </a:accent3>
      <a:accent4>
        <a:srgbClr val="A09C9B"/>
      </a:accent4>
      <a:accent5>
        <a:srgbClr val="393535"/>
      </a:accent5>
      <a:accent6>
        <a:srgbClr val="01CC9B"/>
      </a:accent6>
      <a:hlink>
        <a:srgbClr val="000000"/>
      </a:hlink>
      <a:folHlink>
        <a:srgbClr val="0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